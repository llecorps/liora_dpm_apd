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4E8E"/>
        </a:solidFill>
      </p:bgPr>
    </p:bg>
    <p:spTree>
      <p:nvGrpSpPr>
        <p:cNvPr id="1" name=""/>
        <p:cNvGrpSpPr/>
        <p:nvPr/>
      </p:nvGrpSpPr>
      <p:grpSpPr>
        <a:xfrm>
          <a:off x="0" y="0"/>
          <a:ext cx="0" cy="0"/>
          <a:chOff x="0" y="0"/>
          <a:chExt cx="0" cy="0"/>
        </a:xfrm>
      </p:grpSpPr>
      <p:sp>
        <p:nvSpPr>
          <p:cNvPr id="2" name="Shape 0"/>
          <p:cNvSpPr/>
          <p:nvPr/>
        </p:nvSpPr>
        <p:spPr>
          <a:xfrm>
            <a:off x="6217920" y="0"/>
            <a:ext cx="2926080" cy="5143500"/>
          </a:xfrm>
          <a:prstGeom prst="rect">
            <a:avLst/>
          </a:prstGeom>
          <a:solidFill>
            <a:srgbClr val="0D3F75"/>
          </a:solidFill>
          <a:ln w="12700">
            <a:solidFill>
              <a:srgbClr val="0D3F75"/>
            </a:solidFill>
            <a:prstDash val="solid"/>
          </a:ln>
        </p:spPr>
      </p:sp>
      <p:sp>
        <p:nvSpPr>
          <p:cNvPr id="3" name="Shape 1"/>
          <p:cNvSpPr/>
          <p:nvPr/>
        </p:nvSpPr>
        <p:spPr>
          <a:xfrm>
            <a:off x="6217920" y="0"/>
            <a:ext cx="164592" cy="5143500"/>
          </a:xfrm>
          <a:prstGeom prst="rect">
            <a:avLst/>
          </a:prstGeom>
          <a:solidFill>
            <a:srgbClr val="C00707"/>
          </a:solidFill>
          <a:ln w="12700">
            <a:solidFill>
              <a:srgbClr val="C00707"/>
            </a:solidFill>
            <a:prstDash val="solid"/>
          </a:ln>
        </p:spPr>
      </p:sp>
      <p:sp>
        <p:nvSpPr>
          <p:cNvPr id="4" name="Shape 2"/>
          <p:cNvSpPr/>
          <p:nvPr/>
        </p:nvSpPr>
        <p:spPr>
          <a:xfrm>
            <a:off x="6675120" y="731520"/>
            <a:ext cx="2194560" cy="54864"/>
          </a:xfrm>
          <a:prstGeom prst="rect">
            <a:avLst/>
          </a:prstGeom>
          <a:solidFill>
            <a:srgbClr val="7AAACE"/>
          </a:solidFill>
          <a:ln w="12700">
            <a:solidFill>
              <a:srgbClr val="7AAACE"/>
            </a:solidFill>
            <a:prstDash val="solid"/>
          </a:ln>
        </p:spPr>
      </p:sp>
      <p:sp>
        <p:nvSpPr>
          <p:cNvPr id="5" name="Shape 3"/>
          <p:cNvSpPr/>
          <p:nvPr/>
        </p:nvSpPr>
        <p:spPr>
          <a:xfrm>
            <a:off x="6675120" y="914400"/>
            <a:ext cx="1463040" cy="54864"/>
          </a:xfrm>
          <a:prstGeom prst="rect">
            <a:avLst/>
          </a:prstGeom>
          <a:solidFill>
            <a:srgbClr val="7AAACE"/>
          </a:solidFill>
          <a:ln w="12700">
            <a:solidFill>
              <a:srgbClr val="7AAACE"/>
            </a:solidFill>
            <a:prstDash val="solid"/>
          </a:ln>
        </p:spPr>
      </p:sp>
      <p:sp>
        <p:nvSpPr>
          <p:cNvPr id="6" name="Shape 4"/>
          <p:cNvSpPr/>
          <p:nvPr/>
        </p:nvSpPr>
        <p:spPr>
          <a:xfrm>
            <a:off x="6675120" y="1097280"/>
            <a:ext cx="1828800" cy="54864"/>
          </a:xfrm>
          <a:prstGeom prst="rect">
            <a:avLst/>
          </a:prstGeom>
          <a:solidFill>
            <a:srgbClr val="7AAACE"/>
          </a:solidFill>
          <a:ln w="12700">
            <a:solidFill>
              <a:srgbClr val="7AAACE"/>
            </a:solidFill>
            <a:prstDash val="solid"/>
          </a:ln>
        </p:spPr>
      </p:sp>
      <p:sp>
        <p:nvSpPr>
          <p:cNvPr id="7" name="Text 5"/>
          <p:cNvSpPr/>
          <p:nvPr/>
        </p:nvSpPr>
        <p:spPr>
          <a:xfrm>
            <a:off x="502920" y="1188720"/>
            <a:ext cx="5394960" cy="365760"/>
          </a:xfrm>
          <a:prstGeom prst="rect">
            <a:avLst/>
          </a:prstGeom>
          <a:noFill/>
          <a:ln/>
        </p:spPr>
        <p:txBody>
          <a:bodyPr wrap="square" lIns="0" tIns="0" rIns="0" bIns="0" rtlCol="0" anchor="ctr"/>
          <a:lstStyle/>
          <a:p>
            <a:pPr indent="0" marL="0">
              <a:buNone/>
            </a:pPr>
            <a:r>
              <a:rPr lang="en-US" sz="1000" b="1" spc="300" kern="0" dirty="0">
                <a:solidFill>
                  <a:srgbClr val="7AAACE"/>
                </a:solidFill>
                <a:latin typeface="Calibri" pitchFamily="34" charset="0"/>
                <a:ea typeface="Calibri" pitchFamily="34" charset="-122"/>
                <a:cs typeface="Calibri" pitchFamily="34" charset="-120"/>
              </a:rPr>
              <a:t>AGENCE FRANÇAISE DE DÉVELOPPEMENT</a:t>
            </a:r>
            <a:endParaRPr lang="en-US" sz="1000" dirty="0"/>
          </a:p>
        </p:txBody>
      </p:sp>
      <p:sp>
        <p:nvSpPr>
          <p:cNvPr id="8" name="Text 6"/>
          <p:cNvSpPr/>
          <p:nvPr/>
        </p:nvSpPr>
        <p:spPr>
          <a:xfrm>
            <a:off x="502920" y="1645920"/>
            <a:ext cx="5394960" cy="1188720"/>
          </a:xfrm>
          <a:prstGeom prst="rect">
            <a:avLst/>
          </a:prstGeom>
          <a:noFill/>
          <a:ln/>
        </p:spPr>
        <p:txBody>
          <a:bodyPr wrap="square" lIns="0" tIns="0" rIns="0" bIns="0"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Application Data APD</a:t>
            </a:r>
            <a:endParaRPr lang="en-US" sz="4200" dirty="0"/>
          </a:p>
        </p:txBody>
      </p:sp>
      <p:sp>
        <p:nvSpPr>
          <p:cNvPr id="9" name="Shape 7"/>
          <p:cNvSpPr/>
          <p:nvPr/>
        </p:nvSpPr>
        <p:spPr>
          <a:xfrm>
            <a:off x="502920" y="2880360"/>
            <a:ext cx="548640" cy="64008"/>
          </a:xfrm>
          <a:prstGeom prst="rect">
            <a:avLst/>
          </a:prstGeom>
          <a:solidFill>
            <a:srgbClr val="C00707"/>
          </a:solidFill>
          <a:ln w="12700">
            <a:solidFill>
              <a:srgbClr val="C00707"/>
            </a:solidFill>
            <a:prstDash val="solid"/>
          </a:ln>
        </p:spPr>
      </p:sp>
      <p:sp>
        <p:nvSpPr>
          <p:cNvPr id="10" name="Text 8"/>
          <p:cNvSpPr/>
          <p:nvPr/>
        </p:nvSpPr>
        <p:spPr>
          <a:xfrm>
            <a:off x="502920" y="3017520"/>
            <a:ext cx="5394960" cy="777240"/>
          </a:xfrm>
          <a:prstGeom prst="rect">
            <a:avLst/>
          </a:prstGeom>
          <a:noFill/>
          <a:ln/>
        </p:spPr>
        <p:txBody>
          <a:bodyPr wrap="square" lIns="0" tIns="0" rIns="0" bIns="0" rtlCol="0" anchor="ctr"/>
          <a:lstStyle/>
          <a:p>
            <a:pPr indent="0" marL="0">
              <a:lnSpc>
                <a:spcPct val="140000"/>
              </a:lnSpc>
              <a:buNone/>
            </a:pPr>
            <a:r>
              <a:rPr lang="en-US" sz="1400" dirty="0">
                <a:solidFill>
                  <a:srgbClr val="7AAACE"/>
                </a:solidFill>
                <a:latin typeface="Calibri" pitchFamily="34" charset="0"/>
                <a:ea typeface="Calibri" pitchFamily="34" charset="-122"/>
                <a:cs typeface="Calibri" pitchFamily="34" charset="-120"/>
              </a:rPr>
              <a:t>Analyse des besoins utilisateurs</a:t>
            </a:r>
            <a:endParaRPr lang="en-US" sz="1400" dirty="0"/>
          </a:p>
          <a:p>
            <a:pPr indent="0" marL="0">
              <a:lnSpc>
                <a:spcPct val="140000"/>
              </a:lnSpc>
              <a:buNone/>
            </a:pPr>
            <a:r>
              <a:rPr lang="en-US" sz="1400" dirty="0">
                <a:solidFill>
                  <a:srgbClr val="7AAACE"/>
                </a:solidFill>
                <a:latin typeface="Calibri" pitchFamily="34" charset="0"/>
                <a:ea typeface="Calibri" pitchFamily="34" charset="-122"/>
                <a:cs typeface="Calibri" pitchFamily="34" charset="-120"/>
              </a:rPr>
              <a:t>Stratégie produit &amp; feuille de route</a:t>
            </a:r>
            <a:endParaRPr lang="en-US" sz="1400" dirty="0"/>
          </a:p>
        </p:txBody>
      </p:sp>
      <p:sp>
        <p:nvSpPr>
          <p:cNvPr id="11" name="Text 9"/>
          <p:cNvSpPr/>
          <p:nvPr/>
        </p:nvSpPr>
        <p:spPr>
          <a:xfrm>
            <a:off x="502920" y="3931920"/>
            <a:ext cx="3657600" cy="320040"/>
          </a:xfrm>
          <a:prstGeom prst="rect">
            <a:avLst/>
          </a:prstGeom>
          <a:noFill/>
          <a:ln/>
        </p:spPr>
        <p:txBody>
          <a:bodyPr wrap="square" lIns="0" tIns="0" rIns="0" bIns="0" rtlCol="0" anchor="ctr"/>
          <a:lstStyle/>
          <a:p>
            <a:pPr indent="0" marL="0">
              <a:buNone/>
            </a:pPr>
            <a:r>
              <a:rPr lang="en-US" sz="1100" i="1" dirty="0">
                <a:solidFill>
                  <a:srgbClr val="8AAFC8"/>
                </a:solidFill>
                <a:latin typeface="Calibri" pitchFamily="34" charset="0"/>
                <a:ea typeface="Calibri" pitchFamily="34" charset="-122"/>
                <a:cs typeface="Calibri" pitchFamily="34" charset="-120"/>
              </a:rPr>
              <a:t>7 livrables · DPM Project 2025</a:t>
            </a:r>
            <a:endParaRPr lang="en-US" sz="1100" dirty="0"/>
          </a:p>
        </p:txBody>
      </p:sp>
      <p:sp>
        <p:nvSpPr>
          <p:cNvPr id="12" name="Shape 10"/>
          <p:cNvSpPr/>
          <p:nvPr/>
        </p:nvSpPr>
        <p:spPr>
          <a:xfrm>
            <a:off x="0" y="4956048"/>
            <a:ext cx="9144000" cy="182880"/>
          </a:xfrm>
          <a:prstGeom prst="rect">
            <a:avLst/>
          </a:prstGeom>
          <a:solidFill>
            <a:srgbClr val="C00707"/>
          </a:solidFill>
          <a:ln w="12700">
            <a:solidFill>
              <a:srgbClr val="C0070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0"/>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34E8E"/>
          </a:solidFill>
          <a:ln w="12700">
            <a:solidFill>
              <a:srgbClr val="134E8E"/>
            </a:solidFill>
            <a:prstDash val="solid"/>
          </a:ln>
        </p:spPr>
      </p:sp>
      <p:sp>
        <p:nvSpPr>
          <p:cNvPr id="3" name="Shape 1"/>
          <p:cNvSpPr/>
          <p:nvPr/>
        </p:nvSpPr>
        <p:spPr>
          <a:xfrm>
            <a:off x="0" y="0"/>
            <a:ext cx="137160" cy="960120"/>
          </a:xfrm>
          <a:prstGeom prst="rect">
            <a:avLst/>
          </a:prstGeom>
          <a:solidFill>
            <a:srgbClr val="C00707"/>
          </a:solidFill>
          <a:ln w="12700">
            <a:solidFill>
              <a:srgbClr val="C00707"/>
            </a:solidFill>
            <a:prstDash val="solid"/>
          </a:ln>
        </p:spPr>
      </p:sp>
      <p:sp>
        <p:nvSpPr>
          <p:cNvPr id="4" name="Text 2"/>
          <p:cNvSpPr/>
          <p:nvPr/>
        </p:nvSpPr>
        <p:spPr>
          <a:xfrm>
            <a:off x="320040" y="0"/>
            <a:ext cx="777240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Sommaire des livrables</a:t>
            </a:r>
            <a:endParaRPr lang="en-US" sz="2200" dirty="0"/>
          </a:p>
        </p:txBody>
      </p:sp>
      <p:sp>
        <p:nvSpPr>
          <p:cNvPr id="5" name="Text 3"/>
          <p:cNvSpPr/>
          <p:nvPr/>
        </p:nvSpPr>
        <p:spPr>
          <a:xfrm>
            <a:off x="320040" y="594360"/>
            <a:ext cx="8503920" cy="320040"/>
          </a:xfrm>
          <a:prstGeom prst="rect">
            <a:avLst/>
          </a:prstGeom>
          <a:noFill/>
          <a:ln/>
        </p:spPr>
        <p:txBody>
          <a:bodyPr wrap="square" lIns="0" tIns="0" rIns="0" bIns="0" rtlCol="0" anchor="ctr"/>
          <a:lstStyle/>
          <a:p>
            <a:pPr indent="0" marL="0">
              <a:buNone/>
            </a:pPr>
            <a:r>
              <a:rPr lang="en-US" sz="1050" i="1" dirty="0">
                <a:solidFill>
                  <a:srgbClr val="8AAFC8"/>
                </a:solidFill>
                <a:latin typeface="Calibri" pitchFamily="34" charset="0"/>
                <a:ea typeface="Calibri" pitchFamily="34" charset="-122"/>
                <a:cs typeface="Calibri" pitchFamily="34" charset="-120"/>
              </a:rPr>
              <a:t>Vue d'ensemble des 7 documents du projet</a:t>
            </a:r>
            <a:endParaRPr lang="en-US" sz="1050" dirty="0"/>
          </a:p>
        </p:txBody>
      </p:sp>
      <p:sp>
        <p:nvSpPr>
          <p:cNvPr id="6" name="Shape 4"/>
          <p:cNvSpPr/>
          <p:nvPr/>
        </p:nvSpPr>
        <p:spPr>
          <a:xfrm>
            <a:off x="0" y="4956048"/>
            <a:ext cx="9144000" cy="182880"/>
          </a:xfrm>
          <a:prstGeom prst="rect">
            <a:avLst/>
          </a:prstGeom>
          <a:solidFill>
            <a:srgbClr val="134E8E"/>
          </a:solidFill>
          <a:ln w="12700">
            <a:solidFill>
              <a:srgbClr val="134E8E"/>
            </a:solidFill>
            <a:prstDash val="solid"/>
          </a:ln>
        </p:spPr>
      </p:sp>
      <p:sp>
        <p:nvSpPr>
          <p:cNvPr id="7" name="Text 5"/>
          <p:cNvSpPr/>
          <p:nvPr/>
        </p:nvSpPr>
        <p:spPr>
          <a:xfrm>
            <a:off x="182880" y="4919472"/>
            <a:ext cx="8778240" cy="219456"/>
          </a:xfrm>
          <a:prstGeom prst="rect">
            <a:avLst/>
          </a:prstGeom>
          <a:noFill/>
          <a:ln/>
        </p:spPr>
        <p:txBody>
          <a:bodyPr wrap="square" lIns="0" tIns="0" rIns="0" bIns="0" rtlCol="0" anchor="ctr"/>
          <a:lstStyle/>
          <a:p>
            <a:pPr algn="r" indent="0" marL="0">
              <a:buNone/>
            </a:pPr>
            <a:r>
              <a:rPr lang="en-US" sz="850" dirty="0">
                <a:solidFill>
                  <a:srgbClr val="FFFFFF"/>
                </a:solidFill>
                <a:latin typeface="Calibri" pitchFamily="34" charset="0"/>
                <a:ea typeface="Calibri" pitchFamily="34" charset="-122"/>
                <a:cs typeface="Calibri" pitchFamily="34" charset="-120"/>
              </a:rPr>
              <a:t>Application Data APD  ·  AFD  ·  DPM Project 2025</a:t>
            </a:r>
            <a:endParaRPr lang="en-US" sz="850" dirty="0"/>
          </a:p>
        </p:txBody>
      </p:sp>
      <p:sp>
        <p:nvSpPr>
          <p:cNvPr id="8" name="Shape 6"/>
          <p:cNvSpPr/>
          <p:nvPr/>
        </p:nvSpPr>
        <p:spPr>
          <a:xfrm>
            <a:off x="274320" y="1115568"/>
            <a:ext cx="3931920" cy="77724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274320" y="1115568"/>
            <a:ext cx="109728" cy="777240"/>
          </a:xfrm>
          <a:prstGeom prst="rect">
            <a:avLst/>
          </a:prstGeom>
          <a:solidFill>
            <a:srgbClr val="C00707"/>
          </a:solidFill>
          <a:ln w="12700">
            <a:solidFill>
              <a:srgbClr val="C00707"/>
            </a:solidFill>
            <a:prstDash val="solid"/>
          </a:ln>
        </p:spPr>
      </p:sp>
      <p:sp>
        <p:nvSpPr>
          <p:cNvPr id="10" name="Text 8"/>
          <p:cNvSpPr/>
          <p:nvPr/>
        </p:nvSpPr>
        <p:spPr>
          <a:xfrm>
            <a:off x="457200" y="1161288"/>
            <a:ext cx="411480" cy="301752"/>
          </a:xfrm>
          <a:prstGeom prst="rect">
            <a:avLst/>
          </a:prstGeom>
          <a:noFill/>
          <a:ln/>
        </p:spPr>
        <p:txBody>
          <a:bodyPr wrap="square" lIns="0" tIns="0" rIns="0" bIns="0" rtlCol="0" anchor="ctr"/>
          <a:lstStyle/>
          <a:p>
            <a:pPr indent="0" marL="0">
              <a:buNone/>
            </a:pPr>
            <a:r>
              <a:rPr lang="en-US" sz="1800" b="1" dirty="0">
                <a:solidFill>
                  <a:srgbClr val="C00707"/>
                </a:solidFill>
                <a:latin typeface="Georgia" pitchFamily="34" charset="0"/>
                <a:ea typeface="Georgia" pitchFamily="34" charset="-122"/>
                <a:cs typeface="Georgia" pitchFamily="34" charset="-120"/>
              </a:rPr>
              <a:t>01</a:t>
            </a:r>
            <a:endParaRPr lang="en-US" sz="1800" dirty="0"/>
          </a:p>
        </p:txBody>
      </p:sp>
      <p:sp>
        <p:nvSpPr>
          <p:cNvPr id="11" name="Text 9"/>
          <p:cNvSpPr/>
          <p:nvPr/>
        </p:nvSpPr>
        <p:spPr>
          <a:xfrm>
            <a:off x="932688" y="1161288"/>
            <a:ext cx="3063240" cy="274320"/>
          </a:xfrm>
          <a:prstGeom prst="rect">
            <a:avLst/>
          </a:prstGeom>
          <a:noFill/>
          <a:ln/>
        </p:spPr>
        <p:txBody>
          <a:bodyPr wrap="square" lIns="0" tIns="0" rIns="0" bIns="0" rtlCol="0" anchor="ctr"/>
          <a:lstStyle/>
          <a:p>
            <a:pPr indent="0" marL="0">
              <a:buNone/>
            </a:pPr>
            <a:r>
              <a:rPr lang="en-US" sz="1300" b="1" dirty="0">
                <a:solidFill>
                  <a:srgbClr val="1A2E4A"/>
                </a:solidFill>
                <a:latin typeface="Calibri" pitchFamily="34" charset="0"/>
                <a:ea typeface="Calibri" pitchFamily="34" charset="-122"/>
                <a:cs typeface="Calibri" pitchFamily="34" charset="-120"/>
              </a:rPr>
              <a:t>Business Model Canvas</a:t>
            </a:r>
            <a:endParaRPr lang="en-US" sz="1300" dirty="0"/>
          </a:p>
        </p:txBody>
      </p:sp>
      <p:sp>
        <p:nvSpPr>
          <p:cNvPr id="12" name="Text 10"/>
          <p:cNvSpPr/>
          <p:nvPr/>
        </p:nvSpPr>
        <p:spPr>
          <a:xfrm>
            <a:off x="932688" y="1499616"/>
            <a:ext cx="3063240" cy="320040"/>
          </a:xfrm>
          <a:prstGeom prst="rect">
            <a:avLst/>
          </a:prstGeom>
          <a:noFill/>
          <a:ln/>
        </p:spPr>
        <p:txBody>
          <a:bodyPr wrap="square" lIns="0" tIns="0" rIns="0" bIns="0" rtlCol="0" anchor="ctr"/>
          <a:lstStyle/>
          <a:p>
            <a:pPr indent="0" marL="0">
              <a:buNone/>
            </a:pPr>
            <a:r>
              <a:rPr lang="en-US" sz="1000" dirty="0">
                <a:solidFill>
                  <a:srgbClr val="6B7A8D"/>
                </a:solidFill>
                <a:latin typeface="Calibri" pitchFamily="34" charset="0"/>
                <a:ea typeface="Calibri" pitchFamily="34" charset="-122"/>
                <a:cs typeface="Calibri" pitchFamily="34" charset="-120"/>
              </a:rPr>
              <a:t>Modèle économique de l'AFD</a:t>
            </a:r>
            <a:endParaRPr lang="en-US" sz="1000" dirty="0"/>
          </a:p>
        </p:txBody>
      </p:sp>
      <p:sp>
        <p:nvSpPr>
          <p:cNvPr id="13" name="Shape 11"/>
          <p:cNvSpPr/>
          <p:nvPr/>
        </p:nvSpPr>
        <p:spPr>
          <a:xfrm>
            <a:off x="274320" y="2020824"/>
            <a:ext cx="3931920" cy="77724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274320" y="2020824"/>
            <a:ext cx="109728" cy="777240"/>
          </a:xfrm>
          <a:prstGeom prst="rect">
            <a:avLst/>
          </a:prstGeom>
          <a:solidFill>
            <a:srgbClr val="134E8E"/>
          </a:solidFill>
          <a:ln w="12700">
            <a:solidFill>
              <a:srgbClr val="134E8E"/>
            </a:solidFill>
            <a:prstDash val="solid"/>
          </a:ln>
        </p:spPr>
      </p:sp>
      <p:sp>
        <p:nvSpPr>
          <p:cNvPr id="15" name="Text 13"/>
          <p:cNvSpPr/>
          <p:nvPr/>
        </p:nvSpPr>
        <p:spPr>
          <a:xfrm>
            <a:off x="457200" y="2066544"/>
            <a:ext cx="411480" cy="301752"/>
          </a:xfrm>
          <a:prstGeom prst="rect">
            <a:avLst/>
          </a:prstGeom>
          <a:noFill/>
          <a:ln/>
        </p:spPr>
        <p:txBody>
          <a:bodyPr wrap="square" lIns="0" tIns="0" rIns="0" bIns="0" rtlCol="0" anchor="ctr"/>
          <a:lstStyle/>
          <a:p>
            <a:pPr indent="0" marL="0">
              <a:buNone/>
            </a:pPr>
            <a:r>
              <a:rPr lang="en-US" sz="1800" b="1" dirty="0">
                <a:solidFill>
                  <a:srgbClr val="134E8E"/>
                </a:solidFill>
                <a:latin typeface="Georgia" pitchFamily="34" charset="0"/>
                <a:ea typeface="Georgia" pitchFamily="34" charset="-122"/>
                <a:cs typeface="Georgia" pitchFamily="34" charset="-120"/>
              </a:rPr>
              <a:t>02</a:t>
            </a:r>
            <a:endParaRPr lang="en-US" sz="1800" dirty="0"/>
          </a:p>
        </p:txBody>
      </p:sp>
      <p:sp>
        <p:nvSpPr>
          <p:cNvPr id="16" name="Text 14"/>
          <p:cNvSpPr/>
          <p:nvPr/>
        </p:nvSpPr>
        <p:spPr>
          <a:xfrm>
            <a:off x="932688" y="2066544"/>
            <a:ext cx="3063240" cy="274320"/>
          </a:xfrm>
          <a:prstGeom prst="rect">
            <a:avLst/>
          </a:prstGeom>
          <a:noFill/>
          <a:ln/>
        </p:spPr>
        <p:txBody>
          <a:bodyPr wrap="square" lIns="0" tIns="0" rIns="0" bIns="0" rtlCol="0" anchor="ctr"/>
          <a:lstStyle/>
          <a:p>
            <a:pPr indent="0" marL="0">
              <a:buNone/>
            </a:pPr>
            <a:r>
              <a:rPr lang="en-US" sz="1300" b="1" dirty="0">
                <a:solidFill>
                  <a:srgbClr val="1A2E4A"/>
                </a:solidFill>
                <a:latin typeface="Calibri" pitchFamily="34" charset="0"/>
                <a:ea typeface="Calibri" pitchFamily="34" charset="-122"/>
                <a:cs typeface="Calibri" pitchFamily="34" charset="-120"/>
              </a:rPr>
              <a:t>Personas</a:t>
            </a:r>
            <a:endParaRPr lang="en-US" sz="1300" dirty="0"/>
          </a:p>
        </p:txBody>
      </p:sp>
      <p:sp>
        <p:nvSpPr>
          <p:cNvPr id="17" name="Text 15"/>
          <p:cNvSpPr/>
          <p:nvPr/>
        </p:nvSpPr>
        <p:spPr>
          <a:xfrm>
            <a:off x="932688" y="2404872"/>
            <a:ext cx="3063240" cy="320040"/>
          </a:xfrm>
          <a:prstGeom prst="rect">
            <a:avLst/>
          </a:prstGeom>
          <a:noFill/>
          <a:ln/>
        </p:spPr>
        <p:txBody>
          <a:bodyPr wrap="square" lIns="0" tIns="0" rIns="0" bIns="0" rtlCol="0" anchor="ctr"/>
          <a:lstStyle/>
          <a:p>
            <a:pPr indent="0" marL="0">
              <a:buNone/>
            </a:pPr>
            <a:r>
              <a:rPr lang="en-US" sz="1000" dirty="0">
                <a:solidFill>
                  <a:srgbClr val="6B7A8D"/>
                </a:solidFill>
                <a:latin typeface="Calibri" pitchFamily="34" charset="0"/>
                <a:ea typeface="Calibri" pitchFamily="34" charset="-122"/>
                <a:cs typeface="Calibri" pitchFamily="34" charset="-120"/>
              </a:rPr>
              <a:t>3 profils utilisateurs clés</a:t>
            </a:r>
            <a:endParaRPr lang="en-US" sz="1000" dirty="0"/>
          </a:p>
        </p:txBody>
      </p:sp>
      <p:sp>
        <p:nvSpPr>
          <p:cNvPr id="18" name="Shape 16"/>
          <p:cNvSpPr/>
          <p:nvPr/>
        </p:nvSpPr>
        <p:spPr>
          <a:xfrm>
            <a:off x="274320" y="2926080"/>
            <a:ext cx="3931920" cy="77724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274320" y="2926080"/>
            <a:ext cx="109728" cy="777240"/>
          </a:xfrm>
          <a:prstGeom prst="rect">
            <a:avLst/>
          </a:prstGeom>
          <a:solidFill>
            <a:srgbClr val="7AAACE"/>
          </a:solidFill>
          <a:ln w="12700">
            <a:solidFill>
              <a:srgbClr val="7AAACE"/>
            </a:solidFill>
            <a:prstDash val="solid"/>
          </a:ln>
        </p:spPr>
      </p:sp>
      <p:sp>
        <p:nvSpPr>
          <p:cNvPr id="20" name="Text 18"/>
          <p:cNvSpPr/>
          <p:nvPr/>
        </p:nvSpPr>
        <p:spPr>
          <a:xfrm>
            <a:off x="457200" y="2971800"/>
            <a:ext cx="411480" cy="301752"/>
          </a:xfrm>
          <a:prstGeom prst="rect">
            <a:avLst/>
          </a:prstGeom>
          <a:noFill/>
          <a:ln/>
        </p:spPr>
        <p:txBody>
          <a:bodyPr wrap="square" lIns="0" tIns="0" rIns="0" bIns="0" rtlCol="0" anchor="ctr"/>
          <a:lstStyle/>
          <a:p>
            <a:pPr indent="0" marL="0">
              <a:buNone/>
            </a:pPr>
            <a:r>
              <a:rPr lang="en-US" sz="1800" b="1" dirty="0">
                <a:solidFill>
                  <a:srgbClr val="7AAACE"/>
                </a:solidFill>
                <a:latin typeface="Georgia" pitchFamily="34" charset="0"/>
                <a:ea typeface="Georgia" pitchFamily="34" charset="-122"/>
                <a:cs typeface="Georgia" pitchFamily="34" charset="-120"/>
              </a:rPr>
              <a:t>03</a:t>
            </a:r>
            <a:endParaRPr lang="en-US" sz="1800" dirty="0"/>
          </a:p>
        </p:txBody>
      </p:sp>
      <p:sp>
        <p:nvSpPr>
          <p:cNvPr id="21" name="Text 19"/>
          <p:cNvSpPr/>
          <p:nvPr/>
        </p:nvSpPr>
        <p:spPr>
          <a:xfrm>
            <a:off x="932688" y="2971800"/>
            <a:ext cx="3063240" cy="274320"/>
          </a:xfrm>
          <a:prstGeom prst="rect">
            <a:avLst/>
          </a:prstGeom>
          <a:noFill/>
          <a:ln/>
        </p:spPr>
        <p:txBody>
          <a:bodyPr wrap="square" lIns="0" tIns="0" rIns="0" bIns="0" rtlCol="0" anchor="ctr"/>
          <a:lstStyle/>
          <a:p>
            <a:pPr indent="0" marL="0">
              <a:buNone/>
            </a:pPr>
            <a:r>
              <a:rPr lang="en-US" sz="1300" b="1" dirty="0">
                <a:solidFill>
                  <a:srgbClr val="1A2E4A"/>
                </a:solidFill>
                <a:latin typeface="Calibri" pitchFamily="34" charset="0"/>
                <a:ea typeface="Calibri" pitchFamily="34" charset="-122"/>
                <a:cs typeface="Calibri" pitchFamily="34" charset="-120"/>
              </a:rPr>
              <a:t>Experience Maps</a:t>
            </a:r>
            <a:endParaRPr lang="en-US" sz="1300" dirty="0"/>
          </a:p>
        </p:txBody>
      </p:sp>
      <p:sp>
        <p:nvSpPr>
          <p:cNvPr id="22" name="Text 20"/>
          <p:cNvSpPr/>
          <p:nvPr/>
        </p:nvSpPr>
        <p:spPr>
          <a:xfrm>
            <a:off x="932688" y="3310128"/>
            <a:ext cx="3063240" cy="320040"/>
          </a:xfrm>
          <a:prstGeom prst="rect">
            <a:avLst/>
          </a:prstGeom>
          <a:noFill/>
          <a:ln/>
        </p:spPr>
        <p:txBody>
          <a:bodyPr wrap="square" lIns="0" tIns="0" rIns="0" bIns="0" rtlCol="0" anchor="ctr"/>
          <a:lstStyle/>
          <a:p>
            <a:pPr indent="0" marL="0">
              <a:buNone/>
            </a:pPr>
            <a:r>
              <a:rPr lang="en-US" sz="1000" dirty="0">
                <a:solidFill>
                  <a:srgbClr val="6B7A8D"/>
                </a:solidFill>
                <a:latin typeface="Calibri" pitchFamily="34" charset="0"/>
                <a:ea typeface="Calibri" pitchFamily="34" charset="-122"/>
                <a:cs typeface="Calibri" pitchFamily="34" charset="-120"/>
              </a:rPr>
              <a:t>Parcours utilisateur détaillé (3 personas)</a:t>
            </a:r>
            <a:endParaRPr lang="en-US" sz="1000" dirty="0"/>
          </a:p>
        </p:txBody>
      </p:sp>
      <p:sp>
        <p:nvSpPr>
          <p:cNvPr id="23" name="Shape 21"/>
          <p:cNvSpPr/>
          <p:nvPr/>
        </p:nvSpPr>
        <p:spPr>
          <a:xfrm>
            <a:off x="274320" y="3831336"/>
            <a:ext cx="3931920" cy="77724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24" name="Shape 22"/>
          <p:cNvSpPr/>
          <p:nvPr/>
        </p:nvSpPr>
        <p:spPr>
          <a:xfrm>
            <a:off x="274320" y="3831336"/>
            <a:ext cx="109728" cy="777240"/>
          </a:xfrm>
          <a:prstGeom prst="rect">
            <a:avLst/>
          </a:prstGeom>
          <a:solidFill>
            <a:srgbClr val="134E8E"/>
          </a:solidFill>
          <a:ln w="12700">
            <a:solidFill>
              <a:srgbClr val="134E8E"/>
            </a:solidFill>
            <a:prstDash val="solid"/>
          </a:ln>
        </p:spPr>
      </p:sp>
      <p:sp>
        <p:nvSpPr>
          <p:cNvPr id="25" name="Text 23"/>
          <p:cNvSpPr/>
          <p:nvPr/>
        </p:nvSpPr>
        <p:spPr>
          <a:xfrm>
            <a:off x="457200" y="3877056"/>
            <a:ext cx="411480" cy="301752"/>
          </a:xfrm>
          <a:prstGeom prst="rect">
            <a:avLst/>
          </a:prstGeom>
          <a:noFill/>
          <a:ln/>
        </p:spPr>
        <p:txBody>
          <a:bodyPr wrap="square" lIns="0" tIns="0" rIns="0" bIns="0" rtlCol="0" anchor="ctr"/>
          <a:lstStyle/>
          <a:p>
            <a:pPr indent="0" marL="0">
              <a:buNone/>
            </a:pPr>
            <a:r>
              <a:rPr lang="en-US" sz="1800" b="1" dirty="0">
                <a:solidFill>
                  <a:srgbClr val="134E8E"/>
                </a:solidFill>
                <a:latin typeface="Georgia" pitchFamily="34" charset="0"/>
                <a:ea typeface="Georgia" pitchFamily="34" charset="-122"/>
                <a:cs typeface="Georgia" pitchFamily="34" charset="-120"/>
              </a:rPr>
              <a:t>04</a:t>
            </a:r>
            <a:endParaRPr lang="en-US" sz="1800" dirty="0"/>
          </a:p>
        </p:txBody>
      </p:sp>
      <p:sp>
        <p:nvSpPr>
          <p:cNvPr id="26" name="Text 24"/>
          <p:cNvSpPr/>
          <p:nvPr/>
        </p:nvSpPr>
        <p:spPr>
          <a:xfrm>
            <a:off x="932688" y="3877056"/>
            <a:ext cx="3063240" cy="274320"/>
          </a:xfrm>
          <a:prstGeom prst="rect">
            <a:avLst/>
          </a:prstGeom>
          <a:noFill/>
          <a:ln/>
        </p:spPr>
        <p:txBody>
          <a:bodyPr wrap="square" lIns="0" tIns="0" rIns="0" bIns="0" rtlCol="0" anchor="ctr"/>
          <a:lstStyle/>
          <a:p>
            <a:pPr indent="0" marL="0">
              <a:buNone/>
            </a:pPr>
            <a:r>
              <a:rPr lang="en-US" sz="1300" b="1" dirty="0">
                <a:solidFill>
                  <a:srgbClr val="1A2E4A"/>
                </a:solidFill>
                <a:latin typeface="Calibri" pitchFamily="34" charset="0"/>
                <a:ea typeface="Calibri" pitchFamily="34" charset="-122"/>
                <a:cs typeface="Calibri" pitchFamily="34" charset="-120"/>
              </a:rPr>
              <a:t>Synthèse</a:t>
            </a:r>
            <a:endParaRPr lang="en-US" sz="1300" dirty="0"/>
          </a:p>
        </p:txBody>
      </p:sp>
      <p:sp>
        <p:nvSpPr>
          <p:cNvPr id="27" name="Text 25"/>
          <p:cNvSpPr/>
          <p:nvPr/>
        </p:nvSpPr>
        <p:spPr>
          <a:xfrm>
            <a:off x="932688" y="4215384"/>
            <a:ext cx="3063240" cy="320040"/>
          </a:xfrm>
          <a:prstGeom prst="rect">
            <a:avLst/>
          </a:prstGeom>
          <a:noFill/>
          <a:ln/>
        </p:spPr>
        <p:txBody>
          <a:bodyPr wrap="square" lIns="0" tIns="0" rIns="0" bIns="0" rtlCol="0" anchor="ctr"/>
          <a:lstStyle/>
          <a:p>
            <a:pPr indent="0" marL="0">
              <a:buNone/>
            </a:pPr>
            <a:r>
              <a:rPr lang="en-US" sz="1000" dirty="0">
                <a:solidFill>
                  <a:srgbClr val="6B7A8D"/>
                </a:solidFill>
                <a:latin typeface="Calibri" pitchFamily="34" charset="0"/>
                <a:ea typeface="Calibri" pitchFamily="34" charset="-122"/>
                <a:cs typeface="Calibri" pitchFamily="34" charset="-120"/>
              </a:rPr>
              <a:t>Vue d'ensemble — problèmes, impacts, solutions</a:t>
            </a:r>
            <a:endParaRPr lang="en-US" sz="1000" dirty="0"/>
          </a:p>
        </p:txBody>
      </p:sp>
      <p:sp>
        <p:nvSpPr>
          <p:cNvPr id="28" name="Shape 26"/>
          <p:cNvSpPr/>
          <p:nvPr/>
        </p:nvSpPr>
        <p:spPr>
          <a:xfrm>
            <a:off x="4754880" y="1568196"/>
            <a:ext cx="4023360" cy="77724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29" name="Shape 27"/>
          <p:cNvSpPr/>
          <p:nvPr/>
        </p:nvSpPr>
        <p:spPr>
          <a:xfrm>
            <a:off x="4754880" y="1568196"/>
            <a:ext cx="109728" cy="777240"/>
          </a:xfrm>
          <a:prstGeom prst="rect">
            <a:avLst/>
          </a:prstGeom>
          <a:solidFill>
            <a:srgbClr val="C00707"/>
          </a:solidFill>
          <a:ln w="12700">
            <a:solidFill>
              <a:srgbClr val="C00707"/>
            </a:solidFill>
            <a:prstDash val="solid"/>
          </a:ln>
        </p:spPr>
      </p:sp>
      <p:sp>
        <p:nvSpPr>
          <p:cNvPr id="30" name="Text 28"/>
          <p:cNvSpPr/>
          <p:nvPr/>
        </p:nvSpPr>
        <p:spPr>
          <a:xfrm>
            <a:off x="4937760" y="1613916"/>
            <a:ext cx="411480" cy="301752"/>
          </a:xfrm>
          <a:prstGeom prst="rect">
            <a:avLst/>
          </a:prstGeom>
          <a:noFill/>
          <a:ln/>
        </p:spPr>
        <p:txBody>
          <a:bodyPr wrap="square" lIns="0" tIns="0" rIns="0" bIns="0" rtlCol="0" anchor="ctr"/>
          <a:lstStyle/>
          <a:p>
            <a:pPr indent="0" marL="0">
              <a:buNone/>
            </a:pPr>
            <a:r>
              <a:rPr lang="en-US" sz="1800" b="1" dirty="0">
                <a:solidFill>
                  <a:srgbClr val="C00707"/>
                </a:solidFill>
                <a:latin typeface="Georgia" pitchFamily="34" charset="0"/>
                <a:ea typeface="Georgia" pitchFamily="34" charset="-122"/>
                <a:cs typeface="Georgia" pitchFamily="34" charset="-120"/>
              </a:rPr>
              <a:t>05</a:t>
            </a:r>
            <a:endParaRPr lang="en-US" sz="1800" dirty="0"/>
          </a:p>
        </p:txBody>
      </p:sp>
      <p:sp>
        <p:nvSpPr>
          <p:cNvPr id="31" name="Text 29"/>
          <p:cNvSpPr/>
          <p:nvPr/>
        </p:nvSpPr>
        <p:spPr>
          <a:xfrm>
            <a:off x="5413248" y="1613916"/>
            <a:ext cx="3154680" cy="274320"/>
          </a:xfrm>
          <a:prstGeom prst="rect">
            <a:avLst/>
          </a:prstGeom>
          <a:noFill/>
          <a:ln/>
        </p:spPr>
        <p:txBody>
          <a:bodyPr wrap="square" lIns="0" tIns="0" rIns="0" bIns="0" rtlCol="0" anchor="ctr"/>
          <a:lstStyle/>
          <a:p>
            <a:pPr indent="0" marL="0">
              <a:buNone/>
            </a:pPr>
            <a:r>
              <a:rPr lang="en-US" sz="1300" b="1" dirty="0">
                <a:solidFill>
                  <a:srgbClr val="1A2E4A"/>
                </a:solidFill>
                <a:latin typeface="Calibri" pitchFamily="34" charset="0"/>
                <a:ea typeface="Calibri" pitchFamily="34" charset="-122"/>
                <a:cs typeface="Calibri" pitchFamily="34" charset="-120"/>
              </a:rPr>
              <a:t>Pain Points</a:t>
            </a:r>
            <a:endParaRPr lang="en-US" sz="1300" dirty="0"/>
          </a:p>
        </p:txBody>
      </p:sp>
      <p:sp>
        <p:nvSpPr>
          <p:cNvPr id="32" name="Text 30"/>
          <p:cNvSpPr/>
          <p:nvPr/>
        </p:nvSpPr>
        <p:spPr>
          <a:xfrm>
            <a:off x="5413248" y="1952244"/>
            <a:ext cx="3154680" cy="320040"/>
          </a:xfrm>
          <a:prstGeom prst="rect">
            <a:avLst/>
          </a:prstGeom>
          <a:noFill/>
          <a:ln/>
        </p:spPr>
        <p:txBody>
          <a:bodyPr wrap="square" lIns="0" tIns="0" rIns="0" bIns="0" rtlCol="0" anchor="ctr"/>
          <a:lstStyle/>
          <a:p>
            <a:pPr indent="0" marL="0">
              <a:buNone/>
            </a:pPr>
            <a:r>
              <a:rPr lang="en-US" sz="1000" dirty="0">
                <a:solidFill>
                  <a:srgbClr val="6B7A8D"/>
                </a:solidFill>
                <a:latin typeface="Calibri" pitchFamily="34" charset="0"/>
                <a:ea typeface="Calibri" pitchFamily="34" charset="-122"/>
                <a:cs typeface="Calibri" pitchFamily="34" charset="-120"/>
              </a:rPr>
              <a:t>3 problèmes utilisateurs identifiés</a:t>
            </a:r>
            <a:endParaRPr lang="en-US" sz="1000" dirty="0"/>
          </a:p>
        </p:txBody>
      </p:sp>
      <p:sp>
        <p:nvSpPr>
          <p:cNvPr id="33" name="Shape 31"/>
          <p:cNvSpPr/>
          <p:nvPr/>
        </p:nvSpPr>
        <p:spPr>
          <a:xfrm>
            <a:off x="4754880" y="2473452"/>
            <a:ext cx="4023360" cy="77724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34" name="Shape 32"/>
          <p:cNvSpPr/>
          <p:nvPr/>
        </p:nvSpPr>
        <p:spPr>
          <a:xfrm>
            <a:off x="4754880" y="2473452"/>
            <a:ext cx="109728" cy="777240"/>
          </a:xfrm>
          <a:prstGeom prst="rect">
            <a:avLst/>
          </a:prstGeom>
          <a:solidFill>
            <a:srgbClr val="134E8E"/>
          </a:solidFill>
          <a:ln w="12700">
            <a:solidFill>
              <a:srgbClr val="134E8E"/>
            </a:solidFill>
            <a:prstDash val="solid"/>
          </a:ln>
        </p:spPr>
      </p:sp>
      <p:sp>
        <p:nvSpPr>
          <p:cNvPr id="35" name="Text 33"/>
          <p:cNvSpPr/>
          <p:nvPr/>
        </p:nvSpPr>
        <p:spPr>
          <a:xfrm>
            <a:off x="4937760" y="2519172"/>
            <a:ext cx="411480" cy="301752"/>
          </a:xfrm>
          <a:prstGeom prst="rect">
            <a:avLst/>
          </a:prstGeom>
          <a:noFill/>
          <a:ln/>
        </p:spPr>
        <p:txBody>
          <a:bodyPr wrap="square" lIns="0" tIns="0" rIns="0" bIns="0" rtlCol="0" anchor="ctr"/>
          <a:lstStyle/>
          <a:p>
            <a:pPr indent="0" marL="0">
              <a:buNone/>
            </a:pPr>
            <a:r>
              <a:rPr lang="en-US" sz="1800" b="1" dirty="0">
                <a:solidFill>
                  <a:srgbClr val="134E8E"/>
                </a:solidFill>
                <a:latin typeface="Georgia" pitchFamily="34" charset="0"/>
                <a:ea typeface="Georgia" pitchFamily="34" charset="-122"/>
                <a:cs typeface="Georgia" pitchFamily="34" charset="-120"/>
              </a:rPr>
              <a:t>06</a:t>
            </a:r>
            <a:endParaRPr lang="en-US" sz="1800" dirty="0"/>
          </a:p>
        </p:txBody>
      </p:sp>
      <p:sp>
        <p:nvSpPr>
          <p:cNvPr id="36" name="Text 34"/>
          <p:cNvSpPr/>
          <p:nvPr/>
        </p:nvSpPr>
        <p:spPr>
          <a:xfrm>
            <a:off x="5413248" y="2519172"/>
            <a:ext cx="3154680" cy="274320"/>
          </a:xfrm>
          <a:prstGeom prst="rect">
            <a:avLst/>
          </a:prstGeom>
          <a:noFill/>
          <a:ln/>
        </p:spPr>
        <p:txBody>
          <a:bodyPr wrap="square" lIns="0" tIns="0" rIns="0" bIns="0" rtlCol="0" anchor="ctr"/>
          <a:lstStyle/>
          <a:p>
            <a:pPr indent="0" marL="0">
              <a:buNone/>
            </a:pPr>
            <a:r>
              <a:rPr lang="en-US" sz="1300" b="1" dirty="0">
                <a:solidFill>
                  <a:srgbClr val="1A2E4A"/>
                </a:solidFill>
                <a:latin typeface="Calibri" pitchFamily="34" charset="0"/>
                <a:ea typeface="Calibri" pitchFamily="34" charset="-122"/>
                <a:cs typeface="Calibri" pitchFamily="34" charset="-120"/>
              </a:rPr>
              <a:t>Benchmarks</a:t>
            </a:r>
            <a:endParaRPr lang="en-US" sz="1300" dirty="0"/>
          </a:p>
        </p:txBody>
      </p:sp>
      <p:sp>
        <p:nvSpPr>
          <p:cNvPr id="37" name="Text 35"/>
          <p:cNvSpPr/>
          <p:nvPr/>
        </p:nvSpPr>
        <p:spPr>
          <a:xfrm>
            <a:off x="5413248" y="2857500"/>
            <a:ext cx="3154680" cy="320040"/>
          </a:xfrm>
          <a:prstGeom prst="rect">
            <a:avLst/>
          </a:prstGeom>
          <a:noFill/>
          <a:ln/>
        </p:spPr>
        <p:txBody>
          <a:bodyPr wrap="square" lIns="0" tIns="0" rIns="0" bIns="0" rtlCol="0" anchor="ctr"/>
          <a:lstStyle/>
          <a:p>
            <a:pPr indent="0" marL="0">
              <a:buNone/>
            </a:pPr>
            <a:r>
              <a:rPr lang="en-US" sz="1000" dirty="0">
                <a:solidFill>
                  <a:srgbClr val="6B7A8D"/>
                </a:solidFill>
                <a:latin typeface="Calibri" pitchFamily="34" charset="0"/>
                <a:ea typeface="Calibri" pitchFamily="34" charset="-122"/>
                <a:cs typeface="Calibri" pitchFamily="34" charset="-120"/>
              </a:rPr>
              <a:t>4 outils de référence analysés</a:t>
            </a:r>
            <a:endParaRPr lang="en-US" sz="1000" dirty="0"/>
          </a:p>
        </p:txBody>
      </p:sp>
      <p:sp>
        <p:nvSpPr>
          <p:cNvPr id="38" name="Shape 36"/>
          <p:cNvSpPr/>
          <p:nvPr/>
        </p:nvSpPr>
        <p:spPr>
          <a:xfrm>
            <a:off x="4754880" y="3378708"/>
            <a:ext cx="4023360" cy="77724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39" name="Shape 37"/>
          <p:cNvSpPr/>
          <p:nvPr/>
        </p:nvSpPr>
        <p:spPr>
          <a:xfrm>
            <a:off x="4754880" y="3378708"/>
            <a:ext cx="109728" cy="777240"/>
          </a:xfrm>
          <a:prstGeom prst="rect">
            <a:avLst/>
          </a:prstGeom>
          <a:solidFill>
            <a:srgbClr val="134E8E"/>
          </a:solidFill>
          <a:ln w="12700">
            <a:solidFill>
              <a:srgbClr val="134E8E"/>
            </a:solidFill>
            <a:prstDash val="solid"/>
          </a:ln>
        </p:spPr>
      </p:sp>
      <p:sp>
        <p:nvSpPr>
          <p:cNvPr id="40" name="Text 38"/>
          <p:cNvSpPr/>
          <p:nvPr/>
        </p:nvSpPr>
        <p:spPr>
          <a:xfrm>
            <a:off x="4937760" y="3424428"/>
            <a:ext cx="411480" cy="301752"/>
          </a:xfrm>
          <a:prstGeom prst="rect">
            <a:avLst/>
          </a:prstGeom>
          <a:noFill/>
          <a:ln/>
        </p:spPr>
        <p:txBody>
          <a:bodyPr wrap="square" lIns="0" tIns="0" rIns="0" bIns="0" rtlCol="0" anchor="ctr"/>
          <a:lstStyle/>
          <a:p>
            <a:pPr indent="0" marL="0">
              <a:buNone/>
            </a:pPr>
            <a:r>
              <a:rPr lang="en-US" sz="1800" b="1" dirty="0">
                <a:solidFill>
                  <a:srgbClr val="134E8E"/>
                </a:solidFill>
                <a:latin typeface="Georgia" pitchFamily="34" charset="0"/>
                <a:ea typeface="Georgia" pitchFamily="34" charset="-122"/>
                <a:cs typeface="Georgia" pitchFamily="34" charset="-120"/>
              </a:rPr>
              <a:t>07</a:t>
            </a:r>
            <a:endParaRPr lang="en-US" sz="1800" dirty="0"/>
          </a:p>
        </p:txBody>
      </p:sp>
      <p:sp>
        <p:nvSpPr>
          <p:cNvPr id="41" name="Text 39"/>
          <p:cNvSpPr/>
          <p:nvPr/>
        </p:nvSpPr>
        <p:spPr>
          <a:xfrm>
            <a:off x="5413248" y="3424428"/>
            <a:ext cx="3154680" cy="274320"/>
          </a:xfrm>
          <a:prstGeom prst="rect">
            <a:avLst/>
          </a:prstGeom>
          <a:noFill/>
          <a:ln/>
        </p:spPr>
        <p:txBody>
          <a:bodyPr wrap="square" lIns="0" tIns="0" rIns="0" bIns="0" rtlCol="0" anchor="ctr"/>
          <a:lstStyle/>
          <a:p>
            <a:pPr indent="0" marL="0">
              <a:buNone/>
            </a:pPr>
            <a:r>
              <a:rPr lang="en-US" sz="1300" b="1" dirty="0">
                <a:solidFill>
                  <a:srgbClr val="1A2E4A"/>
                </a:solidFill>
                <a:latin typeface="Calibri" pitchFamily="34" charset="0"/>
                <a:ea typeface="Calibri" pitchFamily="34" charset="-122"/>
                <a:cs typeface="Calibri" pitchFamily="34" charset="-120"/>
              </a:rPr>
              <a:t>Grille de priorisation &amp; KPIs</a:t>
            </a:r>
            <a:endParaRPr lang="en-US" sz="1300" dirty="0"/>
          </a:p>
        </p:txBody>
      </p:sp>
      <p:sp>
        <p:nvSpPr>
          <p:cNvPr id="42" name="Text 40"/>
          <p:cNvSpPr/>
          <p:nvPr/>
        </p:nvSpPr>
        <p:spPr>
          <a:xfrm>
            <a:off x="5413248" y="3762756"/>
            <a:ext cx="3154680" cy="320040"/>
          </a:xfrm>
          <a:prstGeom prst="rect">
            <a:avLst/>
          </a:prstGeom>
          <a:noFill/>
          <a:ln/>
        </p:spPr>
        <p:txBody>
          <a:bodyPr wrap="square" lIns="0" tIns="0" rIns="0" bIns="0" rtlCol="0" anchor="ctr"/>
          <a:lstStyle/>
          <a:p>
            <a:pPr indent="0" marL="0">
              <a:buNone/>
            </a:pPr>
            <a:r>
              <a:rPr lang="en-US" sz="1000" dirty="0">
                <a:solidFill>
                  <a:srgbClr val="6B7A8D"/>
                </a:solidFill>
                <a:latin typeface="Calibri" pitchFamily="34" charset="0"/>
                <a:ea typeface="Calibri" pitchFamily="34" charset="-122"/>
                <a:cs typeface="Calibri" pitchFamily="34" charset="-120"/>
              </a:rPr>
              <a:t>6 fonctionnalités scorées + 5 KPIs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0"/>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34E8E"/>
          </a:solidFill>
          <a:ln w="12700">
            <a:solidFill>
              <a:srgbClr val="134E8E"/>
            </a:solidFill>
            <a:prstDash val="solid"/>
          </a:ln>
        </p:spPr>
      </p:sp>
      <p:sp>
        <p:nvSpPr>
          <p:cNvPr id="3" name="Shape 1"/>
          <p:cNvSpPr/>
          <p:nvPr/>
        </p:nvSpPr>
        <p:spPr>
          <a:xfrm>
            <a:off x="0" y="0"/>
            <a:ext cx="137160" cy="960120"/>
          </a:xfrm>
          <a:prstGeom prst="rect">
            <a:avLst/>
          </a:prstGeom>
          <a:solidFill>
            <a:srgbClr val="C00707"/>
          </a:solidFill>
          <a:ln w="12700">
            <a:solidFill>
              <a:srgbClr val="C00707"/>
            </a:solidFill>
            <a:prstDash val="solid"/>
          </a:ln>
        </p:spPr>
      </p:sp>
      <p:sp>
        <p:nvSpPr>
          <p:cNvPr id="4" name="Text 2"/>
          <p:cNvSpPr/>
          <p:nvPr/>
        </p:nvSpPr>
        <p:spPr>
          <a:xfrm>
            <a:off x="320040" y="0"/>
            <a:ext cx="777240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01 — Business Model Canvas</a:t>
            </a:r>
            <a:endParaRPr lang="en-US" sz="2200" dirty="0"/>
          </a:p>
        </p:txBody>
      </p:sp>
      <p:sp>
        <p:nvSpPr>
          <p:cNvPr id="5" name="Text 3"/>
          <p:cNvSpPr/>
          <p:nvPr/>
        </p:nvSpPr>
        <p:spPr>
          <a:xfrm>
            <a:off x="320040" y="594360"/>
            <a:ext cx="8503920" cy="320040"/>
          </a:xfrm>
          <a:prstGeom prst="rect">
            <a:avLst/>
          </a:prstGeom>
          <a:noFill/>
          <a:ln/>
        </p:spPr>
        <p:txBody>
          <a:bodyPr wrap="square" lIns="0" tIns="0" rIns="0" bIns="0" rtlCol="0" anchor="ctr"/>
          <a:lstStyle/>
          <a:p>
            <a:pPr indent="0" marL="0">
              <a:buNone/>
            </a:pPr>
            <a:r>
              <a:rPr lang="en-US" sz="1050" i="1" dirty="0">
                <a:solidFill>
                  <a:srgbClr val="8AAFC8"/>
                </a:solidFill>
                <a:latin typeface="Calibri" pitchFamily="34" charset="0"/>
                <a:ea typeface="Calibri" pitchFamily="34" charset="-122"/>
                <a:cs typeface="Calibri" pitchFamily="34" charset="-120"/>
              </a:rPr>
              <a:t>Agence Française de Développement · Finance, accompagne et accélère la transition vers un monde plus juste et durable</a:t>
            </a:r>
            <a:endParaRPr lang="en-US" sz="1050" dirty="0"/>
          </a:p>
        </p:txBody>
      </p:sp>
      <p:sp>
        <p:nvSpPr>
          <p:cNvPr id="6" name="Shape 4"/>
          <p:cNvSpPr/>
          <p:nvPr/>
        </p:nvSpPr>
        <p:spPr>
          <a:xfrm>
            <a:off x="0" y="4956048"/>
            <a:ext cx="9144000" cy="182880"/>
          </a:xfrm>
          <a:prstGeom prst="rect">
            <a:avLst/>
          </a:prstGeom>
          <a:solidFill>
            <a:srgbClr val="134E8E"/>
          </a:solidFill>
          <a:ln w="12700">
            <a:solidFill>
              <a:srgbClr val="134E8E"/>
            </a:solidFill>
            <a:prstDash val="solid"/>
          </a:ln>
        </p:spPr>
      </p:sp>
      <p:sp>
        <p:nvSpPr>
          <p:cNvPr id="7" name="Text 5"/>
          <p:cNvSpPr/>
          <p:nvPr/>
        </p:nvSpPr>
        <p:spPr>
          <a:xfrm>
            <a:off x="182880" y="4919472"/>
            <a:ext cx="8778240" cy="219456"/>
          </a:xfrm>
          <a:prstGeom prst="rect">
            <a:avLst/>
          </a:prstGeom>
          <a:noFill/>
          <a:ln/>
        </p:spPr>
        <p:txBody>
          <a:bodyPr wrap="square" lIns="0" tIns="0" rIns="0" bIns="0" rtlCol="0" anchor="ctr"/>
          <a:lstStyle/>
          <a:p>
            <a:pPr algn="r" indent="0" marL="0">
              <a:buNone/>
            </a:pPr>
            <a:r>
              <a:rPr lang="en-US" sz="850" dirty="0">
                <a:solidFill>
                  <a:srgbClr val="FFFFFF"/>
                </a:solidFill>
                <a:latin typeface="Calibri" pitchFamily="34" charset="0"/>
                <a:ea typeface="Calibri" pitchFamily="34" charset="-122"/>
                <a:cs typeface="Calibri" pitchFamily="34" charset="-120"/>
              </a:rPr>
              <a:t>Application Data APD  ·  AFD  ·  DPM Project 2025</a:t>
            </a:r>
            <a:endParaRPr lang="en-US" sz="850" dirty="0"/>
          </a:p>
        </p:txBody>
      </p:sp>
      <p:sp>
        <p:nvSpPr>
          <p:cNvPr id="8" name="Shape 6"/>
          <p:cNvSpPr/>
          <p:nvPr/>
        </p:nvSpPr>
        <p:spPr>
          <a:xfrm>
            <a:off x="256032" y="1115568"/>
            <a:ext cx="1664208" cy="2596896"/>
          </a:xfrm>
          <a:prstGeom prst="rect">
            <a:avLst/>
          </a:prstGeom>
          <a:solidFill>
            <a:srgbClr val="FFFFFF"/>
          </a:solidFill>
          <a:ln w="12700">
            <a:solidFill>
              <a:srgbClr val="DDE6F0"/>
            </a:solidFill>
            <a:prstDash val="solid"/>
          </a:ln>
        </p:spPr>
      </p:sp>
      <p:sp>
        <p:nvSpPr>
          <p:cNvPr id="9" name="Shape 7"/>
          <p:cNvSpPr/>
          <p:nvPr/>
        </p:nvSpPr>
        <p:spPr>
          <a:xfrm>
            <a:off x="256032" y="1115568"/>
            <a:ext cx="1664208" cy="246888"/>
          </a:xfrm>
          <a:prstGeom prst="rect">
            <a:avLst/>
          </a:prstGeom>
          <a:solidFill>
            <a:srgbClr val="134E8E"/>
          </a:solidFill>
          <a:ln w="12700">
            <a:solidFill>
              <a:srgbClr val="134E8E"/>
            </a:solidFill>
            <a:prstDash val="solid"/>
          </a:ln>
        </p:spPr>
      </p:sp>
      <p:sp>
        <p:nvSpPr>
          <p:cNvPr id="10" name="Text 8"/>
          <p:cNvSpPr/>
          <p:nvPr/>
        </p:nvSpPr>
        <p:spPr>
          <a:xfrm>
            <a:off x="301752" y="1124712"/>
            <a:ext cx="1591056" cy="228600"/>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Partenaires Clés</a:t>
            </a:r>
            <a:endParaRPr lang="en-US" sz="750" dirty="0"/>
          </a:p>
        </p:txBody>
      </p:sp>
      <p:sp>
        <p:nvSpPr>
          <p:cNvPr id="11" name="Text 9"/>
          <p:cNvSpPr/>
          <p:nvPr/>
        </p:nvSpPr>
        <p:spPr>
          <a:xfrm>
            <a:off x="310896" y="1362456"/>
            <a:ext cx="157276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État français (MAE, DGT)</a:t>
            </a:r>
            <a:endParaRPr lang="en-US" sz="750" dirty="0"/>
          </a:p>
        </p:txBody>
      </p:sp>
      <p:sp>
        <p:nvSpPr>
          <p:cNvPr id="12" name="Text 10"/>
          <p:cNvSpPr/>
          <p:nvPr/>
        </p:nvSpPr>
        <p:spPr>
          <a:xfrm>
            <a:off x="310896" y="1597457"/>
            <a:ext cx="157276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Banque Mondiale</a:t>
            </a:r>
            <a:endParaRPr lang="en-US" sz="750" dirty="0"/>
          </a:p>
        </p:txBody>
      </p:sp>
      <p:sp>
        <p:nvSpPr>
          <p:cNvPr id="13" name="Text 11"/>
          <p:cNvSpPr/>
          <p:nvPr/>
        </p:nvSpPr>
        <p:spPr>
          <a:xfrm>
            <a:off x="310896" y="1832458"/>
            <a:ext cx="157276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530 banques de déve-loppement (Finance in Common)</a:t>
            </a:r>
            <a:endParaRPr lang="en-US" sz="750" dirty="0"/>
          </a:p>
        </p:txBody>
      </p:sp>
      <p:sp>
        <p:nvSpPr>
          <p:cNvPr id="14" name="Text 12"/>
          <p:cNvSpPr/>
          <p:nvPr/>
        </p:nvSpPr>
        <p:spPr>
          <a:xfrm>
            <a:off x="310896" y="2067458"/>
            <a:ext cx="157276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Union Européenne</a:t>
            </a:r>
            <a:endParaRPr lang="en-US" sz="750" dirty="0"/>
          </a:p>
        </p:txBody>
      </p:sp>
      <p:sp>
        <p:nvSpPr>
          <p:cNvPr id="15" name="Text 13"/>
          <p:cNvSpPr/>
          <p:nvPr/>
        </p:nvSpPr>
        <p:spPr>
          <a:xfrm>
            <a:off x="310896" y="2302459"/>
            <a:ext cx="157276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Proparco (bras privé)</a:t>
            </a:r>
            <a:endParaRPr lang="en-US" sz="750" dirty="0"/>
          </a:p>
        </p:txBody>
      </p:sp>
      <p:sp>
        <p:nvSpPr>
          <p:cNvPr id="16" name="Text 14"/>
          <p:cNvSpPr/>
          <p:nvPr/>
        </p:nvSpPr>
        <p:spPr>
          <a:xfrm>
            <a:off x="310896" y="2537460"/>
            <a:ext cx="157276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Expertise France (coopé. technique)</a:t>
            </a:r>
            <a:endParaRPr lang="en-US" sz="750" dirty="0"/>
          </a:p>
        </p:txBody>
      </p:sp>
      <p:sp>
        <p:nvSpPr>
          <p:cNvPr id="17" name="Text 15"/>
          <p:cNvSpPr/>
          <p:nvPr/>
        </p:nvSpPr>
        <p:spPr>
          <a:xfrm>
            <a:off x="310896" y="2772461"/>
            <a:ext cx="157276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Fondations philanthropiques (Gates, Aga Khan, Sawiris)</a:t>
            </a:r>
            <a:endParaRPr lang="en-US" sz="750" dirty="0"/>
          </a:p>
        </p:txBody>
      </p:sp>
      <p:sp>
        <p:nvSpPr>
          <p:cNvPr id="18" name="Text 16"/>
          <p:cNvSpPr/>
          <p:nvPr/>
        </p:nvSpPr>
        <p:spPr>
          <a:xfrm>
            <a:off x="310896" y="3007462"/>
            <a:ext cx="157276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ONG françaises et locales</a:t>
            </a:r>
            <a:endParaRPr lang="en-US" sz="750" dirty="0"/>
          </a:p>
        </p:txBody>
      </p:sp>
      <p:sp>
        <p:nvSpPr>
          <p:cNvPr id="19" name="Text 17"/>
          <p:cNvSpPr/>
          <p:nvPr/>
        </p:nvSpPr>
        <p:spPr>
          <a:xfrm>
            <a:off x="310896" y="3242462"/>
            <a:ext cx="157276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Institutions multilatérales (BAfD, BAsD, BID)</a:t>
            </a:r>
            <a:endParaRPr lang="en-US" sz="750" dirty="0"/>
          </a:p>
        </p:txBody>
      </p:sp>
      <p:sp>
        <p:nvSpPr>
          <p:cNvPr id="20" name="Text 18"/>
          <p:cNvSpPr/>
          <p:nvPr/>
        </p:nvSpPr>
        <p:spPr>
          <a:xfrm>
            <a:off x="310896" y="3477463"/>
            <a:ext cx="157276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Gouvernements bénéficiaires</a:t>
            </a:r>
            <a:endParaRPr lang="en-US" sz="750" dirty="0"/>
          </a:p>
        </p:txBody>
      </p:sp>
      <p:sp>
        <p:nvSpPr>
          <p:cNvPr id="21" name="Shape 19"/>
          <p:cNvSpPr/>
          <p:nvPr/>
        </p:nvSpPr>
        <p:spPr>
          <a:xfrm>
            <a:off x="1993392" y="1115568"/>
            <a:ext cx="1664208" cy="1188720"/>
          </a:xfrm>
          <a:prstGeom prst="rect">
            <a:avLst/>
          </a:prstGeom>
          <a:solidFill>
            <a:srgbClr val="FFFFFF"/>
          </a:solidFill>
          <a:ln w="12700">
            <a:solidFill>
              <a:srgbClr val="DDE6F0"/>
            </a:solidFill>
            <a:prstDash val="solid"/>
          </a:ln>
        </p:spPr>
      </p:sp>
      <p:sp>
        <p:nvSpPr>
          <p:cNvPr id="22" name="Shape 20"/>
          <p:cNvSpPr/>
          <p:nvPr/>
        </p:nvSpPr>
        <p:spPr>
          <a:xfrm>
            <a:off x="1993392" y="1115568"/>
            <a:ext cx="1664208" cy="228600"/>
          </a:xfrm>
          <a:prstGeom prst="rect">
            <a:avLst/>
          </a:prstGeom>
          <a:solidFill>
            <a:srgbClr val="7AAACE"/>
          </a:solidFill>
          <a:ln w="12700">
            <a:solidFill>
              <a:srgbClr val="7AAACE"/>
            </a:solidFill>
            <a:prstDash val="solid"/>
          </a:ln>
        </p:spPr>
      </p:sp>
      <p:sp>
        <p:nvSpPr>
          <p:cNvPr id="23" name="Text 21"/>
          <p:cNvSpPr/>
          <p:nvPr/>
        </p:nvSpPr>
        <p:spPr>
          <a:xfrm>
            <a:off x="2039112" y="1124712"/>
            <a:ext cx="1591056" cy="210312"/>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Activités Clés</a:t>
            </a:r>
            <a:endParaRPr lang="en-US" sz="750" dirty="0"/>
          </a:p>
        </p:txBody>
      </p:sp>
      <p:sp>
        <p:nvSpPr>
          <p:cNvPr id="24" name="Text 22"/>
          <p:cNvSpPr/>
          <p:nvPr/>
        </p:nvSpPr>
        <p:spPr>
          <a:xfrm>
            <a:off x="2048256" y="1344168"/>
            <a:ext cx="1572768" cy="137160"/>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Financement projets (prêts, dons, garanties)</a:t>
            </a:r>
            <a:endParaRPr lang="en-US" sz="700" dirty="0"/>
          </a:p>
        </p:txBody>
      </p:sp>
      <p:sp>
        <p:nvSpPr>
          <p:cNvPr id="25" name="Text 23"/>
          <p:cNvSpPr/>
          <p:nvPr/>
        </p:nvSpPr>
        <p:spPr>
          <a:xfrm>
            <a:off x="2048256" y="1481328"/>
            <a:ext cx="1572768" cy="137160"/>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Identification &amp; évaluation de projets</a:t>
            </a:r>
            <a:endParaRPr lang="en-US" sz="700" dirty="0"/>
          </a:p>
        </p:txBody>
      </p:sp>
      <p:sp>
        <p:nvSpPr>
          <p:cNvPr id="26" name="Text 24"/>
          <p:cNvSpPr/>
          <p:nvPr/>
        </p:nvSpPr>
        <p:spPr>
          <a:xfrm>
            <a:off x="2048256" y="1618488"/>
            <a:ext cx="1572768" cy="137160"/>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Accompagnement technique</a:t>
            </a:r>
            <a:endParaRPr lang="en-US" sz="700" dirty="0"/>
          </a:p>
        </p:txBody>
      </p:sp>
      <p:sp>
        <p:nvSpPr>
          <p:cNvPr id="27" name="Text 25"/>
          <p:cNvSpPr/>
          <p:nvPr/>
        </p:nvSpPr>
        <p:spPr>
          <a:xfrm>
            <a:off x="2048256" y="1755648"/>
            <a:ext cx="1572768" cy="137160"/>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Coopération internationale</a:t>
            </a:r>
            <a:endParaRPr lang="en-US" sz="700" dirty="0"/>
          </a:p>
        </p:txBody>
      </p:sp>
      <p:sp>
        <p:nvSpPr>
          <p:cNvPr id="28" name="Text 26"/>
          <p:cNvSpPr/>
          <p:nvPr/>
        </p:nvSpPr>
        <p:spPr>
          <a:xfrm>
            <a:off x="2048256" y="1892808"/>
            <a:ext cx="1572768" cy="137160"/>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Mobilisation financement climatique</a:t>
            </a:r>
            <a:endParaRPr lang="en-US" sz="700" dirty="0"/>
          </a:p>
        </p:txBody>
      </p:sp>
      <p:sp>
        <p:nvSpPr>
          <p:cNvPr id="29" name="Text 27"/>
          <p:cNvSpPr/>
          <p:nvPr/>
        </p:nvSpPr>
        <p:spPr>
          <a:xfrm>
            <a:off x="2048256" y="2029968"/>
            <a:ext cx="1572768" cy="137160"/>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Reporting &amp; transparence APD</a:t>
            </a:r>
            <a:endParaRPr lang="en-US" sz="700" dirty="0"/>
          </a:p>
        </p:txBody>
      </p:sp>
      <p:sp>
        <p:nvSpPr>
          <p:cNvPr id="30" name="Text 28"/>
          <p:cNvSpPr/>
          <p:nvPr/>
        </p:nvSpPr>
        <p:spPr>
          <a:xfrm>
            <a:off x="2048256" y="2167128"/>
            <a:ext cx="1572768" cy="137160"/>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Analyse de données APD</a:t>
            </a:r>
            <a:endParaRPr lang="en-US" sz="700" dirty="0"/>
          </a:p>
        </p:txBody>
      </p:sp>
      <p:sp>
        <p:nvSpPr>
          <p:cNvPr id="31" name="Shape 29"/>
          <p:cNvSpPr/>
          <p:nvPr/>
        </p:nvSpPr>
        <p:spPr>
          <a:xfrm>
            <a:off x="1993392" y="2377440"/>
            <a:ext cx="1664208" cy="1335024"/>
          </a:xfrm>
          <a:prstGeom prst="rect">
            <a:avLst/>
          </a:prstGeom>
          <a:solidFill>
            <a:srgbClr val="FFFFFF"/>
          </a:solidFill>
          <a:ln w="12700">
            <a:solidFill>
              <a:srgbClr val="DDE6F0"/>
            </a:solidFill>
            <a:prstDash val="solid"/>
          </a:ln>
        </p:spPr>
      </p:sp>
      <p:sp>
        <p:nvSpPr>
          <p:cNvPr id="32" name="Shape 30"/>
          <p:cNvSpPr/>
          <p:nvPr/>
        </p:nvSpPr>
        <p:spPr>
          <a:xfrm>
            <a:off x="1993392" y="2377440"/>
            <a:ext cx="1664208" cy="228600"/>
          </a:xfrm>
          <a:prstGeom prst="rect">
            <a:avLst/>
          </a:prstGeom>
          <a:solidFill>
            <a:srgbClr val="7AAACE"/>
          </a:solidFill>
          <a:ln w="12700">
            <a:solidFill>
              <a:srgbClr val="7AAACE"/>
            </a:solidFill>
            <a:prstDash val="solid"/>
          </a:ln>
        </p:spPr>
      </p:sp>
      <p:sp>
        <p:nvSpPr>
          <p:cNvPr id="33" name="Text 31"/>
          <p:cNvSpPr/>
          <p:nvPr/>
        </p:nvSpPr>
        <p:spPr>
          <a:xfrm>
            <a:off x="2039112" y="2386584"/>
            <a:ext cx="1591056" cy="210312"/>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Ressources Clés</a:t>
            </a:r>
            <a:endParaRPr lang="en-US" sz="750" dirty="0"/>
          </a:p>
        </p:txBody>
      </p:sp>
      <p:sp>
        <p:nvSpPr>
          <p:cNvPr id="34" name="Text 32"/>
          <p:cNvSpPr/>
          <p:nvPr/>
        </p:nvSpPr>
        <p:spPr>
          <a:xfrm>
            <a:off x="2048256" y="2606040"/>
            <a:ext cx="1572768" cy="158061"/>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13,7 Md€ d'engagements (2025)</a:t>
            </a:r>
            <a:endParaRPr lang="en-US" sz="700" dirty="0"/>
          </a:p>
        </p:txBody>
      </p:sp>
      <p:sp>
        <p:nvSpPr>
          <p:cNvPr id="35" name="Text 33"/>
          <p:cNvSpPr/>
          <p:nvPr/>
        </p:nvSpPr>
        <p:spPr>
          <a:xfrm>
            <a:off x="2048256" y="2764101"/>
            <a:ext cx="1572768" cy="158061"/>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Réseau mondial : 150 pays</a:t>
            </a:r>
            <a:endParaRPr lang="en-US" sz="700" dirty="0"/>
          </a:p>
        </p:txBody>
      </p:sp>
      <p:sp>
        <p:nvSpPr>
          <p:cNvPr id="36" name="Text 34"/>
          <p:cNvSpPr/>
          <p:nvPr/>
        </p:nvSpPr>
        <p:spPr>
          <a:xfrm>
            <a:off x="2048256" y="2922161"/>
            <a:ext cx="1572768" cy="158061"/>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Capital humain (experts)</a:t>
            </a:r>
            <a:endParaRPr lang="en-US" sz="700" dirty="0"/>
          </a:p>
        </p:txBody>
      </p:sp>
      <p:sp>
        <p:nvSpPr>
          <p:cNvPr id="37" name="Text 35"/>
          <p:cNvSpPr/>
          <p:nvPr/>
        </p:nvSpPr>
        <p:spPr>
          <a:xfrm>
            <a:off x="2048256" y="3080222"/>
            <a:ext cx="1572768" cy="158061"/>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Mandat gouvernemental</a:t>
            </a:r>
            <a:endParaRPr lang="en-US" sz="700" dirty="0"/>
          </a:p>
        </p:txBody>
      </p:sp>
      <p:sp>
        <p:nvSpPr>
          <p:cNvPr id="38" name="Text 36"/>
          <p:cNvSpPr/>
          <p:nvPr/>
        </p:nvSpPr>
        <p:spPr>
          <a:xfrm>
            <a:off x="2048256" y="3238282"/>
            <a:ext cx="1572768" cy="158061"/>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Notation financière AAA</a:t>
            </a:r>
            <a:endParaRPr lang="en-US" sz="700" dirty="0"/>
          </a:p>
        </p:txBody>
      </p:sp>
      <p:sp>
        <p:nvSpPr>
          <p:cNvPr id="39" name="Text 37"/>
          <p:cNvSpPr/>
          <p:nvPr/>
        </p:nvSpPr>
        <p:spPr>
          <a:xfrm>
            <a:off x="2048256" y="3396343"/>
            <a:ext cx="1572768" cy="158061"/>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Data &amp; outils d'analyse APD</a:t>
            </a:r>
            <a:endParaRPr lang="en-US" sz="700" dirty="0"/>
          </a:p>
        </p:txBody>
      </p:sp>
      <p:sp>
        <p:nvSpPr>
          <p:cNvPr id="40" name="Text 38"/>
          <p:cNvSpPr/>
          <p:nvPr/>
        </p:nvSpPr>
        <p:spPr>
          <a:xfrm>
            <a:off x="2048256" y="3554403"/>
            <a:ext cx="1572768" cy="158061"/>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Réseau agences (AFD, Proparco, EF)</a:t>
            </a:r>
            <a:endParaRPr lang="en-US" sz="700" dirty="0"/>
          </a:p>
        </p:txBody>
      </p:sp>
      <p:sp>
        <p:nvSpPr>
          <p:cNvPr id="41" name="Shape 39"/>
          <p:cNvSpPr/>
          <p:nvPr/>
        </p:nvSpPr>
        <p:spPr>
          <a:xfrm>
            <a:off x="3730752" y="1115568"/>
            <a:ext cx="1901952" cy="2596896"/>
          </a:xfrm>
          <a:prstGeom prst="rect">
            <a:avLst/>
          </a:prstGeom>
          <a:solidFill>
            <a:srgbClr val="FFFFFF"/>
          </a:solidFill>
          <a:ln w="12700">
            <a:solidFill>
              <a:srgbClr val="DDE6F0"/>
            </a:solidFill>
            <a:prstDash val="solid"/>
          </a:ln>
        </p:spPr>
      </p:sp>
      <p:sp>
        <p:nvSpPr>
          <p:cNvPr id="42" name="Shape 40"/>
          <p:cNvSpPr/>
          <p:nvPr/>
        </p:nvSpPr>
        <p:spPr>
          <a:xfrm>
            <a:off x="3730752" y="1115568"/>
            <a:ext cx="1901952" cy="246888"/>
          </a:xfrm>
          <a:prstGeom prst="rect">
            <a:avLst/>
          </a:prstGeom>
          <a:solidFill>
            <a:srgbClr val="C00707"/>
          </a:solidFill>
          <a:ln w="12700">
            <a:solidFill>
              <a:srgbClr val="C00707"/>
            </a:solidFill>
            <a:prstDash val="solid"/>
          </a:ln>
        </p:spPr>
      </p:sp>
      <p:sp>
        <p:nvSpPr>
          <p:cNvPr id="43" name="Text 41"/>
          <p:cNvSpPr/>
          <p:nvPr/>
        </p:nvSpPr>
        <p:spPr>
          <a:xfrm>
            <a:off x="3776472" y="1124712"/>
            <a:ext cx="1828800" cy="228600"/>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Proposition de Valeur</a:t>
            </a:r>
            <a:endParaRPr lang="en-US" sz="750" dirty="0"/>
          </a:p>
        </p:txBody>
      </p:sp>
      <p:sp>
        <p:nvSpPr>
          <p:cNvPr id="44" name="Text 42"/>
          <p:cNvSpPr/>
          <p:nvPr/>
        </p:nvSpPr>
        <p:spPr>
          <a:xfrm>
            <a:off x="3785616" y="1362456"/>
            <a:ext cx="1810512"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Financement concessionnaire de projets de dév. durable</a:t>
            </a:r>
            <a:endParaRPr lang="en-US" sz="750" dirty="0"/>
          </a:p>
        </p:txBody>
      </p:sp>
      <p:sp>
        <p:nvSpPr>
          <p:cNvPr id="45" name="Text 43"/>
          <p:cNvSpPr/>
          <p:nvPr/>
        </p:nvSpPr>
        <p:spPr>
          <a:xfrm>
            <a:off x="3785616" y="1597457"/>
            <a:ext cx="1810512"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Réduction de la pauvreté et des inégalités mondiales</a:t>
            </a:r>
            <a:endParaRPr lang="en-US" sz="750" dirty="0"/>
          </a:p>
        </p:txBody>
      </p:sp>
      <p:sp>
        <p:nvSpPr>
          <p:cNvPr id="46" name="Text 44"/>
          <p:cNvSpPr/>
          <p:nvPr/>
        </p:nvSpPr>
        <p:spPr>
          <a:xfrm>
            <a:off x="3785616" y="1832458"/>
            <a:ext cx="1810512"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Lutte contre le changement climatique (7,6 Md€ en 2025)</a:t>
            </a:r>
            <a:endParaRPr lang="en-US" sz="750" dirty="0"/>
          </a:p>
        </p:txBody>
      </p:sp>
      <p:sp>
        <p:nvSpPr>
          <p:cNvPr id="47" name="Text 45"/>
          <p:cNvSpPr/>
          <p:nvPr/>
        </p:nvSpPr>
        <p:spPr>
          <a:xfrm>
            <a:off x="3785616" y="2067458"/>
            <a:ext cx="1810512"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Protection de la biodiversité (800 M€/an)</a:t>
            </a:r>
            <a:endParaRPr lang="en-US" sz="750" dirty="0"/>
          </a:p>
        </p:txBody>
      </p:sp>
      <p:sp>
        <p:nvSpPr>
          <p:cNvPr id="48" name="Text 46"/>
          <p:cNvSpPr/>
          <p:nvPr/>
        </p:nvSpPr>
        <p:spPr>
          <a:xfrm>
            <a:off x="3785616" y="2302459"/>
            <a:ext cx="1810512"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Transfert de compétences et expertise technique</a:t>
            </a:r>
            <a:endParaRPr lang="en-US" sz="750" dirty="0"/>
          </a:p>
        </p:txBody>
      </p:sp>
      <p:sp>
        <p:nvSpPr>
          <p:cNvPr id="49" name="Text 47"/>
          <p:cNvSpPr/>
          <p:nvPr/>
        </p:nvSpPr>
        <p:spPr>
          <a:xfrm>
            <a:off x="3785616" y="2537460"/>
            <a:ext cx="1810512"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Transparence &amp; analyse des flux d'APD</a:t>
            </a:r>
            <a:endParaRPr lang="en-US" sz="750" dirty="0"/>
          </a:p>
        </p:txBody>
      </p:sp>
      <p:sp>
        <p:nvSpPr>
          <p:cNvPr id="50" name="Text 48"/>
          <p:cNvSpPr/>
          <p:nvPr/>
        </p:nvSpPr>
        <p:spPr>
          <a:xfrm>
            <a:off x="3785616" y="2772461"/>
            <a:ext cx="1810512"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Pour 1€ public → 12€ investis en partenariats</a:t>
            </a:r>
            <a:endParaRPr lang="en-US" sz="750" dirty="0"/>
          </a:p>
        </p:txBody>
      </p:sp>
      <p:sp>
        <p:nvSpPr>
          <p:cNvPr id="51" name="Text 49"/>
          <p:cNvSpPr/>
          <p:nvPr/>
        </p:nvSpPr>
        <p:spPr>
          <a:xfrm>
            <a:off x="3785616" y="3007462"/>
            <a:ext cx="1810512"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Alignement 100% sur l'Accord de Paris</a:t>
            </a:r>
            <a:endParaRPr lang="en-US" sz="750" dirty="0"/>
          </a:p>
        </p:txBody>
      </p:sp>
      <p:sp>
        <p:nvSpPr>
          <p:cNvPr id="52" name="Text 50"/>
          <p:cNvSpPr/>
          <p:nvPr/>
        </p:nvSpPr>
        <p:spPr>
          <a:xfrm>
            <a:off x="3785616" y="3242462"/>
            <a:ext cx="1810512"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Accès à des financements innovants (obligations vertes, crédits carbone)</a:t>
            </a:r>
            <a:endParaRPr lang="en-US" sz="750" dirty="0"/>
          </a:p>
        </p:txBody>
      </p:sp>
      <p:sp>
        <p:nvSpPr>
          <p:cNvPr id="53" name="Text 51"/>
          <p:cNvSpPr/>
          <p:nvPr/>
        </p:nvSpPr>
        <p:spPr>
          <a:xfrm>
            <a:off x="3785616" y="3477463"/>
            <a:ext cx="1810512"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~3,5 M personnes/an : accès aux soins</a:t>
            </a:r>
            <a:endParaRPr lang="en-US" sz="750" dirty="0"/>
          </a:p>
        </p:txBody>
      </p:sp>
      <p:sp>
        <p:nvSpPr>
          <p:cNvPr id="54" name="Shape 52"/>
          <p:cNvSpPr/>
          <p:nvPr/>
        </p:nvSpPr>
        <p:spPr>
          <a:xfrm>
            <a:off x="5705856" y="1115568"/>
            <a:ext cx="1517904" cy="1188720"/>
          </a:xfrm>
          <a:prstGeom prst="rect">
            <a:avLst/>
          </a:prstGeom>
          <a:solidFill>
            <a:srgbClr val="FFFFFF"/>
          </a:solidFill>
          <a:ln w="12700">
            <a:solidFill>
              <a:srgbClr val="DDE6F0"/>
            </a:solidFill>
            <a:prstDash val="solid"/>
          </a:ln>
        </p:spPr>
      </p:sp>
      <p:sp>
        <p:nvSpPr>
          <p:cNvPr id="55" name="Shape 53"/>
          <p:cNvSpPr/>
          <p:nvPr/>
        </p:nvSpPr>
        <p:spPr>
          <a:xfrm>
            <a:off x="5705856" y="1115568"/>
            <a:ext cx="1517904" cy="228600"/>
          </a:xfrm>
          <a:prstGeom prst="rect">
            <a:avLst/>
          </a:prstGeom>
          <a:solidFill>
            <a:srgbClr val="7AAACE"/>
          </a:solidFill>
          <a:ln w="12700">
            <a:solidFill>
              <a:srgbClr val="7AAACE"/>
            </a:solidFill>
            <a:prstDash val="solid"/>
          </a:ln>
        </p:spPr>
      </p:sp>
      <p:sp>
        <p:nvSpPr>
          <p:cNvPr id="56" name="Text 54"/>
          <p:cNvSpPr/>
          <p:nvPr/>
        </p:nvSpPr>
        <p:spPr>
          <a:xfrm>
            <a:off x="5751576" y="1124712"/>
            <a:ext cx="1444752" cy="210312"/>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Relations Clients</a:t>
            </a:r>
            <a:endParaRPr lang="en-US" sz="750" dirty="0"/>
          </a:p>
        </p:txBody>
      </p:sp>
      <p:sp>
        <p:nvSpPr>
          <p:cNvPr id="57" name="Text 55"/>
          <p:cNvSpPr/>
          <p:nvPr/>
        </p:nvSpPr>
        <p:spPr>
          <a:xfrm>
            <a:off x="5760720" y="1344168"/>
            <a:ext cx="1426464" cy="137160"/>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Partenariats long terme avec les États</a:t>
            </a:r>
            <a:endParaRPr lang="en-US" sz="700" dirty="0"/>
          </a:p>
        </p:txBody>
      </p:sp>
      <p:sp>
        <p:nvSpPr>
          <p:cNvPr id="58" name="Text 56"/>
          <p:cNvSpPr/>
          <p:nvPr/>
        </p:nvSpPr>
        <p:spPr>
          <a:xfrm>
            <a:off x="5760720" y="1481328"/>
            <a:ext cx="1426464" cy="137160"/>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Accompagnement &amp; co-construction</a:t>
            </a:r>
            <a:endParaRPr lang="en-US" sz="700" dirty="0"/>
          </a:p>
        </p:txBody>
      </p:sp>
      <p:sp>
        <p:nvSpPr>
          <p:cNvPr id="59" name="Text 57"/>
          <p:cNvSpPr/>
          <p:nvPr/>
        </p:nvSpPr>
        <p:spPr>
          <a:xfrm>
            <a:off x="5760720" y="1618488"/>
            <a:ext cx="1426464" cy="137160"/>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Suivi et évaluation des projets</a:t>
            </a:r>
            <a:endParaRPr lang="en-US" sz="700" dirty="0"/>
          </a:p>
        </p:txBody>
      </p:sp>
      <p:sp>
        <p:nvSpPr>
          <p:cNvPr id="60" name="Text 58"/>
          <p:cNvSpPr/>
          <p:nvPr/>
        </p:nvSpPr>
        <p:spPr>
          <a:xfrm>
            <a:off x="5760720" y="1755648"/>
            <a:ext cx="1426464" cy="137160"/>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Assistance technique dédiée</a:t>
            </a:r>
            <a:endParaRPr lang="en-US" sz="700" dirty="0"/>
          </a:p>
        </p:txBody>
      </p:sp>
      <p:sp>
        <p:nvSpPr>
          <p:cNvPr id="61" name="Text 59"/>
          <p:cNvSpPr/>
          <p:nvPr/>
        </p:nvSpPr>
        <p:spPr>
          <a:xfrm>
            <a:off x="5760720" y="1892808"/>
            <a:ext cx="1426464" cy="137160"/>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Dialogue politique &amp; stratégique</a:t>
            </a:r>
            <a:endParaRPr lang="en-US" sz="700" dirty="0"/>
          </a:p>
        </p:txBody>
      </p:sp>
      <p:sp>
        <p:nvSpPr>
          <p:cNvPr id="62" name="Text 60"/>
          <p:cNvSpPr/>
          <p:nvPr/>
        </p:nvSpPr>
        <p:spPr>
          <a:xfrm>
            <a:off x="5760720" y="2029968"/>
            <a:ext cx="1426464" cy="137160"/>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Plateforme data interactive (APD)</a:t>
            </a:r>
            <a:endParaRPr lang="en-US" sz="700" dirty="0"/>
          </a:p>
        </p:txBody>
      </p:sp>
      <p:sp>
        <p:nvSpPr>
          <p:cNvPr id="63" name="Text 61"/>
          <p:cNvSpPr/>
          <p:nvPr/>
        </p:nvSpPr>
        <p:spPr>
          <a:xfrm>
            <a:off x="5760720" y="2167128"/>
            <a:ext cx="1426464" cy="137160"/>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Appels à projets pour ONG</a:t>
            </a:r>
            <a:endParaRPr lang="en-US" sz="700" dirty="0"/>
          </a:p>
        </p:txBody>
      </p:sp>
      <p:sp>
        <p:nvSpPr>
          <p:cNvPr id="64" name="Shape 62"/>
          <p:cNvSpPr/>
          <p:nvPr/>
        </p:nvSpPr>
        <p:spPr>
          <a:xfrm>
            <a:off x="5705856" y="2377440"/>
            <a:ext cx="1517904" cy="1335024"/>
          </a:xfrm>
          <a:prstGeom prst="rect">
            <a:avLst/>
          </a:prstGeom>
          <a:solidFill>
            <a:srgbClr val="FFFFFF"/>
          </a:solidFill>
          <a:ln w="12700">
            <a:solidFill>
              <a:srgbClr val="DDE6F0"/>
            </a:solidFill>
            <a:prstDash val="solid"/>
          </a:ln>
        </p:spPr>
      </p:sp>
      <p:sp>
        <p:nvSpPr>
          <p:cNvPr id="65" name="Shape 63"/>
          <p:cNvSpPr/>
          <p:nvPr/>
        </p:nvSpPr>
        <p:spPr>
          <a:xfrm>
            <a:off x="5705856" y="2377440"/>
            <a:ext cx="1517904" cy="228600"/>
          </a:xfrm>
          <a:prstGeom prst="rect">
            <a:avLst/>
          </a:prstGeom>
          <a:solidFill>
            <a:srgbClr val="7AAACE"/>
          </a:solidFill>
          <a:ln w="12700">
            <a:solidFill>
              <a:srgbClr val="7AAACE"/>
            </a:solidFill>
            <a:prstDash val="solid"/>
          </a:ln>
        </p:spPr>
      </p:sp>
      <p:sp>
        <p:nvSpPr>
          <p:cNvPr id="66" name="Text 64"/>
          <p:cNvSpPr/>
          <p:nvPr/>
        </p:nvSpPr>
        <p:spPr>
          <a:xfrm>
            <a:off x="5751576" y="2386584"/>
            <a:ext cx="1444752" cy="210312"/>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Canaux</a:t>
            </a:r>
            <a:endParaRPr lang="en-US" sz="750" dirty="0"/>
          </a:p>
        </p:txBody>
      </p:sp>
      <p:sp>
        <p:nvSpPr>
          <p:cNvPr id="67" name="Text 65"/>
          <p:cNvSpPr/>
          <p:nvPr/>
        </p:nvSpPr>
        <p:spPr>
          <a:xfrm>
            <a:off x="5760720" y="2606040"/>
            <a:ext cx="1426464" cy="158061"/>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Bureaux locaux (85+ pays)</a:t>
            </a:r>
            <a:endParaRPr lang="en-US" sz="700" dirty="0"/>
          </a:p>
        </p:txBody>
      </p:sp>
      <p:sp>
        <p:nvSpPr>
          <p:cNvPr id="68" name="Text 66"/>
          <p:cNvSpPr/>
          <p:nvPr/>
        </p:nvSpPr>
        <p:spPr>
          <a:xfrm>
            <a:off x="5760720" y="2764101"/>
            <a:ext cx="1426464" cy="158061"/>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Expertise France</a:t>
            </a:r>
            <a:endParaRPr lang="en-US" sz="700" dirty="0"/>
          </a:p>
        </p:txBody>
      </p:sp>
      <p:sp>
        <p:nvSpPr>
          <p:cNvPr id="69" name="Text 67"/>
          <p:cNvSpPr/>
          <p:nvPr/>
        </p:nvSpPr>
        <p:spPr>
          <a:xfrm>
            <a:off x="5760720" y="2922161"/>
            <a:ext cx="1426464" cy="158061"/>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Proparco</a:t>
            </a:r>
            <a:endParaRPr lang="en-US" sz="700" dirty="0"/>
          </a:p>
        </p:txBody>
      </p:sp>
      <p:sp>
        <p:nvSpPr>
          <p:cNvPr id="70" name="Text 68"/>
          <p:cNvSpPr/>
          <p:nvPr/>
        </p:nvSpPr>
        <p:spPr>
          <a:xfrm>
            <a:off x="5760720" y="3080222"/>
            <a:ext cx="1426464" cy="158061"/>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Site web &amp; outils digitaux</a:t>
            </a:r>
            <a:endParaRPr lang="en-US" sz="700" dirty="0"/>
          </a:p>
        </p:txBody>
      </p:sp>
      <p:sp>
        <p:nvSpPr>
          <p:cNvPr id="71" name="Text 69"/>
          <p:cNvSpPr/>
          <p:nvPr/>
        </p:nvSpPr>
        <p:spPr>
          <a:xfrm>
            <a:off x="5760720" y="3238282"/>
            <a:ext cx="1426464" cy="158061"/>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Conférences internationales</a:t>
            </a:r>
            <a:endParaRPr lang="en-US" sz="700" dirty="0"/>
          </a:p>
        </p:txBody>
      </p:sp>
      <p:sp>
        <p:nvSpPr>
          <p:cNvPr id="72" name="Text 70"/>
          <p:cNvSpPr/>
          <p:nvPr/>
        </p:nvSpPr>
        <p:spPr>
          <a:xfrm>
            <a:off x="5760720" y="3396343"/>
            <a:ext cx="1426464" cy="158061"/>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Appels d'offres &amp; projets</a:t>
            </a:r>
            <a:endParaRPr lang="en-US" sz="700" dirty="0"/>
          </a:p>
        </p:txBody>
      </p:sp>
      <p:sp>
        <p:nvSpPr>
          <p:cNvPr id="73" name="Text 71"/>
          <p:cNvSpPr/>
          <p:nvPr/>
        </p:nvSpPr>
        <p:spPr>
          <a:xfrm>
            <a:off x="5760720" y="3554403"/>
            <a:ext cx="1426464" cy="158061"/>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Application data APD</a:t>
            </a:r>
            <a:endParaRPr lang="en-US" sz="700" dirty="0"/>
          </a:p>
        </p:txBody>
      </p:sp>
      <p:sp>
        <p:nvSpPr>
          <p:cNvPr id="74" name="Shape 72"/>
          <p:cNvSpPr/>
          <p:nvPr/>
        </p:nvSpPr>
        <p:spPr>
          <a:xfrm>
            <a:off x="7296912" y="1115568"/>
            <a:ext cx="1572768" cy="2596896"/>
          </a:xfrm>
          <a:prstGeom prst="rect">
            <a:avLst/>
          </a:prstGeom>
          <a:solidFill>
            <a:srgbClr val="FFFFFF"/>
          </a:solidFill>
          <a:ln w="12700">
            <a:solidFill>
              <a:srgbClr val="DDE6F0"/>
            </a:solidFill>
            <a:prstDash val="solid"/>
          </a:ln>
        </p:spPr>
      </p:sp>
      <p:sp>
        <p:nvSpPr>
          <p:cNvPr id="75" name="Shape 73"/>
          <p:cNvSpPr/>
          <p:nvPr/>
        </p:nvSpPr>
        <p:spPr>
          <a:xfrm>
            <a:off x="7296912" y="1115568"/>
            <a:ext cx="1572768" cy="246888"/>
          </a:xfrm>
          <a:prstGeom prst="rect">
            <a:avLst/>
          </a:prstGeom>
          <a:solidFill>
            <a:srgbClr val="134E8E"/>
          </a:solidFill>
          <a:ln w="12700">
            <a:solidFill>
              <a:srgbClr val="134E8E"/>
            </a:solidFill>
            <a:prstDash val="solid"/>
          </a:ln>
        </p:spPr>
      </p:sp>
      <p:sp>
        <p:nvSpPr>
          <p:cNvPr id="76" name="Text 74"/>
          <p:cNvSpPr/>
          <p:nvPr/>
        </p:nvSpPr>
        <p:spPr>
          <a:xfrm>
            <a:off x="7342632" y="1124712"/>
            <a:ext cx="1499616" cy="228600"/>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Segments Clients</a:t>
            </a:r>
            <a:endParaRPr lang="en-US" sz="750" dirty="0"/>
          </a:p>
        </p:txBody>
      </p:sp>
      <p:sp>
        <p:nvSpPr>
          <p:cNvPr id="77" name="Text 75"/>
          <p:cNvSpPr/>
          <p:nvPr/>
        </p:nvSpPr>
        <p:spPr>
          <a:xfrm>
            <a:off x="7351776" y="1362456"/>
            <a:ext cx="148132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Gouvernements des pays en développement</a:t>
            </a:r>
            <a:endParaRPr lang="en-US" sz="750" dirty="0"/>
          </a:p>
        </p:txBody>
      </p:sp>
      <p:sp>
        <p:nvSpPr>
          <p:cNvPr id="78" name="Text 76"/>
          <p:cNvSpPr/>
          <p:nvPr/>
        </p:nvSpPr>
        <p:spPr>
          <a:xfrm>
            <a:off x="7351776" y="1597457"/>
            <a:ext cx="148132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Secteur privé (via Proparco)</a:t>
            </a:r>
            <a:endParaRPr lang="en-US" sz="750" dirty="0"/>
          </a:p>
        </p:txBody>
      </p:sp>
      <p:sp>
        <p:nvSpPr>
          <p:cNvPr id="79" name="Text 77"/>
          <p:cNvSpPr/>
          <p:nvPr/>
        </p:nvSpPr>
        <p:spPr>
          <a:xfrm>
            <a:off x="7351776" y="1832458"/>
            <a:ext cx="148132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Territoires d'outre-mer français</a:t>
            </a:r>
            <a:endParaRPr lang="en-US" sz="750" dirty="0"/>
          </a:p>
        </p:txBody>
      </p:sp>
      <p:sp>
        <p:nvSpPr>
          <p:cNvPr id="80" name="Text 78"/>
          <p:cNvSpPr/>
          <p:nvPr/>
        </p:nvSpPr>
        <p:spPr>
          <a:xfrm>
            <a:off x="7351776" y="2067458"/>
            <a:ext cx="148132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ONG &amp; société civile</a:t>
            </a:r>
            <a:endParaRPr lang="en-US" sz="750" dirty="0"/>
          </a:p>
        </p:txBody>
      </p:sp>
      <p:sp>
        <p:nvSpPr>
          <p:cNvPr id="81" name="Text 79"/>
          <p:cNvSpPr/>
          <p:nvPr/>
        </p:nvSpPr>
        <p:spPr>
          <a:xfrm>
            <a:off x="7351776" y="2302459"/>
            <a:ext cx="148132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Institutions publiques locales</a:t>
            </a:r>
            <a:endParaRPr lang="en-US" sz="750" dirty="0"/>
          </a:p>
        </p:txBody>
      </p:sp>
      <p:sp>
        <p:nvSpPr>
          <p:cNvPr id="82" name="Text 80"/>
          <p:cNvSpPr/>
          <p:nvPr/>
        </p:nvSpPr>
        <p:spPr>
          <a:xfrm>
            <a:off x="7351776" y="2537460"/>
            <a:ext cx="148132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Chercheurs &amp; institutions académiques</a:t>
            </a:r>
            <a:endParaRPr lang="en-US" sz="750" dirty="0"/>
          </a:p>
        </p:txBody>
      </p:sp>
      <p:sp>
        <p:nvSpPr>
          <p:cNvPr id="83" name="Text 81"/>
          <p:cNvSpPr/>
          <p:nvPr/>
        </p:nvSpPr>
        <p:spPr>
          <a:xfrm>
            <a:off x="7351776" y="2772461"/>
            <a:ext cx="148132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Citoyens &amp; acteurs de la coopération</a:t>
            </a:r>
            <a:endParaRPr lang="en-US" sz="750" dirty="0"/>
          </a:p>
        </p:txBody>
      </p:sp>
      <p:sp>
        <p:nvSpPr>
          <p:cNvPr id="84" name="Text 82"/>
          <p:cNvSpPr/>
          <p:nvPr/>
        </p:nvSpPr>
        <p:spPr>
          <a:xfrm>
            <a:off x="7351776" y="3007462"/>
            <a:ext cx="148132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Décideurs publics (MAE, planificateurs)</a:t>
            </a:r>
            <a:endParaRPr lang="en-US" sz="750" dirty="0"/>
          </a:p>
        </p:txBody>
      </p:sp>
      <p:sp>
        <p:nvSpPr>
          <p:cNvPr id="85" name="Text 83"/>
          <p:cNvSpPr/>
          <p:nvPr/>
        </p:nvSpPr>
        <p:spPr>
          <a:xfrm>
            <a:off x="7351776" y="3242462"/>
            <a:ext cx="148132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Responsables de programmes AFD</a:t>
            </a:r>
            <a:endParaRPr lang="en-US" sz="750" dirty="0"/>
          </a:p>
        </p:txBody>
      </p:sp>
      <p:sp>
        <p:nvSpPr>
          <p:cNvPr id="86" name="Text 84"/>
          <p:cNvSpPr/>
          <p:nvPr/>
        </p:nvSpPr>
        <p:spPr>
          <a:xfrm>
            <a:off x="7351776" y="3477463"/>
            <a:ext cx="1481328" cy="235001"/>
          </a:xfrm>
          <a:prstGeom prst="rect">
            <a:avLst/>
          </a:prstGeom>
          <a:noFill/>
          <a:ln/>
        </p:spPr>
        <p:txBody>
          <a:bodyPr wrap="square" lIns="0" tIns="0" rIns="0" bIns="0" rtlCol="0" anchor="t"/>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 150+ pays bénéficiaires</a:t>
            </a:r>
            <a:endParaRPr lang="en-US" sz="750" dirty="0"/>
          </a:p>
        </p:txBody>
      </p:sp>
      <p:sp>
        <p:nvSpPr>
          <p:cNvPr id="87" name="Shape 85"/>
          <p:cNvSpPr/>
          <p:nvPr/>
        </p:nvSpPr>
        <p:spPr>
          <a:xfrm>
            <a:off x="256032" y="3785616"/>
            <a:ext cx="4270248" cy="1042416"/>
          </a:xfrm>
          <a:prstGeom prst="rect">
            <a:avLst/>
          </a:prstGeom>
          <a:solidFill>
            <a:srgbClr val="FFFFFF"/>
          </a:solidFill>
          <a:ln w="12700">
            <a:solidFill>
              <a:srgbClr val="DDE6F0"/>
            </a:solidFill>
            <a:prstDash val="solid"/>
          </a:ln>
        </p:spPr>
      </p:sp>
      <p:sp>
        <p:nvSpPr>
          <p:cNvPr id="88" name="Shape 86"/>
          <p:cNvSpPr/>
          <p:nvPr/>
        </p:nvSpPr>
        <p:spPr>
          <a:xfrm>
            <a:off x="256032" y="3785616"/>
            <a:ext cx="4270248" cy="219456"/>
          </a:xfrm>
          <a:prstGeom prst="rect">
            <a:avLst/>
          </a:prstGeom>
          <a:solidFill>
            <a:srgbClr val="1A6B44"/>
          </a:solidFill>
          <a:ln w="12700">
            <a:solidFill>
              <a:srgbClr val="1A6B44"/>
            </a:solidFill>
            <a:prstDash val="solid"/>
          </a:ln>
        </p:spPr>
      </p:sp>
      <p:sp>
        <p:nvSpPr>
          <p:cNvPr id="89" name="Text 87"/>
          <p:cNvSpPr/>
          <p:nvPr/>
        </p:nvSpPr>
        <p:spPr>
          <a:xfrm>
            <a:off x="301752" y="3794760"/>
            <a:ext cx="4197096" cy="201168"/>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Structure de Coûts</a:t>
            </a:r>
            <a:endParaRPr lang="en-US" sz="750" dirty="0"/>
          </a:p>
        </p:txBody>
      </p:sp>
      <p:sp>
        <p:nvSpPr>
          <p:cNvPr id="90" name="Text 88"/>
          <p:cNvSpPr/>
          <p:nvPr/>
        </p:nvSpPr>
        <p:spPr>
          <a:xfrm>
            <a:off x="310896" y="4005072"/>
            <a:ext cx="4178808" cy="117566"/>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Personnel &amp; expertise technique (siège + terrain)</a:t>
            </a:r>
            <a:endParaRPr lang="en-US" sz="700" dirty="0"/>
          </a:p>
        </p:txBody>
      </p:sp>
      <p:sp>
        <p:nvSpPr>
          <p:cNvPr id="91" name="Text 89"/>
          <p:cNvSpPr/>
          <p:nvPr/>
        </p:nvSpPr>
        <p:spPr>
          <a:xfrm>
            <a:off x="310896" y="4122638"/>
            <a:ext cx="4178808" cy="117566"/>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Coût du financement (emprunts marchés financiers)</a:t>
            </a:r>
            <a:endParaRPr lang="en-US" sz="700" dirty="0"/>
          </a:p>
        </p:txBody>
      </p:sp>
      <p:sp>
        <p:nvSpPr>
          <p:cNvPr id="92" name="Text 90"/>
          <p:cNvSpPr/>
          <p:nvPr/>
        </p:nvSpPr>
        <p:spPr>
          <a:xfrm>
            <a:off x="310896" y="4240203"/>
            <a:ext cx="4178808" cy="117566"/>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Gestion et suivi de 4 300+ projets actifs</a:t>
            </a:r>
            <a:endParaRPr lang="en-US" sz="700" dirty="0"/>
          </a:p>
        </p:txBody>
      </p:sp>
      <p:sp>
        <p:nvSpPr>
          <p:cNvPr id="93" name="Text 91"/>
          <p:cNvSpPr/>
          <p:nvPr/>
        </p:nvSpPr>
        <p:spPr>
          <a:xfrm>
            <a:off x="310896" y="4357769"/>
            <a:ext cx="4178808" cy="117566"/>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Infrastructure réseau mondial (85+ pays)</a:t>
            </a:r>
            <a:endParaRPr lang="en-US" sz="700" dirty="0"/>
          </a:p>
        </p:txBody>
      </p:sp>
      <p:sp>
        <p:nvSpPr>
          <p:cNvPr id="94" name="Text 92"/>
          <p:cNvSpPr/>
          <p:nvPr/>
        </p:nvSpPr>
        <p:spPr>
          <a:xfrm>
            <a:off x="310896" y="4475335"/>
            <a:ext cx="4178808" cy="117566"/>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Subventions et dons (aide concessionnaire)</a:t>
            </a:r>
            <a:endParaRPr lang="en-US" sz="700" dirty="0"/>
          </a:p>
        </p:txBody>
      </p:sp>
      <p:sp>
        <p:nvSpPr>
          <p:cNvPr id="95" name="Text 93"/>
          <p:cNvSpPr/>
          <p:nvPr/>
        </p:nvSpPr>
        <p:spPr>
          <a:xfrm>
            <a:off x="310896" y="4592901"/>
            <a:ext cx="4178808" cy="117566"/>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Systèmes d'information &amp; outils data</a:t>
            </a:r>
            <a:endParaRPr lang="en-US" sz="700" dirty="0"/>
          </a:p>
        </p:txBody>
      </p:sp>
      <p:sp>
        <p:nvSpPr>
          <p:cNvPr id="96" name="Text 94"/>
          <p:cNvSpPr/>
          <p:nvPr/>
        </p:nvSpPr>
        <p:spPr>
          <a:xfrm>
            <a:off x="310896" y="4710466"/>
            <a:ext cx="4178808" cy="117566"/>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Coopération technique (Expertise France)</a:t>
            </a:r>
            <a:endParaRPr lang="en-US" sz="700" dirty="0"/>
          </a:p>
        </p:txBody>
      </p:sp>
      <p:sp>
        <p:nvSpPr>
          <p:cNvPr id="97" name="Shape 95"/>
          <p:cNvSpPr/>
          <p:nvPr/>
        </p:nvSpPr>
        <p:spPr>
          <a:xfrm>
            <a:off x="4599432" y="3785616"/>
            <a:ext cx="4270248" cy="1042416"/>
          </a:xfrm>
          <a:prstGeom prst="rect">
            <a:avLst/>
          </a:prstGeom>
          <a:solidFill>
            <a:srgbClr val="FFFFFF"/>
          </a:solidFill>
          <a:ln w="12700">
            <a:solidFill>
              <a:srgbClr val="DDE6F0"/>
            </a:solidFill>
            <a:prstDash val="solid"/>
          </a:ln>
        </p:spPr>
      </p:sp>
      <p:sp>
        <p:nvSpPr>
          <p:cNvPr id="98" name="Shape 96"/>
          <p:cNvSpPr/>
          <p:nvPr/>
        </p:nvSpPr>
        <p:spPr>
          <a:xfrm>
            <a:off x="4599432" y="3785616"/>
            <a:ext cx="4270248" cy="219456"/>
          </a:xfrm>
          <a:prstGeom prst="rect">
            <a:avLst/>
          </a:prstGeom>
          <a:solidFill>
            <a:srgbClr val="134E8E"/>
          </a:solidFill>
          <a:ln w="12700">
            <a:solidFill>
              <a:srgbClr val="134E8E"/>
            </a:solidFill>
            <a:prstDash val="solid"/>
          </a:ln>
        </p:spPr>
      </p:sp>
      <p:sp>
        <p:nvSpPr>
          <p:cNvPr id="99" name="Text 97"/>
          <p:cNvSpPr/>
          <p:nvPr/>
        </p:nvSpPr>
        <p:spPr>
          <a:xfrm>
            <a:off x="4645152" y="3794760"/>
            <a:ext cx="4197096" cy="201168"/>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Sources de Financement</a:t>
            </a:r>
            <a:endParaRPr lang="en-US" sz="750" dirty="0"/>
          </a:p>
        </p:txBody>
      </p:sp>
      <p:sp>
        <p:nvSpPr>
          <p:cNvPr id="100" name="Text 98"/>
          <p:cNvSpPr/>
          <p:nvPr/>
        </p:nvSpPr>
        <p:spPr>
          <a:xfrm>
            <a:off x="4654296" y="4005072"/>
            <a:ext cx="4178808" cy="117566"/>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Dotations État français (budget APD)</a:t>
            </a:r>
            <a:endParaRPr lang="en-US" sz="700" dirty="0"/>
          </a:p>
        </p:txBody>
      </p:sp>
      <p:sp>
        <p:nvSpPr>
          <p:cNvPr id="101" name="Text 99"/>
          <p:cNvSpPr/>
          <p:nvPr/>
        </p:nvSpPr>
        <p:spPr>
          <a:xfrm>
            <a:off x="4654296" y="4122638"/>
            <a:ext cx="4178808" cy="117566"/>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Remboursements de prêts (85% de l'activité)</a:t>
            </a:r>
            <a:endParaRPr lang="en-US" sz="700" dirty="0"/>
          </a:p>
        </p:txBody>
      </p:sp>
      <p:sp>
        <p:nvSpPr>
          <p:cNvPr id="102" name="Text 100"/>
          <p:cNvSpPr/>
          <p:nvPr/>
        </p:nvSpPr>
        <p:spPr>
          <a:xfrm>
            <a:off x="4654296" y="4240203"/>
            <a:ext cx="4178808" cy="117566"/>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Emprunts sur les marchés financiers</a:t>
            </a:r>
            <a:endParaRPr lang="en-US" sz="700" dirty="0"/>
          </a:p>
        </p:txBody>
      </p:sp>
      <p:sp>
        <p:nvSpPr>
          <p:cNvPr id="103" name="Text 101"/>
          <p:cNvSpPr/>
          <p:nvPr/>
        </p:nvSpPr>
        <p:spPr>
          <a:xfrm>
            <a:off x="4654296" y="4357769"/>
            <a:ext cx="4178808" cy="117566"/>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Fonds délégués UE &amp; autres bailleurs</a:t>
            </a:r>
            <a:endParaRPr lang="en-US" sz="700" dirty="0"/>
          </a:p>
        </p:txBody>
      </p:sp>
      <p:sp>
        <p:nvSpPr>
          <p:cNvPr id="104" name="Text 102"/>
          <p:cNvSpPr/>
          <p:nvPr/>
        </p:nvSpPr>
        <p:spPr>
          <a:xfrm>
            <a:off x="4654296" y="4475335"/>
            <a:ext cx="4178808" cy="117566"/>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Revenus Proparco (secteur privé : 3,2 Md€)</a:t>
            </a:r>
            <a:endParaRPr lang="en-US" sz="700" dirty="0"/>
          </a:p>
        </p:txBody>
      </p:sp>
      <p:sp>
        <p:nvSpPr>
          <p:cNvPr id="105" name="Text 103"/>
          <p:cNvSpPr/>
          <p:nvPr/>
        </p:nvSpPr>
        <p:spPr>
          <a:xfrm>
            <a:off x="4654296" y="4592901"/>
            <a:ext cx="4178808" cy="117566"/>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Revenus Expertise France (565 M€)</a:t>
            </a:r>
            <a:endParaRPr lang="en-US" sz="700" dirty="0"/>
          </a:p>
        </p:txBody>
      </p:sp>
      <p:sp>
        <p:nvSpPr>
          <p:cNvPr id="106" name="Text 104"/>
          <p:cNvSpPr/>
          <p:nvPr/>
        </p:nvSpPr>
        <p:spPr>
          <a:xfrm>
            <a:off x="4654296" y="4710466"/>
            <a:ext cx="4178808" cy="117566"/>
          </a:xfrm>
          <a:prstGeom prst="rect">
            <a:avLst/>
          </a:prstGeom>
          <a:noFill/>
          <a:ln/>
        </p:spPr>
        <p:txBody>
          <a:bodyPr wrap="square" lIns="0" tIns="0" rIns="0" bIns="0" rtlCol="0" anchor="t"/>
          <a:lstStyle/>
          <a:p>
            <a:pPr indent="0" marL="0">
              <a:lnSpc>
                <a:spcPct val="110000"/>
              </a:lnSpc>
              <a:buNone/>
            </a:pPr>
            <a:r>
              <a:rPr lang="en-US" sz="700" dirty="0">
                <a:solidFill>
                  <a:srgbClr val="1A2E4A"/>
                </a:solidFill>
                <a:latin typeface="Calibri" pitchFamily="34" charset="0"/>
                <a:ea typeface="Calibri" pitchFamily="34" charset="-122"/>
                <a:cs typeface="Calibri" pitchFamily="34" charset="-120"/>
              </a:rPr>
              <a:t>· Financements climatiques innovants (crédits carbone, obligations durables)</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0"/>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34E8E"/>
          </a:solidFill>
          <a:ln w="12700">
            <a:solidFill>
              <a:srgbClr val="134E8E"/>
            </a:solidFill>
            <a:prstDash val="solid"/>
          </a:ln>
        </p:spPr>
      </p:sp>
      <p:sp>
        <p:nvSpPr>
          <p:cNvPr id="3" name="Shape 1"/>
          <p:cNvSpPr/>
          <p:nvPr/>
        </p:nvSpPr>
        <p:spPr>
          <a:xfrm>
            <a:off x="0" y="0"/>
            <a:ext cx="137160" cy="960120"/>
          </a:xfrm>
          <a:prstGeom prst="rect">
            <a:avLst/>
          </a:prstGeom>
          <a:solidFill>
            <a:srgbClr val="C00707"/>
          </a:solidFill>
          <a:ln w="12700">
            <a:solidFill>
              <a:srgbClr val="C00707"/>
            </a:solidFill>
            <a:prstDash val="solid"/>
          </a:ln>
        </p:spPr>
      </p:sp>
      <p:sp>
        <p:nvSpPr>
          <p:cNvPr id="4" name="Text 2"/>
          <p:cNvSpPr/>
          <p:nvPr/>
        </p:nvSpPr>
        <p:spPr>
          <a:xfrm>
            <a:off x="320040" y="0"/>
            <a:ext cx="777240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02 — Personas</a:t>
            </a:r>
            <a:endParaRPr lang="en-US" sz="2200" dirty="0"/>
          </a:p>
        </p:txBody>
      </p:sp>
      <p:sp>
        <p:nvSpPr>
          <p:cNvPr id="5" name="Text 3"/>
          <p:cNvSpPr/>
          <p:nvPr/>
        </p:nvSpPr>
        <p:spPr>
          <a:xfrm>
            <a:off x="320040" y="594360"/>
            <a:ext cx="8503920" cy="320040"/>
          </a:xfrm>
          <a:prstGeom prst="rect">
            <a:avLst/>
          </a:prstGeom>
          <a:noFill/>
          <a:ln/>
        </p:spPr>
        <p:txBody>
          <a:bodyPr wrap="square" lIns="0" tIns="0" rIns="0" bIns="0" rtlCol="0" anchor="ctr"/>
          <a:lstStyle/>
          <a:p>
            <a:pPr indent="0" marL="0">
              <a:buNone/>
            </a:pPr>
            <a:r>
              <a:rPr lang="en-US" sz="1050" i="1" dirty="0">
                <a:solidFill>
                  <a:srgbClr val="8AAFC8"/>
                </a:solidFill>
                <a:latin typeface="Calibri" pitchFamily="34" charset="0"/>
                <a:ea typeface="Calibri" pitchFamily="34" charset="-122"/>
                <a:cs typeface="Calibri" pitchFamily="34" charset="-120"/>
              </a:rPr>
              <a:t>3 profils utilisateurs cibles — Application Data APD · DPM Project 2025</a:t>
            </a:r>
            <a:endParaRPr lang="en-US" sz="1050" dirty="0"/>
          </a:p>
        </p:txBody>
      </p:sp>
      <p:sp>
        <p:nvSpPr>
          <p:cNvPr id="6" name="Shape 4"/>
          <p:cNvSpPr/>
          <p:nvPr/>
        </p:nvSpPr>
        <p:spPr>
          <a:xfrm>
            <a:off x="0" y="4956048"/>
            <a:ext cx="9144000" cy="182880"/>
          </a:xfrm>
          <a:prstGeom prst="rect">
            <a:avLst/>
          </a:prstGeom>
          <a:solidFill>
            <a:srgbClr val="134E8E"/>
          </a:solidFill>
          <a:ln w="12700">
            <a:solidFill>
              <a:srgbClr val="134E8E"/>
            </a:solidFill>
            <a:prstDash val="solid"/>
          </a:ln>
        </p:spPr>
      </p:sp>
      <p:sp>
        <p:nvSpPr>
          <p:cNvPr id="7" name="Text 5"/>
          <p:cNvSpPr/>
          <p:nvPr/>
        </p:nvSpPr>
        <p:spPr>
          <a:xfrm>
            <a:off x="182880" y="4919472"/>
            <a:ext cx="8778240" cy="219456"/>
          </a:xfrm>
          <a:prstGeom prst="rect">
            <a:avLst/>
          </a:prstGeom>
          <a:noFill/>
          <a:ln/>
        </p:spPr>
        <p:txBody>
          <a:bodyPr wrap="square" lIns="0" tIns="0" rIns="0" bIns="0" rtlCol="0" anchor="ctr"/>
          <a:lstStyle/>
          <a:p>
            <a:pPr algn="r" indent="0" marL="0">
              <a:buNone/>
            </a:pPr>
            <a:r>
              <a:rPr lang="en-US" sz="850" dirty="0">
                <a:solidFill>
                  <a:srgbClr val="FFFFFF"/>
                </a:solidFill>
                <a:latin typeface="Calibri" pitchFamily="34" charset="0"/>
                <a:ea typeface="Calibri" pitchFamily="34" charset="-122"/>
                <a:cs typeface="Calibri" pitchFamily="34" charset="-120"/>
              </a:rPr>
              <a:t>Application Data APD  ·  AFD  ·  DPM Project 2025</a:t>
            </a:r>
            <a:endParaRPr lang="en-US" sz="850" dirty="0"/>
          </a:p>
        </p:txBody>
      </p:sp>
      <p:sp>
        <p:nvSpPr>
          <p:cNvPr id="8" name="Shape 6"/>
          <p:cNvSpPr/>
          <p:nvPr/>
        </p:nvSpPr>
        <p:spPr>
          <a:xfrm>
            <a:off x="256032" y="1115568"/>
            <a:ext cx="2788920" cy="370332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256032" y="1115568"/>
            <a:ext cx="2788920" cy="822960"/>
          </a:xfrm>
          <a:prstGeom prst="rect">
            <a:avLst/>
          </a:prstGeom>
          <a:solidFill>
            <a:srgbClr val="134E8E"/>
          </a:solidFill>
          <a:ln w="12700">
            <a:solidFill>
              <a:srgbClr val="134E8E"/>
            </a:solidFill>
            <a:prstDash val="solid"/>
          </a:ln>
        </p:spPr>
      </p:sp>
      <p:sp>
        <p:nvSpPr>
          <p:cNvPr id="10" name="Shape 8"/>
          <p:cNvSpPr/>
          <p:nvPr/>
        </p:nvSpPr>
        <p:spPr>
          <a:xfrm>
            <a:off x="374904" y="1216152"/>
            <a:ext cx="621792" cy="621792"/>
          </a:xfrm>
          <a:prstGeom prst="ellipse">
            <a:avLst/>
          </a:prstGeom>
          <a:solidFill>
            <a:srgbClr val="FFFFFF"/>
          </a:solidFill>
          <a:ln w="12700">
            <a:solidFill>
              <a:srgbClr val="FFFFFF"/>
            </a:solidFill>
            <a:prstDash val="solid"/>
          </a:ln>
        </p:spPr>
      </p:sp>
      <p:sp>
        <p:nvSpPr>
          <p:cNvPr id="11" name="Text 9"/>
          <p:cNvSpPr/>
          <p:nvPr/>
        </p:nvSpPr>
        <p:spPr>
          <a:xfrm>
            <a:off x="374904" y="1216152"/>
            <a:ext cx="621792" cy="621792"/>
          </a:xfrm>
          <a:prstGeom prst="rect">
            <a:avLst/>
          </a:prstGeom>
          <a:noFill/>
          <a:ln/>
        </p:spPr>
        <p:txBody>
          <a:bodyPr wrap="square" lIns="0" tIns="0" rIns="0" bIns="0" rtlCol="0" anchor="ctr"/>
          <a:lstStyle/>
          <a:p>
            <a:pPr algn="ctr" indent="0" marL="0">
              <a:buNone/>
            </a:pPr>
            <a:r>
              <a:rPr lang="en-US" sz="1600" b="1" dirty="0">
                <a:solidFill>
                  <a:srgbClr val="134E8E"/>
                </a:solidFill>
                <a:latin typeface="Georgia" pitchFamily="34" charset="0"/>
                <a:ea typeface="Georgia" pitchFamily="34" charset="-122"/>
                <a:cs typeface="Georgia" pitchFamily="34" charset="-120"/>
              </a:rPr>
              <a:t>SM</a:t>
            </a:r>
            <a:endParaRPr lang="en-US" sz="1600" dirty="0"/>
          </a:p>
        </p:txBody>
      </p:sp>
      <p:sp>
        <p:nvSpPr>
          <p:cNvPr id="12" name="Text 10"/>
          <p:cNvSpPr/>
          <p:nvPr/>
        </p:nvSpPr>
        <p:spPr>
          <a:xfrm>
            <a:off x="1088136" y="1207008"/>
            <a:ext cx="1856232"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Sophie Martin</a:t>
            </a:r>
            <a:endParaRPr lang="en-US" sz="1100" dirty="0"/>
          </a:p>
        </p:txBody>
      </p:sp>
      <p:sp>
        <p:nvSpPr>
          <p:cNvPr id="13" name="Text 11"/>
          <p:cNvSpPr/>
          <p:nvPr/>
        </p:nvSpPr>
        <p:spPr>
          <a:xfrm>
            <a:off x="1088136" y="1426464"/>
            <a:ext cx="1856232" cy="182880"/>
          </a:xfrm>
          <a:prstGeom prst="rect">
            <a:avLst/>
          </a:prstGeom>
          <a:noFill/>
          <a:ln/>
        </p:spPr>
        <p:txBody>
          <a:bodyPr wrap="square" lIns="0" tIns="0" rIns="0" bIns="0" rtlCol="0" anchor="ctr"/>
          <a:lstStyle/>
          <a:p>
            <a:pPr indent="0" marL="0">
              <a:buNone/>
            </a:pPr>
            <a:r>
              <a:rPr lang="en-US" sz="850" i="1" dirty="0">
                <a:solidFill>
                  <a:srgbClr val="C8DCEC"/>
                </a:solidFill>
                <a:latin typeface="Calibri" pitchFamily="34" charset="0"/>
                <a:ea typeface="Calibri" pitchFamily="34" charset="-122"/>
                <a:cs typeface="Calibri" pitchFamily="34" charset="-120"/>
              </a:rPr>
              <a:t>Responsable de Programme</a:t>
            </a:r>
            <a:endParaRPr lang="en-US" sz="850" dirty="0"/>
          </a:p>
        </p:txBody>
      </p:sp>
      <p:sp>
        <p:nvSpPr>
          <p:cNvPr id="14" name="Text 12"/>
          <p:cNvSpPr/>
          <p:nvPr/>
        </p:nvSpPr>
        <p:spPr>
          <a:xfrm>
            <a:off x="1088136" y="1600200"/>
            <a:ext cx="1856232" cy="164592"/>
          </a:xfrm>
          <a:prstGeom prst="rect">
            <a:avLst/>
          </a:prstGeom>
          <a:noFill/>
          <a:ln/>
        </p:spPr>
        <p:txBody>
          <a:bodyPr wrap="square" lIns="0" tIns="0" rIns="0" bIns="0" rtlCol="0" anchor="ctr"/>
          <a:lstStyle/>
          <a:p>
            <a:pPr indent="0" marL="0">
              <a:buNone/>
            </a:pPr>
            <a:r>
              <a:rPr lang="en-US" sz="750" dirty="0">
                <a:solidFill>
                  <a:srgbClr val="C8DCEC"/>
                </a:solidFill>
                <a:latin typeface="Calibri" pitchFamily="34" charset="0"/>
                <a:ea typeface="Calibri" pitchFamily="34" charset="-122"/>
                <a:cs typeface="Calibri" pitchFamily="34" charset="-120"/>
              </a:rPr>
              <a:t>AFD – Agence Française de Développement</a:t>
            </a:r>
            <a:endParaRPr lang="en-US" sz="750" dirty="0"/>
          </a:p>
        </p:txBody>
      </p:sp>
      <p:sp>
        <p:nvSpPr>
          <p:cNvPr id="15" name="Text 13"/>
          <p:cNvSpPr/>
          <p:nvPr/>
        </p:nvSpPr>
        <p:spPr>
          <a:xfrm>
            <a:off x="365760" y="1792224"/>
            <a:ext cx="2606040" cy="137160"/>
          </a:xfrm>
          <a:prstGeom prst="rect">
            <a:avLst/>
          </a:prstGeom>
          <a:noFill/>
          <a:ln/>
        </p:spPr>
        <p:txBody>
          <a:bodyPr wrap="square" lIns="0" tIns="0" rIns="0" bIns="0" rtlCol="0" anchor="ctr"/>
          <a:lstStyle/>
          <a:p>
            <a:pPr indent="0" marL="0">
              <a:buNone/>
            </a:pPr>
            <a:r>
              <a:rPr lang="en-US" sz="650" dirty="0">
                <a:solidFill>
                  <a:srgbClr val="C8DCEC"/>
                </a:solidFill>
                <a:latin typeface="Calibri" pitchFamily="34" charset="0"/>
                <a:ea typeface="Calibri" pitchFamily="34" charset="-122"/>
                <a:cs typeface="Calibri" pitchFamily="34" charset="-120"/>
              </a:rPr>
              <a:t>38 ans · Paris · 12 ans d'exp. · Master Économie du Développement</a:t>
            </a:r>
            <a:endParaRPr lang="en-US" sz="650" dirty="0"/>
          </a:p>
        </p:txBody>
      </p:sp>
      <p:sp>
        <p:nvSpPr>
          <p:cNvPr id="16" name="Shape 14"/>
          <p:cNvSpPr/>
          <p:nvPr/>
        </p:nvSpPr>
        <p:spPr>
          <a:xfrm>
            <a:off x="256032" y="1938528"/>
            <a:ext cx="2788920" cy="384048"/>
          </a:xfrm>
          <a:prstGeom prst="rect">
            <a:avLst/>
          </a:prstGeom>
          <a:solidFill>
            <a:srgbClr val="EEF4FA"/>
          </a:solidFill>
          <a:ln w="12700">
            <a:solidFill>
              <a:srgbClr val="DDE6F0"/>
            </a:solidFill>
            <a:prstDash val="solid"/>
          </a:ln>
        </p:spPr>
      </p:sp>
      <p:sp>
        <p:nvSpPr>
          <p:cNvPr id="17" name="Text 15"/>
          <p:cNvSpPr/>
          <p:nvPr/>
        </p:nvSpPr>
        <p:spPr>
          <a:xfrm>
            <a:off x="365760" y="1965960"/>
            <a:ext cx="2606040" cy="338328"/>
          </a:xfrm>
          <a:prstGeom prst="rect">
            <a:avLst/>
          </a:prstGeom>
          <a:noFill/>
          <a:ln/>
        </p:spPr>
        <p:txBody>
          <a:bodyPr wrap="square" lIns="0" tIns="0" rIns="0" bIns="0" rtlCol="0" anchor="ctr"/>
          <a:lstStyle/>
          <a:p>
            <a:pPr indent="0" marL="0">
              <a:lnSpc>
                <a:spcPct val="125000"/>
              </a:lnSpc>
              <a:buNone/>
            </a:pPr>
            <a:r>
              <a:rPr lang="en-US" sz="700" i="1" dirty="0">
                <a:solidFill>
                  <a:srgbClr val="134E8E"/>
                </a:solidFill>
                <a:latin typeface="Georgia" pitchFamily="34" charset="0"/>
                <a:ea typeface="Georgia" pitchFamily="34" charset="-122"/>
                <a:cs typeface="Georgia" pitchFamily="34" charset="-120"/>
              </a:rPr>
              <a:t>« J'ai besoin de données fiables pour orienter nos engagements et anticiper les priorités de demain. »</a:t>
            </a:r>
            <a:endParaRPr lang="en-US" sz="700" dirty="0"/>
          </a:p>
        </p:txBody>
      </p:sp>
      <p:sp>
        <p:nvSpPr>
          <p:cNvPr id="18" name="Shape 16"/>
          <p:cNvSpPr/>
          <p:nvPr/>
        </p:nvSpPr>
        <p:spPr>
          <a:xfrm>
            <a:off x="256032" y="2322576"/>
            <a:ext cx="64008" cy="146304"/>
          </a:xfrm>
          <a:prstGeom prst="rect">
            <a:avLst/>
          </a:prstGeom>
          <a:solidFill>
            <a:srgbClr val="134E8E"/>
          </a:solidFill>
          <a:ln w="12700">
            <a:solidFill>
              <a:srgbClr val="134E8E"/>
            </a:solidFill>
            <a:prstDash val="solid"/>
          </a:ln>
        </p:spPr>
      </p:sp>
      <p:sp>
        <p:nvSpPr>
          <p:cNvPr id="19" name="Text 17"/>
          <p:cNvSpPr/>
          <p:nvPr/>
        </p:nvSpPr>
        <p:spPr>
          <a:xfrm>
            <a:off x="347472" y="2331720"/>
            <a:ext cx="2660904" cy="128016"/>
          </a:xfrm>
          <a:prstGeom prst="rect">
            <a:avLst/>
          </a:prstGeom>
          <a:noFill/>
          <a:ln/>
        </p:spPr>
        <p:txBody>
          <a:bodyPr wrap="square" lIns="0" tIns="0" rIns="0" bIns="0" rtlCol="0" anchor="ctr"/>
          <a:lstStyle/>
          <a:p>
            <a:pPr indent="0" marL="0">
              <a:buNone/>
            </a:pPr>
            <a:r>
              <a:rPr lang="en-US" sz="650" b="1" spc="50" kern="0" dirty="0">
                <a:solidFill>
                  <a:srgbClr val="134E8E"/>
                </a:solidFill>
                <a:latin typeface="Calibri" pitchFamily="34" charset="0"/>
                <a:ea typeface="Calibri" pitchFamily="34" charset="-122"/>
                <a:cs typeface="Calibri" pitchFamily="34" charset="-120"/>
              </a:rPr>
              <a:t>OBJECTIFS</a:t>
            </a:r>
            <a:endParaRPr lang="en-US" sz="650" dirty="0"/>
          </a:p>
        </p:txBody>
      </p:sp>
      <p:sp>
        <p:nvSpPr>
          <p:cNvPr id="20" name="Text 18"/>
          <p:cNvSpPr/>
          <p:nvPr/>
        </p:nvSpPr>
        <p:spPr>
          <a:xfrm>
            <a:off x="384048" y="2468880"/>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Visualiser les montants alloués par pays et par secteur</a:t>
            </a:r>
            <a:endParaRPr lang="en-US" sz="700" dirty="0"/>
          </a:p>
        </p:txBody>
      </p:sp>
      <p:sp>
        <p:nvSpPr>
          <p:cNvPr id="21" name="Text 19"/>
          <p:cNvSpPr/>
          <p:nvPr/>
        </p:nvSpPr>
        <p:spPr>
          <a:xfrm>
            <a:off x="384048" y="2592324"/>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Identifier les tendances d'engagement sur 5–10 ans</a:t>
            </a:r>
            <a:endParaRPr lang="en-US" sz="700" dirty="0"/>
          </a:p>
        </p:txBody>
      </p:sp>
      <p:sp>
        <p:nvSpPr>
          <p:cNvPr id="22" name="Text 20"/>
          <p:cNvSpPr/>
          <p:nvPr/>
        </p:nvSpPr>
        <p:spPr>
          <a:xfrm>
            <a:off x="384048" y="2715768"/>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Anticiper les besoins futurs et ajuster les priorités stratégiques</a:t>
            </a:r>
            <a:endParaRPr lang="en-US" sz="700" dirty="0"/>
          </a:p>
        </p:txBody>
      </p:sp>
      <p:sp>
        <p:nvSpPr>
          <p:cNvPr id="23" name="Text 21"/>
          <p:cNvSpPr/>
          <p:nvPr/>
        </p:nvSpPr>
        <p:spPr>
          <a:xfrm>
            <a:off x="384048" y="2839212"/>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Comparer les allocations avec d'autres agences de développement</a:t>
            </a:r>
            <a:endParaRPr lang="en-US" sz="700" dirty="0"/>
          </a:p>
        </p:txBody>
      </p:sp>
      <p:sp>
        <p:nvSpPr>
          <p:cNvPr id="24" name="Text 22"/>
          <p:cNvSpPr/>
          <p:nvPr/>
        </p:nvSpPr>
        <p:spPr>
          <a:xfrm>
            <a:off x="384048" y="2962656"/>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Générer des rapports de suivi exploitables pour la direction</a:t>
            </a:r>
            <a:endParaRPr lang="en-US" sz="700" dirty="0"/>
          </a:p>
        </p:txBody>
      </p:sp>
      <p:sp>
        <p:nvSpPr>
          <p:cNvPr id="25" name="Shape 23"/>
          <p:cNvSpPr/>
          <p:nvPr/>
        </p:nvSpPr>
        <p:spPr>
          <a:xfrm>
            <a:off x="256032" y="3086100"/>
            <a:ext cx="64008" cy="146304"/>
          </a:xfrm>
          <a:prstGeom prst="rect">
            <a:avLst/>
          </a:prstGeom>
          <a:solidFill>
            <a:srgbClr val="C00707"/>
          </a:solidFill>
          <a:ln w="12700">
            <a:solidFill>
              <a:srgbClr val="C00707"/>
            </a:solidFill>
            <a:prstDash val="solid"/>
          </a:ln>
        </p:spPr>
      </p:sp>
      <p:sp>
        <p:nvSpPr>
          <p:cNvPr id="26" name="Text 24"/>
          <p:cNvSpPr/>
          <p:nvPr/>
        </p:nvSpPr>
        <p:spPr>
          <a:xfrm>
            <a:off x="347472" y="3095244"/>
            <a:ext cx="2660904" cy="128016"/>
          </a:xfrm>
          <a:prstGeom prst="rect">
            <a:avLst/>
          </a:prstGeom>
          <a:noFill/>
          <a:ln/>
        </p:spPr>
        <p:txBody>
          <a:bodyPr wrap="square" lIns="0" tIns="0" rIns="0" bIns="0" rtlCol="0" anchor="ctr"/>
          <a:lstStyle/>
          <a:p>
            <a:pPr indent="0" marL="0">
              <a:buNone/>
            </a:pPr>
            <a:r>
              <a:rPr lang="en-US" sz="650" b="1" spc="50" kern="0" dirty="0">
                <a:solidFill>
                  <a:srgbClr val="C00707"/>
                </a:solidFill>
                <a:latin typeface="Calibri" pitchFamily="34" charset="0"/>
                <a:ea typeface="Calibri" pitchFamily="34" charset="-122"/>
                <a:cs typeface="Calibri" pitchFamily="34" charset="-120"/>
              </a:rPr>
              <a:t>POINTS DE FRICTION</a:t>
            </a:r>
            <a:endParaRPr lang="en-US" sz="650" dirty="0"/>
          </a:p>
        </p:txBody>
      </p:sp>
      <p:sp>
        <p:nvSpPr>
          <p:cNvPr id="27" name="Text 25"/>
          <p:cNvSpPr/>
          <p:nvPr/>
        </p:nvSpPr>
        <p:spPr>
          <a:xfrm>
            <a:off x="384048" y="3232404"/>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Données éparpillées dans de multiples fichiers Excel</a:t>
            </a:r>
            <a:endParaRPr lang="en-US" sz="700" dirty="0"/>
          </a:p>
        </p:txBody>
      </p:sp>
      <p:sp>
        <p:nvSpPr>
          <p:cNvPr id="28" name="Text 26"/>
          <p:cNvSpPr/>
          <p:nvPr/>
        </p:nvSpPr>
        <p:spPr>
          <a:xfrm>
            <a:off x="384048" y="3355848"/>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Manque de visualisation claire des tendances historiques</a:t>
            </a:r>
            <a:endParaRPr lang="en-US" sz="700" dirty="0"/>
          </a:p>
        </p:txBody>
      </p:sp>
      <p:sp>
        <p:nvSpPr>
          <p:cNvPr id="29" name="Text 27"/>
          <p:cNvSpPr/>
          <p:nvPr/>
        </p:nvSpPr>
        <p:spPr>
          <a:xfrm>
            <a:off x="384048" y="3479292"/>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Longue durée de préparation des rapports de synthèse</a:t>
            </a:r>
            <a:endParaRPr lang="en-US" sz="700" dirty="0"/>
          </a:p>
        </p:txBody>
      </p:sp>
      <p:sp>
        <p:nvSpPr>
          <p:cNvPr id="30" name="Text 28"/>
          <p:cNvSpPr/>
          <p:nvPr/>
        </p:nvSpPr>
        <p:spPr>
          <a:xfrm>
            <a:off x="384048" y="3602736"/>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Impossibilité d'anticiper facilement les flux futurs</a:t>
            </a:r>
            <a:endParaRPr lang="en-US" sz="700" dirty="0"/>
          </a:p>
        </p:txBody>
      </p:sp>
      <p:sp>
        <p:nvSpPr>
          <p:cNvPr id="31" name="Shape 29"/>
          <p:cNvSpPr/>
          <p:nvPr/>
        </p:nvSpPr>
        <p:spPr>
          <a:xfrm>
            <a:off x="256032" y="3726180"/>
            <a:ext cx="64008" cy="146304"/>
          </a:xfrm>
          <a:prstGeom prst="rect">
            <a:avLst/>
          </a:prstGeom>
          <a:solidFill>
            <a:srgbClr val="134E8E"/>
          </a:solidFill>
          <a:ln w="12700">
            <a:solidFill>
              <a:srgbClr val="134E8E"/>
            </a:solidFill>
            <a:prstDash val="solid"/>
          </a:ln>
        </p:spPr>
      </p:sp>
      <p:sp>
        <p:nvSpPr>
          <p:cNvPr id="32" name="Text 30"/>
          <p:cNvSpPr/>
          <p:nvPr/>
        </p:nvSpPr>
        <p:spPr>
          <a:xfrm>
            <a:off x="347472" y="3735324"/>
            <a:ext cx="2660904" cy="128016"/>
          </a:xfrm>
          <a:prstGeom prst="rect">
            <a:avLst/>
          </a:prstGeom>
          <a:noFill/>
          <a:ln/>
        </p:spPr>
        <p:txBody>
          <a:bodyPr wrap="square" lIns="0" tIns="0" rIns="0" bIns="0" rtlCol="0" anchor="ctr"/>
          <a:lstStyle/>
          <a:p>
            <a:pPr indent="0" marL="0">
              <a:buNone/>
            </a:pPr>
            <a:r>
              <a:rPr lang="en-US" sz="650" b="1" spc="50" kern="0" dirty="0">
                <a:solidFill>
                  <a:srgbClr val="134E8E"/>
                </a:solidFill>
                <a:latin typeface="Calibri" pitchFamily="34" charset="0"/>
                <a:ea typeface="Calibri" pitchFamily="34" charset="-122"/>
                <a:cs typeface="Calibri" pitchFamily="34" charset="-120"/>
              </a:rPr>
              <a:t>BESOINS</a:t>
            </a:r>
            <a:endParaRPr lang="en-US" sz="650" dirty="0"/>
          </a:p>
        </p:txBody>
      </p:sp>
      <p:sp>
        <p:nvSpPr>
          <p:cNvPr id="33" name="Text 31"/>
          <p:cNvSpPr/>
          <p:nvPr/>
        </p:nvSpPr>
        <p:spPr>
          <a:xfrm>
            <a:off x="384048" y="3872484"/>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Interface intuitive et visuelle</a:t>
            </a:r>
            <a:endParaRPr lang="en-US" sz="700" dirty="0"/>
          </a:p>
        </p:txBody>
      </p:sp>
      <p:sp>
        <p:nvSpPr>
          <p:cNvPr id="34" name="Text 32"/>
          <p:cNvSpPr/>
          <p:nvPr/>
        </p:nvSpPr>
        <p:spPr>
          <a:xfrm>
            <a:off x="384048" y="3995928"/>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Filtres par pays, secteur, type de financement</a:t>
            </a:r>
            <a:endParaRPr lang="en-US" sz="700" dirty="0"/>
          </a:p>
        </p:txBody>
      </p:sp>
      <p:sp>
        <p:nvSpPr>
          <p:cNvPr id="35" name="Text 33"/>
          <p:cNvSpPr/>
          <p:nvPr/>
        </p:nvSpPr>
        <p:spPr>
          <a:xfrm>
            <a:off x="384048" y="4119372"/>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Prévisions et tendances claires</a:t>
            </a:r>
            <a:endParaRPr lang="en-US" sz="700" dirty="0"/>
          </a:p>
        </p:txBody>
      </p:sp>
      <p:sp>
        <p:nvSpPr>
          <p:cNvPr id="36" name="Text 34"/>
          <p:cNvSpPr/>
          <p:nvPr/>
        </p:nvSpPr>
        <p:spPr>
          <a:xfrm>
            <a:off x="384048" y="4242816"/>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Export de rapports en 1 clic</a:t>
            </a:r>
            <a:endParaRPr lang="en-US" sz="700" dirty="0"/>
          </a:p>
        </p:txBody>
      </p:sp>
      <p:sp>
        <p:nvSpPr>
          <p:cNvPr id="37" name="Shape 35"/>
          <p:cNvSpPr/>
          <p:nvPr/>
        </p:nvSpPr>
        <p:spPr>
          <a:xfrm>
            <a:off x="256032" y="4366260"/>
            <a:ext cx="64008" cy="146304"/>
          </a:xfrm>
          <a:prstGeom prst="rect">
            <a:avLst/>
          </a:prstGeom>
          <a:solidFill>
            <a:srgbClr val="6B7A8D"/>
          </a:solidFill>
          <a:ln w="12700">
            <a:solidFill>
              <a:srgbClr val="6B7A8D"/>
            </a:solidFill>
            <a:prstDash val="solid"/>
          </a:ln>
        </p:spPr>
      </p:sp>
      <p:sp>
        <p:nvSpPr>
          <p:cNvPr id="38" name="Text 36"/>
          <p:cNvSpPr/>
          <p:nvPr/>
        </p:nvSpPr>
        <p:spPr>
          <a:xfrm>
            <a:off x="347472" y="4375404"/>
            <a:ext cx="2660904" cy="128016"/>
          </a:xfrm>
          <a:prstGeom prst="rect">
            <a:avLst/>
          </a:prstGeom>
          <a:noFill/>
          <a:ln/>
        </p:spPr>
        <p:txBody>
          <a:bodyPr wrap="square" lIns="0" tIns="0" rIns="0" bIns="0" rtlCol="0" anchor="ctr"/>
          <a:lstStyle/>
          <a:p>
            <a:pPr indent="0" marL="0">
              <a:buNone/>
            </a:pPr>
            <a:r>
              <a:rPr lang="en-US" sz="650" b="1" spc="50" kern="0" dirty="0">
                <a:solidFill>
                  <a:srgbClr val="6B7A8D"/>
                </a:solidFill>
                <a:latin typeface="Calibri" pitchFamily="34" charset="0"/>
                <a:ea typeface="Calibri" pitchFamily="34" charset="-122"/>
                <a:cs typeface="Calibri" pitchFamily="34" charset="-120"/>
              </a:rPr>
              <a:t>USAGE &amp; OUTILS</a:t>
            </a:r>
            <a:endParaRPr lang="en-US" sz="650" dirty="0"/>
          </a:p>
        </p:txBody>
      </p:sp>
      <p:sp>
        <p:nvSpPr>
          <p:cNvPr id="39" name="Text 37"/>
          <p:cNvSpPr/>
          <p:nvPr/>
        </p:nvSpPr>
        <p:spPr>
          <a:xfrm>
            <a:off x="384048" y="4512564"/>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Quotidienne · PC Windows + Mobile</a:t>
            </a:r>
            <a:endParaRPr lang="en-US" sz="700" dirty="0"/>
          </a:p>
        </p:txBody>
      </p:sp>
      <p:sp>
        <p:nvSpPr>
          <p:cNvPr id="40" name="Text 38"/>
          <p:cNvSpPr/>
          <p:nvPr/>
        </p:nvSpPr>
        <p:spPr>
          <a:xfrm>
            <a:off x="384048" y="4636008"/>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Excel / Power BI · Tableau de bord AFD interne</a:t>
            </a:r>
            <a:endParaRPr lang="en-US" sz="700" dirty="0"/>
          </a:p>
        </p:txBody>
      </p:sp>
      <p:sp>
        <p:nvSpPr>
          <p:cNvPr id="41" name="Text 39"/>
          <p:cNvSpPr/>
          <p:nvPr/>
        </p:nvSpPr>
        <p:spPr>
          <a:xfrm>
            <a:off x="365760" y="4759452"/>
            <a:ext cx="2624328" cy="123444"/>
          </a:xfrm>
          <a:prstGeom prst="rect">
            <a:avLst/>
          </a:prstGeom>
          <a:noFill/>
          <a:ln/>
        </p:spPr>
        <p:txBody>
          <a:bodyPr wrap="square" lIns="0" tIns="0" rIns="0" bIns="0" rtlCol="0" anchor="t"/>
          <a:lstStyle/>
          <a:p>
            <a:pPr indent="0" marL="0">
              <a:buNone/>
            </a:pPr>
            <a:r>
              <a:rPr lang="en-US" sz="600" i="1" dirty="0">
                <a:solidFill>
                  <a:srgbClr val="6B7A8D"/>
                </a:solidFill>
                <a:latin typeface="Calibri" pitchFamily="34" charset="0"/>
                <a:ea typeface="Calibri" pitchFamily="34" charset="-122"/>
                <a:cs typeface="Calibri" pitchFamily="34" charset="-120"/>
              </a:rPr>
              <a:t>Suivi projets · Reporting · Analyse APD · Stratégie · Prévision</a:t>
            </a:r>
            <a:endParaRPr lang="en-US" sz="600" dirty="0"/>
          </a:p>
        </p:txBody>
      </p:sp>
      <p:sp>
        <p:nvSpPr>
          <p:cNvPr id="42" name="Shape 40"/>
          <p:cNvSpPr/>
          <p:nvPr/>
        </p:nvSpPr>
        <p:spPr>
          <a:xfrm>
            <a:off x="3209544" y="1115568"/>
            <a:ext cx="2788920" cy="370332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43" name="Shape 41"/>
          <p:cNvSpPr/>
          <p:nvPr/>
        </p:nvSpPr>
        <p:spPr>
          <a:xfrm>
            <a:off x="3209544" y="1115568"/>
            <a:ext cx="2788920" cy="822960"/>
          </a:xfrm>
          <a:prstGeom prst="rect">
            <a:avLst/>
          </a:prstGeom>
          <a:solidFill>
            <a:srgbClr val="C00707"/>
          </a:solidFill>
          <a:ln w="12700">
            <a:solidFill>
              <a:srgbClr val="C00707"/>
            </a:solidFill>
            <a:prstDash val="solid"/>
          </a:ln>
        </p:spPr>
      </p:sp>
      <p:sp>
        <p:nvSpPr>
          <p:cNvPr id="44" name="Shape 42"/>
          <p:cNvSpPr/>
          <p:nvPr/>
        </p:nvSpPr>
        <p:spPr>
          <a:xfrm>
            <a:off x="3328416" y="1216152"/>
            <a:ext cx="621792" cy="621792"/>
          </a:xfrm>
          <a:prstGeom prst="ellipse">
            <a:avLst/>
          </a:prstGeom>
          <a:solidFill>
            <a:srgbClr val="FFFFFF"/>
          </a:solidFill>
          <a:ln w="12700">
            <a:solidFill>
              <a:srgbClr val="FFFFFF"/>
            </a:solidFill>
            <a:prstDash val="solid"/>
          </a:ln>
        </p:spPr>
      </p:sp>
      <p:sp>
        <p:nvSpPr>
          <p:cNvPr id="45" name="Text 43"/>
          <p:cNvSpPr/>
          <p:nvPr/>
        </p:nvSpPr>
        <p:spPr>
          <a:xfrm>
            <a:off x="3328416" y="1216152"/>
            <a:ext cx="621792" cy="621792"/>
          </a:xfrm>
          <a:prstGeom prst="rect">
            <a:avLst/>
          </a:prstGeom>
          <a:noFill/>
          <a:ln/>
        </p:spPr>
        <p:txBody>
          <a:bodyPr wrap="square" lIns="0" tIns="0" rIns="0" bIns="0" rtlCol="0" anchor="ctr"/>
          <a:lstStyle/>
          <a:p>
            <a:pPr algn="ctr" indent="0" marL="0">
              <a:buNone/>
            </a:pPr>
            <a:r>
              <a:rPr lang="en-US" sz="1600" b="1" dirty="0">
                <a:solidFill>
                  <a:srgbClr val="C00707"/>
                </a:solidFill>
                <a:latin typeface="Georgia" pitchFamily="34" charset="0"/>
                <a:ea typeface="Georgia" pitchFamily="34" charset="-122"/>
                <a:cs typeface="Georgia" pitchFamily="34" charset="-120"/>
              </a:rPr>
              <a:t>AL</a:t>
            </a:r>
            <a:endParaRPr lang="en-US" sz="1600" dirty="0"/>
          </a:p>
        </p:txBody>
      </p:sp>
      <p:sp>
        <p:nvSpPr>
          <p:cNvPr id="46" name="Text 44"/>
          <p:cNvSpPr/>
          <p:nvPr/>
        </p:nvSpPr>
        <p:spPr>
          <a:xfrm>
            <a:off x="4041648" y="1207008"/>
            <a:ext cx="1856232"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Arnaud Lecomte</a:t>
            </a:r>
            <a:endParaRPr lang="en-US" sz="1100" dirty="0"/>
          </a:p>
        </p:txBody>
      </p:sp>
      <p:sp>
        <p:nvSpPr>
          <p:cNvPr id="47" name="Text 45"/>
          <p:cNvSpPr/>
          <p:nvPr/>
        </p:nvSpPr>
        <p:spPr>
          <a:xfrm>
            <a:off x="4041648" y="1426464"/>
            <a:ext cx="1856232" cy="182880"/>
          </a:xfrm>
          <a:prstGeom prst="rect">
            <a:avLst/>
          </a:prstGeom>
          <a:noFill/>
          <a:ln/>
        </p:spPr>
        <p:txBody>
          <a:bodyPr wrap="square" lIns="0" tIns="0" rIns="0" bIns="0" rtlCol="0" anchor="ctr"/>
          <a:lstStyle/>
          <a:p>
            <a:pPr indent="0" marL="0">
              <a:buNone/>
            </a:pPr>
            <a:r>
              <a:rPr lang="en-US" sz="850" i="1" dirty="0">
                <a:solidFill>
                  <a:srgbClr val="C8DCEC"/>
                </a:solidFill>
                <a:latin typeface="Calibri" pitchFamily="34" charset="0"/>
                <a:ea typeface="Calibri" pitchFamily="34" charset="-122"/>
                <a:cs typeface="Calibri" pitchFamily="34" charset="-120"/>
              </a:rPr>
              <a:t>Directeur de la coopération bilatérale</a:t>
            </a:r>
            <a:endParaRPr lang="en-US" sz="850" dirty="0"/>
          </a:p>
        </p:txBody>
      </p:sp>
      <p:sp>
        <p:nvSpPr>
          <p:cNvPr id="48" name="Text 46"/>
          <p:cNvSpPr/>
          <p:nvPr/>
        </p:nvSpPr>
        <p:spPr>
          <a:xfrm>
            <a:off x="4041648" y="1600200"/>
            <a:ext cx="1856232" cy="164592"/>
          </a:xfrm>
          <a:prstGeom prst="rect">
            <a:avLst/>
          </a:prstGeom>
          <a:noFill/>
          <a:ln/>
        </p:spPr>
        <p:txBody>
          <a:bodyPr wrap="square" lIns="0" tIns="0" rIns="0" bIns="0" rtlCol="0" anchor="ctr"/>
          <a:lstStyle/>
          <a:p>
            <a:pPr indent="0" marL="0">
              <a:buNone/>
            </a:pPr>
            <a:r>
              <a:rPr lang="en-US" sz="750" dirty="0">
                <a:solidFill>
                  <a:srgbClr val="C8DCEC"/>
                </a:solidFill>
                <a:latin typeface="Calibri" pitchFamily="34" charset="0"/>
                <a:ea typeface="Calibri" pitchFamily="34" charset="-122"/>
                <a:cs typeface="Calibri" pitchFamily="34" charset="-120"/>
              </a:rPr>
              <a:t>Ministère de l'Europe et des Affaires Étrangères</a:t>
            </a:r>
            <a:endParaRPr lang="en-US" sz="750" dirty="0"/>
          </a:p>
        </p:txBody>
      </p:sp>
      <p:sp>
        <p:nvSpPr>
          <p:cNvPr id="49" name="Text 47"/>
          <p:cNvSpPr/>
          <p:nvPr/>
        </p:nvSpPr>
        <p:spPr>
          <a:xfrm>
            <a:off x="3319272" y="1792224"/>
            <a:ext cx="2606040" cy="137160"/>
          </a:xfrm>
          <a:prstGeom prst="rect">
            <a:avLst/>
          </a:prstGeom>
          <a:noFill/>
          <a:ln/>
        </p:spPr>
        <p:txBody>
          <a:bodyPr wrap="square" lIns="0" tIns="0" rIns="0" bIns="0" rtlCol="0" anchor="ctr"/>
          <a:lstStyle/>
          <a:p>
            <a:pPr indent="0" marL="0">
              <a:buNone/>
            </a:pPr>
            <a:r>
              <a:rPr lang="en-US" sz="650" dirty="0">
                <a:solidFill>
                  <a:srgbClr val="C8DCEC"/>
                </a:solidFill>
                <a:latin typeface="Calibri" pitchFamily="34" charset="0"/>
                <a:ea typeface="Calibri" pitchFamily="34" charset="-122"/>
                <a:cs typeface="Calibri" pitchFamily="34" charset="-120"/>
              </a:rPr>
              <a:t>51 ans · Paris · 22 ans d'exp. · ENA – Sciences Po Paris</a:t>
            </a:r>
            <a:endParaRPr lang="en-US" sz="650" dirty="0"/>
          </a:p>
        </p:txBody>
      </p:sp>
      <p:sp>
        <p:nvSpPr>
          <p:cNvPr id="50" name="Shape 48"/>
          <p:cNvSpPr/>
          <p:nvPr/>
        </p:nvSpPr>
        <p:spPr>
          <a:xfrm>
            <a:off x="3209544" y="1938528"/>
            <a:ext cx="2788920" cy="384048"/>
          </a:xfrm>
          <a:prstGeom prst="rect">
            <a:avLst/>
          </a:prstGeom>
          <a:solidFill>
            <a:srgbClr val="EEF4FA"/>
          </a:solidFill>
          <a:ln w="12700">
            <a:solidFill>
              <a:srgbClr val="DDE6F0"/>
            </a:solidFill>
            <a:prstDash val="solid"/>
          </a:ln>
        </p:spPr>
      </p:sp>
      <p:sp>
        <p:nvSpPr>
          <p:cNvPr id="51" name="Text 49"/>
          <p:cNvSpPr/>
          <p:nvPr/>
        </p:nvSpPr>
        <p:spPr>
          <a:xfrm>
            <a:off x="3319272" y="1965960"/>
            <a:ext cx="2606040" cy="338328"/>
          </a:xfrm>
          <a:prstGeom prst="rect">
            <a:avLst/>
          </a:prstGeom>
          <a:noFill/>
          <a:ln/>
        </p:spPr>
        <p:txBody>
          <a:bodyPr wrap="square" lIns="0" tIns="0" rIns="0" bIns="0" rtlCol="0" anchor="ctr"/>
          <a:lstStyle/>
          <a:p>
            <a:pPr indent="0" marL="0">
              <a:lnSpc>
                <a:spcPct val="125000"/>
              </a:lnSpc>
              <a:buNone/>
            </a:pPr>
            <a:r>
              <a:rPr lang="en-US" sz="700" i="1" dirty="0">
                <a:solidFill>
                  <a:srgbClr val="C00707"/>
                </a:solidFill>
                <a:latin typeface="Georgia" pitchFamily="34" charset="0"/>
                <a:ea typeface="Georgia" pitchFamily="34" charset="-122"/>
                <a:cs typeface="Georgia" pitchFamily="34" charset="-120"/>
              </a:rPr>
              <a:t>« La France doit piloter ses engagements APD avec précision et crédibilité sur la scène internationale. »</a:t>
            </a:r>
            <a:endParaRPr lang="en-US" sz="700" dirty="0"/>
          </a:p>
        </p:txBody>
      </p:sp>
      <p:sp>
        <p:nvSpPr>
          <p:cNvPr id="52" name="Shape 50"/>
          <p:cNvSpPr/>
          <p:nvPr/>
        </p:nvSpPr>
        <p:spPr>
          <a:xfrm>
            <a:off x="3209544" y="2322576"/>
            <a:ext cx="64008" cy="146304"/>
          </a:xfrm>
          <a:prstGeom prst="rect">
            <a:avLst/>
          </a:prstGeom>
          <a:solidFill>
            <a:srgbClr val="134E8E"/>
          </a:solidFill>
          <a:ln w="12700">
            <a:solidFill>
              <a:srgbClr val="134E8E"/>
            </a:solidFill>
            <a:prstDash val="solid"/>
          </a:ln>
        </p:spPr>
      </p:sp>
      <p:sp>
        <p:nvSpPr>
          <p:cNvPr id="53" name="Text 51"/>
          <p:cNvSpPr/>
          <p:nvPr/>
        </p:nvSpPr>
        <p:spPr>
          <a:xfrm>
            <a:off x="3300984" y="2331720"/>
            <a:ext cx="2660904" cy="128016"/>
          </a:xfrm>
          <a:prstGeom prst="rect">
            <a:avLst/>
          </a:prstGeom>
          <a:noFill/>
          <a:ln/>
        </p:spPr>
        <p:txBody>
          <a:bodyPr wrap="square" lIns="0" tIns="0" rIns="0" bIns="0" rtlCol="0" anchor="ctr"/>
          <a:lstStyle/>
          <a:p>
            <a:pPr indent="0" marL="0">
              <a:buNone/>
            </a:pPr>
            <a:r>
              <a:rPr lang="en-US" sz="650" b="1" spc="50" kern="0" dirty="0">
                <a:solidFill>
                  <a:srgbClr val="134E8E"/>
                </a:solidFill>
                <a:latin typeface="Calibri" pitchFamily="34" charset="0"/>
                <a:ea typeface="Calibri" pitchFamily="34" charset="-122"/>
                <a:cs typeface="Calibri" pitchFamily="34" charset="-120"/>
              </a:rPr>
              <a:t>OBJECTIFS</a:t>
            </a:r>
            <a:endParaRPr lang="en-US" sz="650" dirty="0"/>
          </a:p>
        </p:txBody>
      </p:sp>
      <p:sp>
        <p:nvSpPr>
          <p:cNvPr id="54" name="Text 52"/>
          <p:cNvSpPr/>
          <p:nvPr/>
        </p:nvSpPr>
        <p:spPr>
          <a:xfrm>
            <a:off x="3337560" y="2468880"/>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Comparer les flux d'APD de la France avec les autres pays donateurs</a:t>
            </a:r>
            <a:endParaRPr lang="en-US" sz="700" dirty="0"/>
          </a:p>
        </p:txBody>
      </p:sp>
      <p:sp>
        <p:nvSpPr>
          <p:cNvPr id="55" name="Text 53"/>
          <p:cNvSpPr/>
          <p:nvPr/>
        </p:nvSpPr>
        <p:spPr>
          <a:xfrm>
            <a:off x="3337560" y="2592324"/>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Obtenir des projections fiables pour les engagements à venir</a:t>
            </a:r>
            <a:endParaRPr lang="en-US" sz="700" dirty="0"/>
          </a:p>
        </p:txBody>
      </p:sp>
      <p:sp>
        <p:nvSpPr>
          <p:cNvPr id="56" name="Text 54"/>
          <p:cNvSpPr/>
          <p:nvPr/>
        </p:nvSpPr>
        <p:spPr>
          <a:xfrm>
            <a:off x="3337560" y="2715768"/>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Analyser la répartition sectorielle et géographique de l'aide</a:t>
            </a:r>
            <a:endParaRPr lang="en-US" sz="700" dirty="0"/>
          </a:p>
        </p:txBody>
      </p:sp>
      <p:sp>
        <p:nvSpPr>
          <p:cNvPr id="57" name="Text 55"/>
          <p:cNvSpPr/>
          <p:nvPr/>
        </p:nvSpPr>
        <p:spPr>
          <a:xfrm>
            <a:off x="3337560" y="2839212"/>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Disposer d'indicateurs pour préparer les négociations internationales</a:t>
            </a:r>
            <a:endParaRPr lang="en-US" sz="700" dirty="0"/>
          </a:p>
        </p:txBody>
      </p:sp>
      <p:sp>
        <p:nvSpPr>
          <p:cNvPr id="58" name="Text 56"/>
          <p:cNvSpPr/>
          <p:nvPr/>
        </p:nvSpPr>
        <p:spPr>
          <a:xfrm>
            <a:off x="3337560" y="2962656"/>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Mesurer l'atteinte des objectifs de l'Accord de Paris et des ODD</a:t>
            </a:r>
            <a:endParaRPr lang="en-US" sz="700" dirty="0"/>
          </a:p>
        </p:txBody>
      </p:sp>
      <p:sp>
        <p:nvSpPr>
          <p:cNvPr id="59" name="Shape 57"/>
          <p:cNvSpPr/>
          <p:nvPr/>
        </p:nvSpPr>
        <p:spPr>
          <a:xfrm>
            <a:off x="3209544" y="3086100"/>
            <a:ext cx="64008" cy="146304"/>
          </a:xfrm>
          <a:prstGeom prst="rect">
            <a:avLst/>
          </a:prstGeom>
          <a:solidFill>
            <a:srgbClr val="C00707"/>
          </a:solidFill>
          <a:ln w="12700">
            <a:solidFill>
              <a:srgbClr val="C00707"/>
            </a:solidFill>
            <a:prstDash val="solid"/>
          </a:ln>
        </p:spPr>
      </p:sp>
      <p:sp>
        <p:nvSpPr>
          <p:cNvPr id="60" name="Text 58"/>
          <p:cNvSpPr/>
          <p:nvPr/>
        </p:nvSpPr>
        <p:spPr>
          <a:xfrm>
            <a:off x="3300984" y="3095244"/>
            <a:ext cx="2660904" cy="128016"/>
          </a:xfrm>
          <a:prstGeom prst="rect">
            <a:avLst/>
          </a:prstGeom>
          <a:noFill/>
          <a:ln/>
        </p:spPr>
        <p:txBody>
          <a:bodyPr wrap="square" lIns="0" tIns="0" rIns="0" bIns="0" rtlCol="0" anchor="ctr"/>
          <a:lstStyle/>
          <a:p>
            <a:pPr indent="0" marL="0">
              <a:buNone/>
            </a:pPr>
            <a:r>
              <a:rPr lang="en-US" sz="650" b="1" spc="50" kern="0" dirty="0">
                <a:solidFill>
                  <a:srgbClr val="C00707"/>
                </a:solidFill>
                <a:latin typeface="Calibri" pitchFamily="34" charset="0"/>
                <a:ea typeface="Calibri" pitchFamily="34" charset="-122"/>
                <a:cs typeface="Calibri" pitchFamily="34" charset="-120"/>
              </a:rPr>
              <a:t>POINTS DE FRICTION</a:t>
            </a:r>
            <a:endParaRPr lang="en-US" sz="650" dirty="0"/>
          </a:p>
        </p:txBody>
      </p:sp>
      <p:sp>
        <p:nvSpPr>
          <p:cNvPr id="61" name="Text 59"/>
          <p:cNvSpPr/>
          <p:nvPr/>
        </p:nvSpPr>
        <p:spPr>
          <a:xfrm>
            <a:off x="3337560" y="3232404"/>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Données insuffisamment standardisées pour les comparaisons internat.</a:t>
            </a:r>
            <a:endParaRPr lang="en-US" sz="700" dirty="0"/>
          </a:p>
        </p:txBody>
      </p:sp>
      <p:sp>
        <p:nvSpPr>
          <p:cNvPr id="62" name="Text 60"/>
          <p:cNvSpPr/>
          <p:nvPr/>
        </p:nvSpPr>
        <p:spPr>
          <a:xfrm>
            <a:off x="3337560" y="3355848"/>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Délais de publication des statistiques officielles trop longs</a:t>
            </a:r>
            <a:endParaRPr lang="en-US" sz="700" dirty="0"/>
          </a:p>
        </p:txBody>
      </p:sp>
      <p:sp>
        <p:nvSpPr>
          <p:cNvPr id="63" name="Text 61"/>
          <p:cNvSpPr/>
          <p:nvPr/>
        </p:nvSpPr>
        <p:spPr>
          <a:xfrm>
            <a:off x="3337560" y="3479292"/>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Absence d'outil de simulation des scénarios budgétaires</a:t>
            </a:r>
            <a:endParaRPr lang="en-US" sz="700" dirty="0"/>
          </a:p>
        </p:txBody>
      </p:sp>
      <p:sp>
        <p:nvSpPr>
          <p:cNvPr id="64" name="Text 62"/>
          <p:cNvSpPr/>
          <p:nvPr/>
        </p:nvSpPr>
        <p:spPr>
          <a:xfrm>
            <a:off x="3337560" y="3602736"/>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Visualisations trop techniques pour être utilisées en réunion</a:t>
            </a:r>
            <a:endParaRPr lang="en-US" sz="700" dirty="0"/>
          </a:p>
        </p:txBody>
      </p:sp>
      <p:sp>
        <p:nvSpPr>
          <p:cNvPr id="65" name="Shape 63"/>
          <p:cNvSpPr/>
          <p:nvPr/>
        </p:nvSpPr>
        <p:spPr>
          <a:xfrm>
            <a:off x="3209544" y="3726180"/>
            <a:ext cx="64008" cy="146304"/>
          </a:xfrm>
          <a:prstGeom prst="rect">
            <a:avLst/>
          </a:prstGeom>
          <a:solidFill>
            <a:srgbClr val="C00707"/>
          </a:solidFill>
          <a:ln w="12700">
            <a:solidFill>
              <a:srgbClr val="C00707"/>
            </a:solidFill>
            <a:prstDash val="solid"/>
          </a:ln>
        </p:spPr>
      </p:sp>
      <p:sp>
        <p:nvSpPr>
          <p:cNvPr id="66" name="Text 64"/>
          <p:cNvSpPr/>
          <p:nvPr/>
        </p:nvSpPr>
        <p:spPr>
          <a:xfrm>
            <a:off x="3300984" y="3735324"/>
            <a:ext cx="2660904" cy="128016"/>
          </a:xfrm>
          <a:prstGeom prst="rect">
            <a:avLst/>
          </a:prstGeom>
          <a:noFill/>
          <a:ln/>
        </p:spPr>
        <p:txBody>
          <a:bodyPr wrap="square" lIns="0" tIns="0" rIns="0" bIns="0" rtlCol="0" anchor="ctr"/>
          <a:lstStyle/>
          <a:p>
            <a:pPr indent="0" marL="0">
              <a:buNone/>
            </a:pPr>
            <a:r>
              <a:rPr lang="en-US" sz="650" b="1" spc="50" kern="0" dirty="0">
                <a:solidFill>
                  <a:srgbClr val="C00707"/>
                </a:solidFill>
                <a:latin typeface="Calibri" pitchFamily="34" charset="0"/>
                <a:ea typeface="Calibri" pitchFamily="34" charset="-122"/>
                <a:cs typeface="Calibri" pitchFamily="34" charset="-120"/>
              </a:rPr>
              <a:t>BESOINS</a:t>
            </a:r>
            <a:endParaRPr lang="en-US" sz="650" dirty="0"/>
          </a:p>
        </p:txBody>
      </p:sp>
      <p:sp>
        <p:nvSpPr>
          <p:cNvPr id="67" name="Text 65"/>
          <p:cNvSpPr/>
          <p:nvPr/>
        </p:nvSpPr>
        <p:spPr>
          <a:xfrm>
            <a:off x="3337560" y="3872484"/>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Tableau de bord exécutif synthétique</a:t>
            </a:r>
            <a:endParaRPr lang="en-US" sz="700" dirty="0"/>
          </a:p>
        </p:txBody>
      </p:sp>
      <p:sp>
        <p:nvSpPr>
          <p:cNvPr id="68" name="Text 66"/>
          <p:cNvSpPr/>
          <p:nvPr/>
        </p:nvSpPr>
        <p:spPr>
          <a:xfrm>
            <a:off x="3337560" y="3995928"/>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Comparaisons internationales automatisées</a:t>
            </a:r>
            <a:endParaRPr lang="en-US" sz="700" dirty="0"/>
          </a:p>
        </p:txBody>
      </p:sp>
      <p:sp>
        <p:nvSpPr>
          <p:cNvPr id="69" name="Text 67"/>
          <p:cNvSpPr/>
          <p:nvPr/>
        </p:nvSpPr>
        <p:spPr>
          <a:xfrm>
            <a:off x="3337560" y="4119372"/>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Scénarios de simulation budgétaire</a:t>
            </a:r>
            <a:endParaRPr lang="en-US" sz="700" dirty="0"/>
          </a:p>
        </p:txBody>
      </p:sp>
      <p:sp>
        <p:nvSpPr>
          <p:cNvPr id="70" name="Text 68"/>
          <p:cNvSpPr/>
          <p:nvPr/>
        </p:nvSpPr>
        <p:spPr>
          <a:xfrm>
            <a:off x="3337560" y="4242816"/>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Visualisations adaptées aux non-techniciens</a:t>
            </a:r>
            <a:endParaRPr lang="en-US" sz="700" dirty="0"/>
          </a:p>
        </p:txBody>
      </p:sp>
      <p:sp>
        <p:nvSpPr>
          <p:cNvPr id="71" name="Shape 69"/>
          <p:cNvSpPr/>
          <p:nvPr/>
        </p:nvSpPr>
        <p:spPr>
          <a:xfrm>
            <a:off x="3209544" y="4366260"/>
            <a:ext cx="64008" cy="146304"/>
          </a:xfrm>
          <a:prstGeom prst="rect">
            <a:avLst/>
          </a:prstGeom>
          <a:solidFill>
            <a:srgbClr val="6B7A8D"/>
          </a:solidFill>
          <a:ln w="12700">
            <a:solidFill>
              <a:srgbClr val="6B7A8D"/>
            </a:solidFill>
            <a:prstDash val="solid"/>
          </a:ln>
        </p:spPr>
      </p:sp>
      <p:sp>
        <p:nvSpPr>
          <p:cNvPr id="72" name="Text 70"/>
          <p:cNvSpPr/>
          <p:nvPr/>
        </p:nvSpPr>
        <p:spPr>
          <a:xfrm>
            <a:off x="3300984" y="4375404"/>
            <a:ext cx="2660904" cy="128016"/>
          </a:xfrm>
          <a:prstGeom prst="rect">
            <a:avLst/>
          </a:prstGeom>
          <a:noFill/>
          <a:ln/>
        </p:spPr>
        <p:txBody>
          <a:bodyPr wrap="square" lIns="0" tIns="0" rIns="0" bIns="0" rtlCol="0" anchor="ctr"/>
          <a:lstStyle/>
          <a:p>
            <a:pPr indent="0" marL="0">
              <a:buNone/>
            </a:pPr>
            <a:r>
              <a:rPr lang="en-US" sz="650" b="1" spc="50" kern="0" dirty="0">
                <a:solidFill>
                  <a:srgbClr val="6B7A8D"/>
                </a:solidFill>
                <a:latin typeface="Calibri" pitchFamily="34" charset="0"/>
                <a:ea typeface="Calibri" pitchFamily="34" charset="-122"/>
                <a:cs typeface="Calibri" pitchFamily="34" charset="-120"/>
              </a:rPr>
              <a:t>USAGE &amp; OUTILS</a:t>
            </a:r>
            <a:endParaRPr lang="en-US" sz="650" dirty="0"/>
          </a:p>
        </p:txBody>
      </p:sp>
      <p:sp>
        <p:nvSpPr>
          <p:cNvPr id="73" name="Text 71"/>
          <p:cNvSpPr/>
          <p:nvPr/>
        </p:nvSpPr>
        <p:spPr>
          <a:xfrm>
            <a:off x="3337560" y="4512564"/>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Hebdomadaire · PC + Tablette</a:t>
            </a:r>
            <a:endParaRPr lang="en-US" sz="700" dirty="0"/>
          </a:p>
        </p:txBody>
      </p:sp>
      <p:sp>
        <p:nvSpPr>
          <p:cNvPr id="74" name="Text 72"/>
          <p:cNvSpPr/>
          <p:nvPr/>
        </p:nvSpPr>
        <p:spPr>
          <a:xfrm>
            <a:off x="3337560" y="4636008"/>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Rapports OCDE-CAD · Tableaux de bord gouvernementaux</a:t>
            </a:r>
            <a:endParaRPr lang="en-US" sz="700" dirty="0"/>
          </a:p>
        </p:txBody>
      </p:sp>
      <p:sp>
        <p:nvSpPr>
          <p:cNvPr id="75" name="Text 73"/>
          <p:cNvSpPr/>
          <p:nvPr/>
        </p:nvSpPr>
        <p:spPr>
          <a:xfrm>
            <a:off x="3319272" y="4759452"/>
            <a:ext cx="2624328" cy="123444"/>
          </a:xfrm>
          <a:prstGeom prst="rect">
            <a:avLst/>
          </a:prstGeom>
          <a:noFill/>
          <a:ln/>
        </p:spPr>
        <p:txBody>
          <a:bodyPr wrap="square" lIns="0" tIns="0" rIns="0" bIns="0" rtlCol="0" anchor="t"/>
          <a:lstStyle/>
          <a:p>
            <a:pPr indent="0" marL="0">
              <a:buNone/>
            </a:pPr>
            <a:r>
              <a:rPr lang="en-US" sz="600" i="1" dirty="0">
                <a:solidFill>
                  <a:srgbClr val="6B7A8D"/>
                </a:solidFill>
                <a:latin typeface="Calibri" pitchFamily="34" charset="0"/>
                <a:ea typeface="Calibri" pitchFamily="34" charset="-122"/>
                <a:cs typeface="Calibri" pitchFamily="34" charset="-120"/>
              </a:rPr>
              <a:t>Politique publique · Comparaisons internat. · ODD · G7/OCDE · Prévision</a:t>
            </a:r>
            <a:endParaRPr lang="en-US" sz="600" dirty="0"/>
          </a:p>
        </p:txBody>
      </p:sp>
      <p:sp>
        <p:nvSpPr>
          <p:cNvPr id="76" name="Shape 74"/>
          <p:cNvSpPr/>
          <p:nvPr/>
        </p:nvSpPr>
        <p:spPr>
          <a:xfrm>
            <a:off x="6163056" y="1115568"/>
            <a:ext cx="2788920" cy="370332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77" name="Shape 75"/>
          <p:cNvSpPr/>
          <p:nvPr/>
        </p:nvSpPr>
        <p:spPr>
          <a:xfrm>
            <a:off x="6163056" y="1115568"/>
            <a:ext cx="2788920" cy="822960"/>
          </a:xfrm>
          <a:prstGeom prst="rect">
            <a:avLst/>
          </a:prstGeom>
          <a:solidFill>
            <a:srgbClr val="1A7A4A"/>
          </a:solidFill>
          <a:ln w="12700">
            <a:solidFill>
              <a:srgbClr val="1A7A4A"/>
            </a:solidFill>
            <a:prstDash val="solid"/>
          </a:ln>
        </p:spPr>
      </p:sp>
      <p:sp>
        <p:nvSpPr>
          <p:cNvPr id="78" name="Shape 76"/>
          <p:cNvSpPr/>
          <p:nvPr/>
        </p:nvSpPr>
        <p:spPr>
          <a:xfrm>
            <a:off x="6281928" y="1216152"/>
            <a:ext cx="621792" cy="621792"/>
          </a:xfrm>
          <a:prstGeom prst="ellipse">
            <a:avLst/>
          </a:prstGeom>
          <a:solidFill>
            <a:srgbClr val="FFFFFF"/>
          </a:solidFill>
          <a:ln w="12700">
            <a:solidFill>
              <a:srgbClr val="FFFFFF"/>
            </a:solidFill>
            <a:prstDash val="solid"/>
          </a:ln>
        </p:spPr>
      </p:sp>
      <p:sp>
        <p:nvSpPr>
          <p:cNvPr id="79" name="Text 77"/>
          <p:cNvSpPr/>
          <p:nvPr/>
        </p:nvSpPr>
        <p:spPr>
          <a:xfrm>
            <a:off x="6281928" y="1216152"/>
            <a:ext cx="621792" cy="621792"/>
          </a:xfrm>
          <a:prstGeom prst="rect">
            <a:avLst/>
          </a:prstGeom>
          <a:noFill/>
          <a:ln/>
        </p:spPr>
        <p:txBody>
          <a:bodyPr wrap="square" lIns="0" tIns="0" rIns="0" bIns="0" rtlCol="0" anchor="ctr"/>
          <a:lstStyle/>
          <a:p>
            <a:pPr algn="ctr" indent="0" marL="0">
              <a:buNone/>
            </a:pPr>
            <a:r>
              <a:rPr lang="en-US" sz="1600" b="1" dirty="0">
                <a:solidFill>
                  <a:srgbClr val="1A7A4A"/>
                </a:solidFill>
                <a:latin typeface="Georgia" pitchFamily="34" charset="0"/>
                <a:ea typeface="Georgia" pitchFamily="34" charset="-122"/>
                <a:cs typeface="Georgia" pitchFamily="34" charset="-120"/>
              </a:rPr>
              <a:t>MD</a:t>
            </a:r>
            <a:endParaRPr lang="en-US" sz="1600" dirty="0"/>
          </a:p>
        </p:txBody>
      </p:sp>
      <p:sp>
        <p:nvSpPr>
          <p:cNvPr id="80" name="Text 78"/>
          <p:cNvSpPr/>
          <p:nvPr/>
        </p:nvSpPr>
        <p:spPr>
          <a:xfrm>
            <a:off x="6995160" y="1207008"/>
            <a:ext cx="1856232"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Mariam Diallo</a:t>
            </a:r>
            <a:endParaRPr lang="en-US" sz="1100" dirty="0"/>
          </a:p>
        </p:txBody>
      </p:sp>
      <p:sp>
        <p:nvSpPr>
          <p:cNvPr id="81" name="Text 79"/>
          <p:cNvSpPr/>
          <p:nvPr/>
        </p:nvSpPr>
        <p:spPr>
          <a:xfrm>
            <a:off x="6995160" y="1426464"/>
            <a:ext cx="1856232" cy="182880"/>
          </a:xfrm>
          <a:prstGeom prst="rect">
            <a:avLst/>
          </a:prstGeom>
          <a:noFill/>
          <a:ln/>
        </p:spPr>
        <p:txBody>
          <a:bodyPr wrap="square" lIns="0" tIns="0" rIns="0" bIns="0" rtlCol="0" anchor="ctr"/>
          <a:lstStyle/>
          <a:p>
            <a:pPr indent="0" marL="0">
              <a:buNone/>
            </a:pPr>
            <a:r>
              <a:rPr lang="en-US" sz="850" i="1" dirty="0">
                <a:solidFill>
                  <a:srgbClr val="C8DCEC"/>
                </a:solidFill>
                <a:latin typeface="Calibri" pitchFamily="34" charset="0"/>
                <a:ea typeface="Calibri" pitchFamily="34" charset="-122"/>
                <a:cs typeface="Calibri" pitchFamily="34" charset="-120"/>
              </a:rPr>
              <a:t>Coordinatrice de Projets</a:t>
            </a:r>
            <a:endParaRPr lang="en-US" sz="850" dirty="0"/>
          </a:p>
        </p:txBody>
      </p:sp>
      <p:sp>
        <p:nvSpPr>
          <p:cNvPr id="82" name="Text 80"/>
          <p:cNvSpPr/>
          <p:nvPr/>
        </p:nvSpPr>
        <p:spPr>
          <a:xfrm>
            <a:off x="6995160" y="1600200"/>
            <a:ext cx="1856232" cy="164592"/>
          </a:xfrm>
          <a:prstGeom prst="rect">
            <a:avLst/>
          </a:prstGeom>
          <a:noFill/>
          <a:ln/>
        </p:spPr>
        <p:txBody>
          <a:bodyPr wrap="square" lIns="0" tIns="0" rIns="0" bIns="0" rtlCol="0" anchor="ctr"/>
          <a:lstStyle/>
          <a:p>
            <a:pPr indent="0" marL="0">
              <a:buNone/>
            </a:pPr>
            <a:r>
              <a:rPr lang="en-US" sz="750" dirty="0">
                <a:solidFill>
                  <a:srgbClr val="C8DCEC"/>
                </a:solidFill>
                <a:latin typeface="Calibri" pitchFamily="34" charset="0"/>
                <a:ea typeface="Calibri" pitchFamily="34" charset="-122"/>
                <a:cs typeface="Calibri" pitchFamily="34" charset="-120"/>
              </a:rPr>
              <a:t>ONG Eau Sans Frontières – Dakar, Sénégal</a:t>
            </a:r>
            <a:endParaRPr lang="en-US" sz="750" dirty="0"/>
          </a:p>
        </p:txBody>
      </p:sp>
      <p:sp>
        <p:nvSpPr>
          <p:cNvPr id="83" name="Text 81"/>
          <p:cNvSpPr/>
          <p:nvPr/>
        </p:nvSpPr>
        <p:spPr>
          <a:xfrm>
            <a:off x="6272784" y="1792224"/>
            <a:ext cx="2606040" cy="137160"/>
          </a:xfrm>
          <a:prstGeom prst="rect">
            <a:avLst/>
          </a:prstGeom>
          <a:noFill/>
          <a:ln/>
        </p:spPr>
        <p:txBody>
          <a:bodyPr wrap="square" lIns="0" tIns="0" rIns="0" bIns="0" rtlCol="0" anchor="ctr"/>
          <a:lstStyle/>
          <a:p>
            <a:pPr indent="0" marL="0">
              <a:buNone/>
            </a:pPr>
            <a:r>
              <a:rPr lang="en-US" sz="650" dirty="0">
                <a:solidFill>
                  <a:srgbClr val="C8DCEC"/>
                </a:solidFill>
                <a:latin typeface="Calibri" pitchFamily="34" charset="0"/>
                <a:ea typeface="Calibri" pitchFamily="34" charset="-122"/>
                <a:cs typeface="Calibri" pitchFamily="34" charset="-120"/>
              </a:rPr>
              <a:t>33 ans · Dakar · 7 ans d'exp. · Master Gestion de Projets Humanitaires</a:t>
            </a:r>
            <a:endParaRPr lang="en-US" sz="650" dirty="0"/>
          </a:p>
        </p:txBody>
      </p:sp>
      <p:sp>
        <p:nvSpPr>
          <p:cNvPr id="84" name="Shape 82"/>
          <p:cNvSpPr/>
          <p:nvPr/>
        </p:nvSpPr>
        <p:spPr>
          <a:xfrm>
            <a:off x="6163056" y="1938528"/>
            <a:ext cx="2788920" cy="384048"/>
          </a:xfrm>
          <a:prstGeom prst="rect">
            <a:avLst/>
          </a:prstGeom>
          <a:solidFill>
            <a:srgbClr val="EEF4FA"/>
          </a:solidFill>
          <a:ln w="12700">
            <a:solidFill>
              <a:srgbClr val="DDE6F0"/>
            </a:solidFill>
            <a:prstDash val="solid"/>
          </a:ln>
        </p:spPr>
      </p:sp>
      <p:sp>
        <p:nvSpPr>
          <p:cNvPr id="85" name="Text 83"/>
          <p:cNvSpPr/>
          <p:nvPr/>
        </p:nvSpPr>
        <p:spPr>
          <a:xfrm>
            <a:off x="6272784" y="1965960"/>
            <a:ext cx="2606040" cy="338328"/>
          </a:xfrm>
          <a:prstGeom prst="rect">
            <a:avLst/>
          </a:prstGeom>
          <a:noFill/>
          <a:ln/>
        </p:spPr>
        <p:txBody>
          <a:bodyPr wrap="square" lIns="0" tIns="0" rIns="0" bIns="0" rtlCol="0" anchor="ctr"/>
          <a:lstStyle/>
          <a:p>
            <a:pPr indent="0" marL="0">
              <a:lnSpc>
                <a:spcPct val="125000"/>
              </a:lnSpc>
              <a:buNone/>
            </a:pPr>
            <a:r>
              <a:rPr lang="en-US" sz="700" i="1" dirty="0">
                <a:solidFill>
                  <a:srgbClr val="1A7A4A"/>
                </a:solidFill>
                <a:latin typeface="Georgia" pitchFamily="34" charset="0"/>
                <a:ea typeface="Georgia" pitchFamily="34" charset="-122"/>
                <a:cs typeface="Georgia" pitchFamily="34" charset="-120"/>
              </a:rPr>
              <a:t>« Comprendre où va l'aide nous permet d'être là où les financements sont disponibles. »</a:t>
            </a:r>
            <a:endParaRPr lang="en-US" sz="700" dirty="0"/>
          </a:p>
        </p:txBody>
      </p:sp>
      <p:sp>
        <p:nvSpPr>
          <p:cNvPr id="86" name="Shape 84"/>
          <p:cNvSpPr/>
          <p:nvPr/>
        </p:nvSpPr>
        <p:spPr>
          <a:xfrm>
            <a:off x="6163056" y="2322576"/>
            <a:ext cx="64008" cy="146304"/>
          </a:xfrm>
          <a:prstGeom prst="rect">
            <a:avLst/>
          </a:prstGeom>
          <a:solidFill>
            <a:srgbClr val="134E8E"/>
          </a:solidFill>
          <a:ln w="12700">
            <a:solidFill>
              <a:srgbClr val="134E8E"/>
            </a:solidFill>
            <a:prstDash val="solid"/>
          </a:ln>
        </p:spPr>
      </p:sp>
      <p:sp>
        <p:nvSpPr>
          <p:cNvPr id="87" name="Text 85"/>
          <p:cNvSpPr/>
          <p:nvPr/>
        </p:nvSpPr>
        <p:spPr>
          <a:xfrm>
            <a:off x="6254496" y="2331720"/>
            <a:ext cx="2660904" cy="128016"/>
          </a:xfrm>
          <a:prstGeom prst="rect">
            <a:avLst/>
          </a:prstGeom>
          <a:noFill/>
          <a:ln/>
        </p:spPr>
        <p:txBody>
          <a:bodyPr wrap="square" lIns="0" tIns="0" rIns="0" bIns="0" rtlCol="0" anchor="ctr"/>
          <a:lstStyle/>
          <a:p>
            <a:pPr indent="0" marL="0">
              <a:buNone/>
            </a:pPr>
            <a:r>
              <a:rPr lang="en-US" sz="650" b="1" spc="50" kern="0" dirty="0">
                <a:solidFill>
                  <a:srgbClr val="134E8E"/>
                </a:solidFill>
                <a:latin typeface="Calibri" pitchFamily="34" charset="0"/>
                <a:ea typeface="Calibri" pitchFamily="34" charset="-122"/>
                <a:cs typeface="Calibri" pitchFamily="34" charset="-120"/>
              </a:rPr>
              <a:t>OBJECTIFS</a:t>
            </a:r>
            <a:endParaRPr lang="en-US" sz="650" dirty="0"/>
          </a:p>
        </p:txBody>
      </p:sp>
      <p:sp>
        <p:nvSpPr>
          <p:cNvPr id="88" name="Text 86"/>
          <p:cNvSpPr/>
          <p:nvPr/>
        </p:nvSpPr>
        <p:spPr>
          <a:xfrm>
            <a:off x="6291072" y="2468880"/>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Identifier quels secteurs et pays reçoivent le plus de financements AFD</a:t>
            </a:r>
            <a:endParaRPr lang="en-US" sz="700" dirty="0"/>
          </a:p>
        </p:txBody>
      </p:sp>
      <p:sp>
        <p:nvSpPr>
          <p:cNvPr id="89" name="Text 87"/>
          <p:cNvSpPr/>
          <p:nvPr/>
        </p:nvSpPr>
        <p:spPr>
          <a:xfrm>
            <a:off x="6291072" y="2592324"/>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Repérer les opportunités d'appels à projets et de partenariats</a:t>
            </a:r>
            <a:endParaRPr lang="en-US" sz="700" dirty="0"/>
          </a:p>
        </p:txBody>
      </p:sp>
      <p:sp>
        <p:nvSpPr>
          <p:cNvPr id="90" name="Text 88"/>
          <p:cNvSpPr/>
          <p:nvPr/>
        </p:nvSpPr>
        <p:spPr>
          <a:xfrm>
            <a:off x="6291072" y="2715768"/>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Comprendre l'évolution des priorités thématiques (eau, climat, santé)</a:t>
            </a:r>
            <a:endParaRPr lang="en-US" sz="700" dirty="0"/>
          </a:p>
        </p:txBody>
      </p:sp>
      <p:sp>
        <p:nvSpPr>
          <p:cNvPr id="91" name="Text 89"/>
          <p:cNvSpPr/>
          <p:nvPr/>
        </p:nvSpPr>
        <p:spPr>
          <a:xfrm>
            <a:off x="6291072" y="2839212"/>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Aligner les propositions de projets sur les tendances de financement</a:t>
            </a:r>
            <a:endParaRPr lang="en-US" sz="700" dirty="0"/>
          </a:p>
        </p:txBody>
      </p:sp>
      <p:sp>
        <p:nvSpPr>
          <p:cNvPr id="92" name="Text 90"/>
          <p:cNvSpPr/>
          <p:nvPr/>
        </p:nvSpPr>
        <p:spPr>
          <a:xfrm>
            <a:off x="6291072" y="2962656"/>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Accéder facilement aux données sans expertise technique avancée</a:t>
            </a:r>
            <a:endParaRPr lang="en-US" sz="700" dirty="0"/>
          </a:p>
        </p:txBody>
      </p:sp>
      <p:sp>
        <p:nvSpPr>
          <p:cNvPr id="93" name="Shape 91"/>
          <p:cNvSpPr/>
          <p:nvPr/>
        </p:nvSpPr>
        <p:spPr>
          <a:xfrm>
            <a:off x="6163056" y="3086100"/>
            <a:ext cx="64008" cy="146304"/>
          </a:xfrm>
          <a:prstGeom prst="rect">
            <a:avLst/>
          </a:prstGeom>
          <a:solidFill>
            <a:srgbClr val="C00707"/>
          </a:solidFill>
          <a:ln w="12700">
            <a:solidFill>
              <a:srgbClr val="C00707"/>
            </a:solidFill>
            <a:prstDash val="solid"/>
          </a:ln>
        </p:spPr>
      </p:sp>
      <p:sp>
        <p:nvSpPr>
          <p:cNvPr id="94" name="Text 92"/>
          <p:cNvSpPr/>
          <p:nvPr/>
        </p:nvSpPr>
        <p:spPr>
          <a:xfrm>
            <a:off x="6254496" y="3095244"/>
            <a:ext cx="2660904" cy="128016"/>
          </a:xfrm>
          <a:prstGeom prst="rect">
            <a:avLst/>
          </a:prstGeom>
          <a:noFill/>
          <a:ln/>
        </p:spPr>
        <p:txBody>
          <a:bodyPr wrap="square" lIns="0" tIns="0" rIns="0" bIns="0" rtlCol="0" anchor="ctr"/>
          <a:lstStyle/>
          <a:p>
            <a:pPr indent="0" marL="0">
              <a:buNone/>
            </a:pPr>
            <a:r>
              <a:rPr lang="en-US" sz="650" b="1" spc="50" kern="0" dirty="0">
                <a:solidFill>
                  <a:srgbClr val="C00707"/>
                </a:solidFill>
                <a:latin typeface="Calibri" pitchFamily="34" charset="0"/>
                <a:ea typeface="Calibri" pitchFamily="34" charset="-122"/>
                <a:cs typeface="Calibri" pitchFamily="34" charset="-120"/>
              </a:rPr>
              <a:t>POINTS DE FRICTION</a:t>
            </a:r>
            <a:endParaRPr lang="en-US" sz="650" dirty="0"/>
          </a:p>
        </p:txBody>
      </p:sp>
      <p:sp>
        <p:nvSpPr>
          <p:cNvPr id="95" name="Text 93"/>
          <p:cNvSpPr/>
          <p:nvPr/>
        </p:nvSpPr>
        <p:spPr>
          <a:xfrm>
            <a:off x="6291072" y="3232404"/>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Données APD difficiles d'accès et peu vulgarisées</a:t>
            </a:r>
            <a:endParaRPr lang="en-US" sz="700" dirty="0"/>
          </a:p>
        </p:txBody>
      </p:sp>
      <p:sp>
        <p:nvSpPr>
          <p:cNvPr id="96" name="Text 94"/>
          <p:cNvSpPr/>
          <p:nvPr/>
        </p:nvSpPr>
        <p:spPr>
          <a:xfrm>
            <a:off x="6291072" y="3355848"/>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Manque de visibilité sur l'évolution future des priorités bailleurs</a:t>
            </a:r>
            <a:endParaRPr lang="en-US" sz="700" dirty="0"/>
          </a:p>
        </p:txBody>
      </p:sp>
      <p:sp>
        <p:nvSpPr>
          <p:cNvPr id="97" name="Text 95"/>
          <p:cNvSpPr/>
          <p:nvPr/>
        </p:nvSpPr>
        <p:spPr>
          <a:xfrm>
            <a:off x="6291072" y="3479292"/>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Interface des outils existants trop complexe pour les non-experts</a:t>
            </a:r>
            <a:endParaRPr lang="en-US" sz="700" dirty="0"/>
          </a:p>
        </p:txBody>
      </p:sp>
      <p:sp>
        <p:nvSpPr>
          <p:cNvPr id="98" name="Text 96"/>
          <p:cNvSpPr/>
          <p:nvPr/>
        </p:nvSpPr>
        <p:spPr>
          <a:xfrm>
            <a:off x="6291072" y="3602736"/>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Informations trop agrégées, pas assez ciblées géographiquement</a:t>
            </a:r>
            <a:endParaRPr lang="en-US" sz="700" dirty="0"/>
          </a:p>
        </p:txBody>
      </p:sp>
      <p:sp>
        <p:nvSpPr>
          <p:cNvPr id="99" name="Shape 97"/>
          <p:cNvSpPr/>
          <p:nvPr/>
        </p:nvSpPr>
        <p:spPr>
          <a:xfrm>
            <a:off x="6163056" y="3726180"/>
            <a:ext cx="64008" cy="146304"/>
          </a:xfrm>
          <a:prstGeom prst="rect">
            <a:avLst/>
          </a:prstGeom>
          <a:solidFill>
            <a:srgbClr val="1A7A4A"/>
          </a:solidFill>
          <a:ln w="12700">
            <a:solidFill>
              <a:srgbClr val="1A7A4A"/>
            </a:solidFill>
            <a:prstDash val="solid"/>
          </a:ln>
        </p:spPr>
      </p:sp>
      <p:sp>
        <p:nvSpPr>
          <p:cNvPr id="100" name="Text 98"/>
          <p:cNvSpPr/>
          <p:nvPr/>
        </p:nvSpPr>
        <p:spPr>
          <a:xfrm>
            <a:off x="6254496" y="3735324"/>
            <a:ext cx="2660904" cy="128016"/>
          </a:xfrm>
          <a:prstGeom prst="rect">
            <a:avLst/>
          </a:prstGeom>
          <a:noFill/>
          <a:ln/>
        </p:spPr>
        <p:txBody>
          <a:bodyPr wrap="square" lIns="0" tIns="0" rIns="0" bIns="0" rtlCol="0" anchor="ctr"/>
          <a:lstStyle/>
          <a:p>
            <a:pPr indent="0" marL="0">
              <a:buNone/>
            </a:pPr>
            <a:r>
              <a:rPr lang="en-US" sz="650" b="1" spc="50" kern="0" dirty="0">
                <a:solidFill>
                  <a:srgbClr val="1A7A4A"/>
                </a:solidFill>
                <a:latin typeface="Calibri" pitchFamily="34" charset="0"/>
                <a:ea typeface="Calibri" pitchFamily="34" charset="-122"/>
                <a:cs typeface="Calibri" pitchFamily="34" charset="-120"/>
              </a:rPr>
              <a:t>BESOINS</a:t>
            </a:r>
            <a:endParaRPr lang="en-US" sz="650" dirty="0"/>
          </a:p>
        </p:txBody>
      </p:sp>
      <p:sp>
        <p:nvSpPr>
          <p:cNvPr id="101" name="Text 99"/>
          <p:cNvSpPr/>
          <p:nvPr/>
        </p:nvSpPr>
        <p:spPr>
          <a:xfrm>
            <a:off x="6291072" y="3872484"/>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Accès simple sans expertise data</a:t>
            </a:r>
            <a:endParaRPr lang="en-US" sz="700" dirty="0"/>
          </a:p>
        </p:txBody>
      </p:sp>
      <p:sp>
        <p:nvSpPr>
          <p:cNvPr id="102" name="Text 100"/>
          <p:cNvSpPr/>
          <p:nvPr/>
        </p:nvSpPr>
        <p:spPr>
          <a:xfrm>
            <a:off x="6291072" y="3995928"/>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Focus géographique précis (sous-région)</a:t>
            </a:r>
            <a:endParaRPr lang="en-US" sz="700" dirty="0"/>
          </a:p>
        </p:txBody>
      </p:sp>
      <p:sp>
        <p:nvSpPr>
          <p:cNvPr id="103" name="Text 101"/>
          <p:cNvSpPr/>
          <p:nvPr/>
        </p:nvSpPr>
        <p:spPr>
          <a:xfrm>
            <a:off x="6291072" y="4119372"/>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Alertes sur les opportunités de financement</a:t>
            </a:r>
            <a:endParaRPr lang="en-US" sz="700" dirty="0"/>
          </a:p>
        </p:txBody>
      </p:sp>
      <p:sp>
        <p:nvSpPr>
          <p:cNvPr id="104" name="Text 102"/>
          <p:cNvSpPr/>
          <p:nvPr/>
        </p:nvSpPr>
        <p:spPr>
          <a:xfrm>
            <a:off x="6291072" y="4242816"/>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Interface mobile-friendly</a:t>
            </a:r>
            <a:endParaRPr lang="en-US" sz="700" dirty="0"/>
          </a:p>
        </p:txBody>
      </p:sp>
      <p:sp>
        <p:nvSpPr>
          <p:cNvPr id="105" name="Shape 103"/>
          <p:cNvSpPr/>
          <p:nvPr/>
        </p:nvSpPr>
        <p:spPr>
          <a:xfrm>
            <a:off x="6163056" y="4366260"/>
            <a:ext cx="64008" cy="146304"/>
          </a:xfrm>
          <a:prstGeom prst="rect">
            <a:avLst/>
          </a:prstGeom>
          <a:solidFill>
            <a:srgbClr val="6B7A8D"/>
          </a:solidFill>
          <a:ln w="12700">
            <a:solidFill>
              <a:srgbClr val="6B7A8D"/>
            </a:solidFill>
            <a:prstDash val="solid"/>
          </a:ln>
        </p:spPr>
      </p:sp>
      <p:sp>
        <p:nvSpPr>
          <p:cNvPr id="106" name="Text 104"/>
          <p:cNvSpPr/>
          <p:nvPr/>
        </p:nvSpPr>
        <p:spPr>
          <a:xfrm>
            <a:off x="6254496" y="4375404"/>
            <a:ext cx="2660904" cy="128016"/>
          </a:xfrm>
          <a:prstGeom prst="rect">
            <a:avLst/>
          </a:prstGeom>
          <a:noFill/>
          <a:ln/>
        </p:spPr>
        <p:txBody>
          <a:bodyPr wrap="square" lIns="0" tIns="0" rIns="0" bIns="0" rtlCol="0" anchor="ctr"/>
          <a:lstStyle/>
          <a:p>
            <a:pPr indent="0" marL="0">
              <a:buNone/>
            </a:pPr>
            <a:r>
              <a:rPr lang="en-US" sz="650" b="1" spc="50" kern="0" dirty="0">
                <a:solidFill>
                  <a:srgbClr val="6B7A8D"/>
                </a:solidFill>
                <a:latin typeface="Calibri" pitchFamily="34" charset="0"/>
                <a:ea typeface="Calibri" pitchFamily="34" charset="-122"/>
                <a:cs typeface="Calibri" pitchFamily="34" charset="-120"/>
              </a:rPr>
              <a:t>USAGE &amp; OUTILS</a:t>
            </a:r>
            <a:endParaRPr lang="en-US" sz="650" dirty="0"/>
          </a:p>
        </p:txBody>
      </p:sp>
      <p:sp>
        <p:nvSpPr>
          <p:cNvPr id="107" name="Text 105"/>
          <p:cNvSpPr/>
          <p:nvPr/>
        </p:nvSpPr>
        <p:spPr>
          <a:xfrm>
            <a:off x="6291072" y="4512564"/>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Bi-hebdomadaire · Mobile Android + PC portable</a:t>
            </a:r>
            <a:endParaRPr lang="en-US" sz="700" dirty="0"/>
          </a:p>
        </p:txBody>
      </p:sp>
      <p:sp>
        <p:nvSpPr>
          <p:cNvPr id="108" name="Text 106"/>
          <p:cNvSpPr/>
          <p:nvPr/>
        </p:nvSpPr>
        <p:spPr>
          <a:xfrm>
            <a:off x="6291072" y="4636008"/>
            <a:ext cx="2624328" cy="123444"/>
          </a:xfrm>
          <a:prstGeom prst="rect">
            <a:avLst/>
          </a:prstGeom>
          <a:noFill/>
          <a:ln/>
        </p:spPr>
        <p:txBody>
          <a:bodyPr wrap="square" lIns="0" tIns="0" rIns="0" bIns="0" rtlCol="0" anchor="t"/>
          <a:lstStyle/>
          <a:p>
            <a:pPr indent="0" marL="0">
              <a:lnSpc>
                <a:spcPct val="100000"/>
              </a:lnSpc>
              <a:buNone/>
            </a:pPr>
            <a:r>
              <a:rPr lang="en-US" sz="700" dirty="0">
                <a:solidFill>
                  <a:srgbClr val="1A2E4A"/>
                </a:solidFill>
                <a:latin typeface="Calibri" pitchFamily="34" charset="0"/>
                <a:ea typeface="Calibri" pitchFamily="34" charset="-122"/>
                <a:cs typeface="Calibri" pitchFamily="34" charset="-120"/>
              </a:rPr>
              <a:t>🔧 IATI / DevTracker · Reliefweb · Google Sheets · WhatsApp</a:t>
            </a:r>
            <a:endParaRPr lang="en-US" sz="700" dirty="0"/>
          </a:p>
        </p:txBody>
      </p:sp>
      <p:sp>
        <p:nvSpPr>
          <p:cNvPr id="109" name="Text 107"/>
          <p:cNvSpPr/>
          <p:nvPr/>
        </p:nvSpPr>
        <p:spPr>
          <a:xfrm>
            <a:off x="6272784" y="4759452"/>
            <a:ext cx="2624328" cy="123444"/>
          </a:xfrm>
          <a:prstGeom prst="rect">
            <a:avLst/>
          </a:prstGeom>
          <a:noFill/>
          <a:ln/>
        </p:spPr>
        <p:txBody>
          <a:bodyPr wrap="square" lIns="0" tIns="0" rIns="0" bIns="0" rtlCol="0" anchor="t"/>
          <a:lstStyle/>
          <a:p>
            <a:pPr indent="0" marL="0">
              <a:buNone/>
            </a:pPr>
            <a:r>
              <a:rPr lang="en-US" sz="600" i="1" dirty="0">
                <a:solidFill>
                  <a:srgbClr val="6B7A8D"/>
                </a:solidFill>
                <a:latin typeface="Calibri" pitchFamily="34" charset="0"/>
                <a:ea typeface="Calibri" pitchFamily="34" charset="-122"/>
                <a:cs typeface="Calibri" pitchFamily="34" charset="-120"/>
              </a:rPr>
              <a:t>Accès eau · Projets terrain · Opportunités financement · Afrique de l'Ouest · ODD 6</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0"/>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34E8E"/>
          </a:solidFill>
          <a:ln w="12700">
            <a:solidFill>
              <a:srgbClr val="134E8E"/>
            </a:solidFill>
            <a:prstDash val="solid"/>
          </a:ln>
        </p:spPr>
      </p:sp>
      <p:sp>
        <p:nvSpPr>
          <p:cNvPr id="3" name="Shape 1"/>
          <p:cNvSpPr/>
          <p:nvPr/>
        </p:nvSpPr>
        <p:spPr>
          <a:xfrm>
            <a:off x="0" y="0"/>
            <a:ext cx="137160" cy="960120"/>
          </a:xfrm>
          <a:prstGeom prst="rect">
            <a:avLst/>
          </a:prstGeom>
          <a:solidFill>
            <a:srgbClr val="C00707"/>
          </a:solidFill>
          <a:ln w="12700">
            <a:solidFill>
              <a:srgbClr val="C00707"/>
            </a:solidFill>
            <a:prstDash val="solid"/>
          </a:ln>
        </p:spPr>
      </p:sp>
      <p:sp>
        <p:nvSpPr>
          <p:cNvPr id="4" name="Text 2"/>
          <p:cNvSpPr/>
          <p:nvPr/>
        </p:nvSpPr>
        <p:spPr>
          <a:xfrm>
            <a:off x="320040" y="0"/>
            <a:ext cx="777240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03 — Experience Maps</a:t>
            </a:r>
            <a:endParaRPr lang="en-US" sz="2200" dirty="0"/>
          </a:p>
        </p:txBody>
      </p:sp>
      <p:sp>
        <p:nvSpPr>
          <p:cNvPr id="5" name="Text 3"/>
          <p:cNvSpPr/>
          <p:nvPr/>
        </p:nvSpPr>
        <p:spPr>
          <a:xfrm>
            <a:off x="320040" y="594360"/>
            <a:ext cx="8503920" cy="320040"/>
          </a:xfrm>
          <a:prstGeom prst="rect">
            <a:avLst/>
          </a:prstGeom>
          <a:noFill/>
          <a:ln/>
        </p:spPr>
        <p:txBody>
          <a:bodyPr wrap="square" lIns="0" tIns="0" rIns="0" bIns="0" rtlCol="0" anchor="ctr"/>
          <a:lstStyle/>
          <a:p>
            <a:pPr indent="0" marL="0">
              <a:buNone/>
            </a:pPr>
            <a:r>
              <a:rPr lang="en-US" sz="1050" i="1" dirty="0">
                <a:solidFill>
                  <a:srgbClr val="8AAFC8"/>
                </a:solidFill>
                <a:latin typeface="Calibri" pitchFamily="34" charset="0"/>
                <a:ea typeface="Calibri" pitchFamily="34" charset="-122"/>
                <a:cs typeface="Calibri" pitchFamily="34" charset="-120"/>
              </a:rPr>
              <a:t>Parcours utilisateur des 3 personas — étapes, émotions, frictions &amp; opportunités</a:t>
            </a:r>
            <a:endParaRPr lang="en-US" sz="1050" dirty="0"/>
          </a:p>
        </p:txBody>
      </p:sp>
      <p:sp>
        <p:nvSpPr>
          <p:cNvPr id="6" name="Shape 4"/>
          <p:cNvSpPr/>
          <p:nvPr/>
        </p:nvSpPr>
        <p:spPr>
          <a:xfrm>
            <a:off x="0" y="4956048"/>
            <a:ext cx="9144000" cy="182880"/>
          </a:xfrm>
          <a:prstGeom prst="rect">
            <a:avLst/>
          </a:prstGeom>
          <a:solidFill>
            <a:srgbClr val="134E8E"/>
          </a:solidFill>
          <a:ln w="12700">
            <a:solidFill>
              <a:srgbClr val="134E8E"/>
            </a:solidFill>
            <a:prstDash val="solid"/>
          </a:ln>
        </p:spPr>
      </p:sp>
      <p:sp>
        <p:nvSpPr>
          <p:cNvPr id="7" name="Text 5"/>
          <p:cNvSpPr/>
          <p:nvPr/>
        </p:nvSpPr>
        <p:spPr>
          <a:xfrm>
            <a:off x="182880" y="4919472"/>
            <a:ext cx="8778240" cy="219456"/>
          </a:xfrm>
          <a:prstGeom prst="rect">
            <a:avLst/>
          </a:prstGeom>
          <a:noFill/>
          <a:ln/>
        </p:spPr>
        <p:txBody>
          <a:bodyPr wrap="square" lIns="0" tIns="0" rIns="0" bIns="0" rtlCol="0" anchor="ctr"/>
          <a:lstStyle/>
          <a:p>
            <a:pPr algn="r" indent="0" marL="0">
              <a:buNone/>
            </a:pPr>
            <a:r>
              <a:rPr lang="en-US" sz="850" dirty="0">
                <a:solidFill>
                  <a:srgbClr val="FFFFFF"/>
                </a:solidFill>
                <a:latin typeface="Calibri" pitchFamily="34" charset="0"/>
                <a:ea typeface="Calibri" pitchFamily="34" charset="-122"/>
                <a:cs typeface="Calibri" pitchFamily="34" charset="-120"/>
              </a:rPr>
              <a:t>Application Data APD  ·  AFD  ·  DPM Project 2025</a:t>
            </a:r>
            <a:endParaRPr lang="en-US" sz="850" dirty="0"/>
          </a:p>
        </p:txBody>
      </p:sp>
      <p:sp>
        <p:nvSpPr>
          <p:cNvPr id="8" name="Shape 6"/>
          <p:cNvSpPr/>
          <p:nvPr/>
        </p:nvSpPr>
        <p:spPr>
          <a:xfrm>
            <a:off x="137160" y="1115568"/>
            <a:ext cx="8869680" cy="1191768"/>
          </a:xfrm>
          <a:prstGeom prst="rect">
            <a:avLst/>
          </a:prstGeom>
          <a:solidFill>
            <a:srgbClr val="F7F8F0"/>
          </a:solidFill>
          <a:ln w="12700">
            <a:solidFill>
              <a:srgbClr val="DDE6F0"/>
            </a:solidFill>
            <a:prstDash val="solid"/>
          </a:ln>
        </p:spPr>
      </p:sp>
      <p:sp>
        <p:nvSpPr>
          <p:cNvPr id="9" name="Shape 7"/>
          <p:cNvSpPr/>
          <p:nvPr/>
        </p:nvSpPr>
        <p:spPr>
          <a:xfrm>
            <a:off x="137160" y="1115568"/>
            <a:ext cx="1261872" cy="1191768"/>
          </a:xfrm>
          <a:prstGeom prst="rect">
            <a:avLst/>
          </a:prstGeom>
          <a:solidFill>
            <a:srgbClr val="134E8E"/>
          </a:solidFill>
          <a:ln w="12700">
            <a:solidFill>
              <a:srgbClr val="134E8E"/>
            </a:solidFill>
            <a:prstDash val="solid"/>
          </a:ln>
        </p:spPr>
      </p:sp>
      <p:sp>
        <p:nvSpPr>
          <p:cNvPr id="10" name="Shape 8"/>
          <p:cNvSpPr/>
          <p:nvPr/>
        </p:nvSpPr>
        <p:spPr>
          <a:xfrm>
            <a:off x="603504" y="1170432"/>
            <a:ext cx="329184" cy="329184"/>
          </a:xfrm>
          <a:prstGeom prst="ellipse">
            <a:avLst/>
          </a:prstGeom>
          <a:solidFill>
            <a:srgbClr val="FFFFFF"/>
          </a:solidFill>
          <a:ln w="12700">
            <a:solidFill>
              <a:srgbClr val="FFFFFF"/>
            </a:solidFill>
            <a:prstDash val="solid"/>
          </a:ln>
        </p:spPr>
      </p:sp>
      <p:sp>
        <p:nvSpPr>
          <p:cNvPr id="11" name="Text 9"/>
          <p:cNvSpPr/>
          <p:nvPr/>
        </p:nvSpPr>
        <p:spPr>
          <a:xfrm>
            <a:off x="603504" y="1170432"/>
            <a:ext cx="329184" cy="329184"/>
          </a:xfrm>
          <a:prstGeom prst="rect">
            <a:avLst/>
          </a:prstGeom>
          <a:noFill/>
          <a:ln/>
        </p:spPr>
        <p:txBody>
          <a:bodyPr wrap="square" lIns="0" tIns="0" rIns="0" bIns="0" rtlCol="0" anchor="ctr"/>
          <a:lstStyle/>
          <a:p>
            <a:pPr algn="ctr" indent="0" marL="0">
              <a:buNone/>
            </a:pPr>
            <a:r>
              <a:rPr lang="en-US" sz="900" b="1" dirty="0">
                <a:solidFill>
                  <a:srgbClr val="134E8E"/>
                </a:solidFill>
                <a:latin typeface="Calibri" pitchFamily="34" charset="0"/>
                <a:ea typeface="Calibri" pitchFamily="34" charset="-122"/>
                <a:cs typeface="Calibri" pitchFamily="34" charset="-120"/>
              </a:rPr>
              <a:t>SM</a:t>
            </a:r>
            <a:endParaRPr lang="en-US" sz="900" dirty="0"/>
          </a:p>
        </p:txBody>
      </p:sp>
      <p:sp>
        <p:nvSpPr>
          <p:cNvPr id="12" name="Text 10"/>
          <p:cNvSpPr/>
          <p:nvPr/>
        </p:nvSpPr>
        <p:spPr>
          <a:xfrm>
            <a:off x="173736" y="1536192"/>
            <a:ext cx="11887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Sophie Martin</a:t>
            </a:r>
            <a:endParaRPr lang="en-US" sz="700" dirty="0"/>
          </a:p>
        </p:txBody>
      </p:sp>
      <p:sp>
        <p:nvSpPr>
          <p:cNvPr id="13" name="Text 11"/>
          <p:cNvSpPr/>
          <p:nvPr/>
        </p:nvSpPr>
        <p:spPr>
          <a:xfrm>
            <a:off x="173736" y="1719072"/>
            <a:ext cx="1188720" cy="219456"/>
          </a:xfrm>
          <a:prstGeom prst="rect">
            <a:avLst/>
          </a:prstGeom>
          <a:noFill/>
          <a:ln/>
        </p:spPr>
        <p:txBody>
          <a:bodyPr wrap="square" lIns="0" tIns="0" rIns="0" bIns="0" rtlCol="0" anchor="t"/>
          <a:lstStyle/>
          <a:p>
            <a:pPr algn="ctr" indent="0" marL="0">
              <a:lnSpc>
                <a:spcPct val="115000"/>
              </a:lnSpc>
              <a:buNone/>
            </a:pPr>
            <a:r>
              <a:rPr lang="en-US" sz="550" i="1" dirty="0">
                <a:solidFill>
                  <a:srgbClr val="C8DFF0"/>
                </a:solidFill>
                <a:latin typeface="Calibri" pitchFamily="34" charset="0"/>
                <a:ea typeface="Calibri" pitchFamily="34" charset="-122"/>
                <a:cs typeface="Calibri" pitchFamily="34" charset="-120"/>
              </a:rPr>
              <a:t>Responsable Programme · AFD</a:t>
            </a:r>
            <a:endParaRPr lang="en-US" sz="550" dirty="0"/>
          </a:p>
        </p:txBody>
      </p:sp>
      <p:sp>
        <p:nvSpPr>
          <p:cNvPr id="14" name="Text 12"/>
          <p:cNvSpPr/>
          <p:nvPr/>
        </p:nvSpPr>
        <p:spPr>
          <a:xfrm>
            <a:off x="173736" y="1947672"/>
            <a:ext cx="1188720" cy="347472"/>
          </a:xfrm>
          <a:prstGeom prst="rect">
            <a:avLst/>
          </a:prstGeom>
          <a:noFill/>
          <a:ln/>
        </p:spPr>
        <p:txBody>
          <a:bodyPr wrap="square" lIns="0" tIns="0" rIns="0" bIns="0" rtlCol="0" anchor="t"/>
          <a:lstStyle/>
          <a:p>
            <a:pPr algn="ctr" indent="0" marL="0">
              <a:lnSpc>
                <a:spcPct val="115000"/>
              </a:lnSpc>
              <a:buNone/>
            </a:pPr>
            <a:r>
              <a:rPr lang="en-US" sz="550" dirty="0">
                <a:solidFill>
                  <a:srgbClr val="D8EAF5"/>
                </a:solidFill>
                <a:latin typeface="Calibri" pitchFamily="34" charset="0"/>
                <a:ea typeface="Calibri" pitchFamily="34" charset="-122"/>
                <a:cs typeface="Calibri" pitchFamily="34" charset="-120"/>
              </a:rPr>
              <a:t>↗ Rapport trimestriel sur les allocations APD</a:t>
            </a:r>
            <a:endParaRPr lang="en-US" sz="550" dirty="0"/>
          </a:p>
        </p:txBody>
      </p:sp>
      <p:sp>
        <p:nvSpPr>
          <p:cNvPr id="15" name="Shape 13"/>
          <p:cNvSpPr/>
          <p:nvPr/>
        </p:nvSpPr>
        <p:spPr>
          <a:xfrm>
            <a:off x="1399032" y="1115568"/>
            <a:ext cx="1249680" cy="201168"/>
          </a:xfrm>
          <a:prstGeom prst="rect">
            <a:avLst/>
          </a:prstGeom>
          <a:solidFill>
            <a:srgbClr val="134E8E"/>
          </a:solidFill>
          <a:ln w="12700">
            <a:solidFill>
              <a:srgbClr val="134E8E"/>
            </a:solidFill>
            <a:prstDash val="solid"/>
          </a:ln>
        </p:spPr>
      </p:sp>
      <p:sp>
        <p:nvSpPr>
          <p:cNvPr id="16" name="Text 14"/>
          <p:cNvSpPr/>
          <p:nvPr/>
        </p:nvSpPr>
        <p:spPr>
          <a:xfrm>
            <a:off x="1444752" y="1115568"/>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1  Identification du besoin</a:t>
            </a:r>
            <a:endParaRPr lang="en-US" sz="600" dirty="0"/>
          </a:p>
        </p:txBody>
      </p:sp>
      <p:sp>
        <p:nvSpPr>
          <p:cNvPr id="17" name="Shape 15"/>
          <p:cNvSpPr/>
          <p:nvPr/>
        </p:nvSpPr>
        <p:spPr>
          <a:xfrm>
            <a:off x="1399032" y="1325880"/>
            <a:ext cx="1249680" cy="155448"/>
          </a:xfrm>
          <a:prstGeom prst="rect">
            <a:avLst/>
          </a:prstGeom>
          <a:solidFill>
            <a:srgbClr val="E07B3A"/>
          </a:solidFill>
          <a:ln w="12700">
            <a:solidFill>
              <a:srgbClr val="E07B3A"/>
            </a:solidFill>
            <a:prstDash val="solid"/>
          </a:ln>
        </p:spPr>
      </p:sp>
      <p:sp>
        <p:nvSpPr>
          <p:cNvPr id="18" name="Text 16"/>
          <p:cNvSpPr/>
          <p:nvPr/>
        </p:nvSpPr>
        <p:spPr>
          <a:xfrm>
            <a:off x="1444752" y="1325880"/>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Frustré·e</a:t>
            </a:r>
            <a:endParaRPr lang="en-US" sz="550" dirty="0"/>
          </a:p>
        </p:txBody>
      </p:sp>
      <p:sp>
        <p:nvSpPr>
          <p:cNvPr id="19" name="Text 17"/>
          <p:cNvSpPr/>
          <p:nvPr/>
        </p:nvSpPr>
        <p:spPr>
          <a:xfrm>
            <a:off x="1444752" y="1508760"/>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Pas d'outil centralisé</a:t>
            </a:r>
            <a:endParaRPr lang="en-US" sz="550" dirty="0"/>
          </a:p>
        </p:txBody>
      </p:sp>
      <p:sp>
        <p:nvSpPr>
          <p:cNvPr id="20" name="Text 18"/>
          <p:cNvSpPr/>
          <p:nvPr/>
        </p:nvSpPr>
        <p:spPr>
          <a:xfrm>
            <a:off x="1444752" y="1650492"/>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Données éparpillées en Excel</a:t>
            </a:r>
            <a:endParaRPr lang="en-US" sz="550" dirty="0"/>
          </a:p>
        </p:txBody>
      </p:sp>
      <p:sp>
        <p:nvSpPr>
          <p:cNvPr id="21" name="Shape 19"/>
          <p:cNvSpPr/>
          <p:nvPr/>
        </p:nvSpPr>
        <p:spPr>
          <a:xfrm>
            <a:off x="1399032" y="1819656"/>
            <a:ext cx="1249680" cy="451104"/>
          </a:xfrm>
          <a:prstGeom prst="rect">
            <a:avLst/>
          </a:prstGeom>
          <a:solidFill>
            <a:srgbClr val="EEF7EE"/>
          </a:solidFill>
          <a:ln w="12700">
            <a:solidFill>
              <a:srgbClr val="C8E6C8"/>
            </a:solidFill>
            <a:prstDash val="solid"/>
          </a:ln>
        </p:spPr>
      </p:sp>
      <p:sp>
        <p:nvSpPr>
          <p:cNvPr id="22" name="Text 20"/>
          <p:cNvSpPr/>
          <p:nvPr/>
        </p:nvSpPr>
        <p:spPr>
          <a:xfrm>
            <a:off x="1444752" y="1837944"/>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Tableau de bord de démarrage automatique</a:t>
            </a:r>
            <a:endParaRPr lang="en-US" sz="550" dirty="0"/>
          </a:p>
        </p:txBody>
      </p:sp>
      <p:sp>
        <p:nvSpPr>
          <p:cNvPr id="23" name="Shape 21"/>
          <p:cNvSpPr/>
          <p:nvPr/>
        </p:nvSpPr>
        <p:spPr>
          <a:xfrm>
            <a:off x="2667000" y="1115568"/>
            <a:ext cx="1249680" cy="201168"/>
          </a:xfrm>
          <a:prstGeom prst="rect">
            <a:avLst/>
          </a:prstGeom>
          <a:solidFill>
            <a:srgbClr val="134E8E"/>
          </a:solidFill>
          <a:ln w="12700">
            <a:solidFill>
              <a:srgbClr val="134E8E"/>
            </a:solidFill>
            <a:prstDash val="solid"/>
          </a:ln>
        </p:spPr>
      </p:sp>
      <p:sp>
        <p:nvSpPr>
          <p:cNvPr id="24" name="Text 22"/>
          <p:cNvSpPr/>
          <p:nvPr/>
        </p:nvSpPr>
        <p:spPr>
          <a:xfrm>
            <a:off x="2712720" y="1115568"/>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2  Connexion à l'outil</a:t>
            </a:r>
            <a:endParaRPr lang="en-US" sz="600" dirty="0"/>
          </a:p>
        </p:txBody>
      </p:sp>
      <p:sp>
        <p:nvSpPr>
          <p:cNvPr id="25" name="Shape 23"/>
          <p:cNvSpPr/>
          <p:nvPr/>
        </p:nvSpPr>
        <p:spPr>
          <a:xfrm>
            <a:off x="2667000" y="1325880"/>
            <a:ext cx="1249680" cy="155448"/>
          </a:xfrm>
          <a:prstGeom prst="rect">
            <a:avLst/>
          </a:prstGeom>
          <a:solidFill>
            <a:srgbClr val="7AAACE"/>
          </a:solidFill>
          <a:ln w="12700">
            <a:solidFill>
              <a:srgbClr val="7AAACE"/>
            </a:solidFill>
            <a:prstDash val="solid"/>
          </a:ln>
        </p:spPr>
      </p:sp>
      <p:sp>
        <p:nvSpPr>
          <p:cNvPr id="26" name="Text 24"/>
          <p:cNvSpPr/>
          <p:nvPr/>
        </p:nvSpPr>
        <p:spPr>
          <a:xfrm>
            <a:off x="2712720" y="1325880"/>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Neutre</a:t>
            </a:r>
            <a:endParaRPr lang="en-US" sz="550" dirty="0"/>
          </a:p>
        </p:txBody>
      </p:sp>
      <p:sp>
        <p:nvSpPr>
          <p:cNvPr id="27" name="Text 25"/>
          <p:cNvSpPr/>
          <p:nvPr/>
        </p:nvSpPr>
        <p:spPr>
          <a:xfrm>
            <a:off x="2712720" y="1508760"/>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Pas de confirmation fraîcheur</a:t>
            </a:r>
            <a:endParaRPr lang="en-US" sz="550" dirty="0"/>
          </a:p>
        </p:txBody>
      </p:sp>
      <p:sp>
        <p:nvSpPr>
          <p:cNvPr id="28" name="Text 26"/>
          <p:cNvSpPr/>
          <p:nvPr/>
        </p:nvSpPr>
        <p:spPr>
          <a:xfrm>
            <a:off x="2712720" y="1650492"/>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Interface peu intuitive</a:t>
            </a:r>
            <a:endParaRPr lang="en-US" sz="550" dirty="0"/>
          </a:p>
        </p:txBody>
      </p:sp>
      <p:sp>
        <p:nvSpPr>
          <p:cNvPr id="29" name="Shape 27"/>
          <p:cNvSpPr/>
          <p:nvPr/>
        </p:nvSpPr>
        <p:spPr>
          <a:xfrm>
            <a:off x="2667000" y="1819656"/>
            <a:ext cx="1249680" cy="451104"/>
          </a:xfrm>
          <a:prstGeom prst="rect">
            <a:avLst/>
          </a:prstGeom>
          <a:solidFill>
            <a:srgbClr val="EEF7EE"/>
          </a:solidFill>
          <a:ln w="12700">
            <a:solidFill>
              <a:srgbClr val="C8E6C8"/>
            </a:solidFill>
            <a:prstDash val="solid"/>
          </a:ln>
        </p:spPr>
      </p:sp>
      <p:sp>
        <p:nvSpPr>
          <p:cNvPr id="30" name="Text 28"/>
          <p:cNvSpPr/>
          <p:nvPr/>
        </p:nvSpPr>
        <p:spPr>
          <a:xfrm>
            <a:off x="2712720" y="1837944"/>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Indicateur date MAJ + guide contextuel</a:t>
            </a:r>
            <a:endParaRPr lang="en-US" sz="550" dirty="0"/>
          </a:p>
        </p:txBody>
      </p:sp>
      <p:sp>
        <p:nvSpPr>
          <p:cNvPr id="31" name="Shape 29"/>
          <p:cNvSpPr/>
          <p:nvPr/>
        </p:nvSpPr>
        <p:spPr>
          <a:xfrm>
            <a:off x="3934968" y="1115568"/>
            <a:ext cx="1249680" cy="201168"/>
          </a:xfrm>
          <a:prstGeom prst="rect">
            <a:avLst/>
          </a:prstGeom>
          <a:solidFill>
            <a:srgbClr val="134E8E"/>
          </a:solidFill>
          <a:ln w="12700">
            <a:solidFill>
              <a:srgbClr val="134E8E"/>
            </a:solidFill>
            <a:prstDash val="solid"/>
          </a:ln>
        </p:spPr>
      </p:sp>
      <p:sp>
        <p:nvSpPr>
          <p:cNvPr id="32" name="Text 30"/>
          <p:cNvSpPr/>
          <p:nvPr/>
        </p:nvSpPr>
        <p:spPr>
          <a:xfrm>
            <a:off x="3980688" y="1115568"/>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3  Recherche &amp; Filtrage</a:t>
            </a:r>
            <a:endParaRPr lang="en-US" sz="600" dirty="0"/>
          </a:p>
        </p:txBody>
      </p:sp>
      <p:sp>
        <p:nvSpPr>
          <p:cNvPr id="33" name="Shape 31"/>
          <p:cNvSpPr/>
          <p:nvPr/>
        </p:nvSpPr>
        <p:spPr>
          <a:xfrm>
            <a:off x="3934968" y="1325880"/>
            <a:ext cx="1249680" cy="155448"/>
          </a:xfrm>
          <a:prstGeom prst="rect">
            <a:avLst/>
          </a:prstGeom>
          <a:solidFill>
            <a:srgbClr val="7AAACE"/>
          </a:solidFill>
          <a:ln w="12700">
            <a:solidFill>
              <a:srgbClr val="7AAACE"/>
            </a:solidFill>
            <a:prstDash val="solid"/>
          </a:ln>
        </p:spPr>
      </p:sp>
      <p:sp>
        <p:nvSpPr>
          <p:cNvPr id="34" name="Text 32"/>
          <p:cNvSpPr/>
          <p:nvPr/>
        </p:nvSpPr>
        <p:spPr>
          <a:xfrm>
            <a:off x="3980688" y="1325880"/>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Neutre</a:t>
            </a:r>
            <a:endParaRPr lang="en-US" sz="550" dirty="0"/>
          </a:p>
        </p:txBody>
      </p:sp>
      <p:sp>
        <p:nvSpPr>
          <p:cNvPr id="35" name="Text 33"/>
          <p:cNvSpPr/>
          <p:nvPr/>
        </p:nvSpPr>
        <p:spPr>
          <a:xfrm>
            <a:off x="3980688" y="1508760"/>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Filtres non combinables</a:t>
            </a:r>
            <a:endParaRPr lang="en-US" sz="550" dirty="0"/>
          </a:p>
        </p:txBody>
      </p:sp>
      <p:sp>
        <p:nvSpPr>
          <p:cNvPr id="36" name="Text 34"/>
          <p:cNvSpPr/>
          <p:nvPr/>
        </p:nvSpPr>
        <p:spPr>
          <a:xfrm>
            <a:off x="3980688" y="1650492"/>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Nomenclature secteurs peu claire</a:t>
            </a:r>
            <a:endParaRPr lang="en-US" sz="550" dirty="0"/>
          </a:p>
        </p:txBody>
      </p:sp>
      <p:sp>
        <p:nvSpPr>
          <p:cNvPr id="37" name="Shape 35"/>
          <p:cNvSpPr/>
          <p:nvPr/>
        </p:nvSpPr>
        <p:spPr>
          <a:xfrm>
            <a:off x="3934968" y="1819656"/>
            <a:ext cx="1249680" cy="451104"/>
          </a:xfrm>
          <a:prstGeom prst="rect">
            <a:avLst/>
          </a:prstGeom>
          <a:solidFill>
            <a:srgbClr val="EEF7EE"/>
          </a:solidFill>
          <a:ln w="12700">
            <a:solidFill>
              <a:srgbClr val="C8E6C8"/>
            </a:solidFill>
            <a:prstDash val="solid"/>
          </a:ln>
        </p:spPr>
      </p:sp>
      <p:sp>
        <p:nvSpPr>
          <p:cNvPr id="38" name="Text 36"/>
          <p:cNvSpPr/>
          <p:nvPr/>
        </p:nvSpPr>
        <p:spPr>
          <a:xfrm>
            <a:off x="3980688" y="1837944"/>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Filtres multi-critères sauvegardables</a:t>
            </a:r>
            <a:endParaRPr lang="en-US" sz="550" dirty="0"/>
          </a:p>
        </p:txBody>
      </p:sp>
      <p:sp>
        <p:nvSpPr>
          <p:cNvPr id="39" name="Shape 37"/>
          <p:cNvSpPr/>
          <p:nvPr/>
        </p:nvSpPr>
        <p:spPr>
          <a:xfrm>
            <a:off x="5202936" y="1115568"/>
            <a:ext cx="1249680" cy="201168"/>
          </a:xfrm>
          <a:prstGeom prst="rect">
            <a:avLst/>
          </a:prstGeom>
          <a:solidFill>
            <a:srgbClr val="134E8E"/>
          </a:solidFill>
          <a:ln w="12700">
            <a:solidFill>
              <a:srgbClr val="134E8E"/>
            </a:solidFill>
            <a:prstDash val="solid"/>
          </a:ln>
        </p:spPr>
      </p:sp>
      <p:sp>
        <p:nvSpPr>
          <p:cNvPr id="40" name="Text 38"/>
          <p:cNvSpPr/>
          <p:nvPr/>
        </p:nvSpPr>
        <p:spPr>
          <a:xfrm>
            <a:off x="5248656" y="1115568"/>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4  Analyse &amp; Visualisation</a:t>
            </a:r>
            <a:endParaRPr lang="en-US" sz="600" dirty="0"/>
          </a:p>
        </p:txBody>
      </p:sp>
      <p:sp>
        <p:nvSpPr>
          <p:cNvPr id="41" name="Shape 39"/>
          <p:cNvSpPr/>
          <p:nvPr/>
        </p:nvSpPr>
        <p:spPr>
          <a:xfrm>
            <a:off x="5202936" y="1325880"/>
            <a:ext cx="1249680" cy="155448"/>
          </a:xfrm>
          <a:prstGeom prst="rect">
            <a:avLst/>
          </a:prstGeom>
          <a:solidFill>
            <a:srgbClr val="1A7A4A"/>
          </a:solidFill>
          <a:ln w="12700">
            <a:solidFill>
              <a:srgbClr val="1A7A4A"/>
            </a:solidFill>
            <a:prstDash val="solid"/>
          </a:ln>
        </p:spPr>
      </p:sp>
      <p:sp>
        <p:nvSpPr>
          <p:cNvPr id="42" name="Text 40"/>
          <p:cNvSpPr/>
          <p:nvPr/>
        </p:nvSpPr>
        <p:spPr>
          <a:xfrm>
            <a:off x="5248656" y="1325880"/>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Satisfait·e</a:t>
            </a:r>
            <a:endParaRPr lang="en-US" sz="550" dirty="0"/>
          </a:p>
        </p:txBody>
      </p:sp>
      <p:sp>
        <p:nvSpPr>
          <p:cNvPr id="43" name="Text 41"/>
          <p:cNvSpPr/>
          <p:nvPr/>
        </p:nvSpPr>
        <p:spPr>
          <a:xfrm>
            <a:off x="5248656" y="1508760"/>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Pas d'annotation contextuelle</a:t>
            </a:r>
            <a:endParaRPr lang="en-US" sz="550" dirty="0"/>
          </a:p>
        </p:txBody>
      </p:sp>
      <p:sp>
        <p:nvSpPr>
          <p:cNvPr id="44" name="Text 42"/>
          <p:cNvSpPr/>
          <p:nvPr/>
        </p:nvSpPr>
        <p:spPr>
          <a:xfrm>
            <a:off x="5248656" y="1650492"/>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Impossible de superposer 2 pays</a:t>
            </a:r>
            <a:endParaRPr lang="en-US" sz="550" dirty="0"/>
          </a:p>
        </p:txBody>
      </p:sp>
      <p:sp>
        <p:nvSpPr>
          <p:cNvPr id="45" name="Shape 43"/>
          <p:cNvSpPr/>
          <p:nvPr/>
        </p:nvSpPr>
        <p:spPr>
          <a:xfrm>
            <a:off x="5202936" y="1819656"/>
            <a:ext cx="1249680" cy="451104"/>
          </a:xfrm>
          <a:prstGeom prst="rect">
            <a:avLst/>
          </a:prstGeom>
          <a:solidFill>
            <a:srgbClr val="EEF7EE"/>
          </a:solidFill>
          <a:ln w="12700">
            <a:solidFill>
              <a:srgbClr val="C8E6C8"/>
            </a:solidFill>
            <a:prstDash val="solid"/>
          </a:ln>
        </p:spPr>
      </p:sp>
      <p:sp>
        <p:nvSpPr>
          <p:cNvPr id="46" name="Text 44"/>
          <p:cNvSpPr/>
          <p:nvPr/>
        </p:nvSpPr>
        <p:spPr>
          <a:xfrm>
            <a:off x="5248656" y="1837944"/>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Annotations contextuelles (COVID, COP26)</a:t>
            </a:r>
            <a:endParaRPr lang="en-US" sz="550" dirty="0"/>
          </a:p>
        </p:txBody>
      </p:sp>
      <p:sp>
        <p:nvSpPr>
          <p:cNvPr id="47" name="Shape 45"/>
          <p:cNvSpPr/>
          <p:nvPr/>
        </p:nvSpPr>
        <p:spPr>
          <a:xfrm>
            <a:off x="6470904" y="1115568"/>
            <a:ext cx="1249680" cy="201168"/>
          </a:xfrm>
          <a:prstGeom prst="rect">
            <a:avLst/>
          </a:prstGeom>
          <a:solidFill>
            <a:srgbClr val="134E8E"/>
          </a:solidFill>
          <a:ln w="12700">
            <a:solidFill>
              <a:srgbClr val="134E8E"/>
            </a:solidFill>
            <a:prstDash val="solid"/>
          </a:ln>
        </p:spPr>
      </p:sp>
      <p:sp>
        <p:nvSpPr>
          <p:cNvPr id="48" name="Text 46"/>
          <p:cNvSpPr/>
          <p:nvPr/>
        </p:nvSpPr>
        <p:spPr>
          <a:xfrm>
            <a:off x="6516624" y="1115568"/>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5  Rédaction du rapport</a:t>
            </a:r>
            <a:endParaRPr lang="en-US" sz="600" dirty="0"/>
          </a:p>
        </p:txBody>
      </p:sp>
      <p:sp>
        <p:nvSpPr>
          <p:cNvPr id="49" name="Shape 47"/>
          <p:cNvSpPr/>
          <p:nvPr/>
        </p:nvSpPr>
        <p:spPr>
          <a:xfrm>
            <a:off x="6470904" y="1325880"/>
            <a:ext cx="1249680" cy="155448"/>
          </a:xfrm>
          <a:prstGeom prst="rect">
            <a:avLst/>
          </a:prstGeom>
          <a:solidFill>
            <a:srgbClr val="E07B3A"/>
          </a:solidFill>
          <a:ln w="12700">
            <a:solidFill>
              <a:srgbClr val="E07B3A"/>
            </a:solidFill>
            <a:prstDash val="solid"/>
          </a:ln>
        </p:spPr>
      </p:sp>
      <p:sp>
        <p:nvSpPr>
          <p:cNvPr id="50" name="Text 48"/>
          <p:cNvSpPr/>
          <p:nvPr/>
        </p:nvSpPr>
        <p:spPr>
          <a:xfrm>
            <a:off x="6516624" y="1325880"/>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Frustré·e</a:t>
            </a:r>
            <a:endParaRPr lang="en-US" sz="550" dirty="0"/>
          </a:p>
        </p:txBody>
      </p:sp>
      <p:sp>
        <p:nvSpPr>
          <p:cNvPr id="51" name="Text 49"/>
          <p:cNvSpPr/>
          <p:nvPr/>
        </p:nvSpPr>
        <p:spPr>
          <a:xfrm>
            <a:off x="6516624" y="1508760"/>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Pas d'export PPTX/Word natif</a:t>
            </a:r>
            <a:endParaRPr lang="en-US" sz="550" dirty="0"/>
          </a:p>
        </p:txBody>
      </p:sp>
      <p:sp>
        <p:nvSpPr>
          <p:cNvPr id="52" name="Text 50"/>
          <p:cNvSpPr/>
          <p:nvPr/>
        </p:nvSpPr>
        <p:spPr>
          <a:xfrm>
            <a:off x="6516624" y="1650492"/>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Copy-paste manuel = erreurs</a:t>
            </a:r>
            <a:endParaRPr lang="en-US" sz="550" dirty="0"/>
          </a:p>
        </p:txBody>
      </p:sp>
      <p:sp>
        <p:nvSpPr>
          <p:cNvPr id="53" name="Shape 51"/>
          <p:cNvSpPr/>
          <p:nvPr/>
        </p:nvSpPr>
        <p:spPr>
          <a:xfrm>
            <a:off x="6470904" y="1819656"/>
            <a:ext cx="1249680" cy="451104"/>
          </a:xfrm>
          <a:prstGeom prst="rect">
            <a:avLst/>
          </a:prstGeom>
          <a:solidFill>
            <a:srgbClr val="EEF7EE"/>
          </a:solidFill>
          <a:ln w="12700">
            <a:solidFill>
              <a:srgbClr val="C8E6C8"/>
            </a:solidFill>
            <a:prstDash val="solid"/>
          </a:ln>
        </p:spPr>
      </p:sp>
      <p:sp>
        <p:nvSpPr>
          <p:cNvPr id="54" name="Text 52"/>
          <p:cNvSpPr/>
          <p:nvPr/>
        </p:nvSpPr>
        <p:spPr>
          <a:xfrm>
            <a:off x="6516624" y="1837944"/>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Export 1 clic : rapport PPTX/PDF préformaté</a:t>
            </a:r>
            <a:endParaRPr lang="en-US" sz="550" dirty="0"/>
          </a:p>
        </p:txBody>
      </p:sp>
      <p:sp>
        <p:nvSpPr>
          <p:cNvPr id="55" name="Shape 53"/>
          <p:cNvSpPr/>
          <p:nvPr/>
        </p:nvSpPr>
        <p:spPr>
          <a:xfrm>
            <a:off x="7738872" y="1115568"/>
            <a:ext cx="1249680" cy="201168"/>
          </a:xfrm>
          <a:prstGeom prst="rect">
            <a:avLst/>
          </a:prstGeom>
          <a:solidFill>
            <a:srgbClr val="134E8E"/>
          </a:solidFill>
          <a:ln w="12700">
            <a:solidFill>
              <a:srgbClr val="134E8E"/>
            </a:solidFill>
            <a:prstDash val="solid"/>
          </a:ln>
        </p:spPr>
      </p:sp>
      <p:sp>
        <p:nvSpPr>
          <p:cNvPr id="56" name="Text 54"/>
          <p:cNvSpPr/>
          <p:nvPr/>
        </p:nvSpPr>
        <p:spPr>
          <a:xfrm>
            <a:off x="7784592" y="1115568"/>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6  Partage &amp; Décision</a:t>
            </a:r>
            <a:endParaRPr lang="en-US" sz="600" dirty="0"/>
          </a:p>
        </p:txBody>
      </p:sp>
      <p:sp>
        <p:nvSpPr>
          <p:cNvPr id="57" name="Shape 55"/>
          <p:cNvSpPr/>
          <p:nvPr/>
        </p:nvSpPr>
        <p:spPr>
          <a:xfrm>
            <a:off x="7738872" y="1325880"/>
            <a:ext cx="1249680" cy="155448"/>
          </a:xfrm>
          <a:prstGeom prst="rect">
            <a:avLst/>
          </a:prstGeom>
          <a:solidFill>
            <a:srgbClr val="7AAACE"/>
          </a:solidFill>
          <a:ln w="12700">
            <a:solidFill>
              <a:srgbClr val="7AAACE"/>
            </a:solidFill>
            <a:prstDash val="solid"/>
          </a:ln>
        </p:spPr>
      </p:sp>
      <p:sp>
        <p:nvSpPr>
          <p:cNvPr id="58" name="Text 56"/>
          <p:cNvSpPr/>
          <p:nvPr/>
        </p:nvSpPr>
        <p:spPr>
          <a:xfrm>
            <a:off x="7784592" y="1325880"/>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Neutre</a:t>
            </a:r>
            <a:endParaRPr lang="en-US" sz="550" dirty="0"/>
          </a:p>
        </p:txBody>
      </p:sp>
      <p:sp>
        <p:nvSpPr>
          <p:cNvPr id="59" name="Text 57"/>
          <p:cNvSpPr/>
          <p:nvPr/>
        </p:nvSpPr>
        <p:spPr>
          <a:xfrm>
            <a:off x="7784592" y="1508760"/>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Rapport statique non actualisable</a:t>
            </a:r>
            <a:endParaRPr lang="en-US" sz="550" dirty="0"/>
          </a:p>
        </p:txBody>
      </p:sp>
      <p:sp>
        <p:nvSpPr>
          <p:cNvPr id="60" name="Text 58"/>
          <p:cNvSpPr/>
          <p:nvPr/>
        </p:nvSpPr>
        <p:spPr>
          <a:xfrm>
            <a:off x="7784592" y="1650492"/>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Pas de partage de vue dynamique</a:t>
            </a:r>
            <a:endParaRPr lang="en-US" sz="550" dirty="0"/>
          </a:p>
        </p:txBody>
      </p:sp>
      <p:sp>
        <p:nvSpPr>
          <p:cNvPr id="61" name="Shape 59"/>
          <p:cNvSpPr/>
          <p:nvPr/>
        </p:nvSpPr>
        <p:spPr>
          <a:xfrm>
            <a:off x="7738872" y="1819656"/>
            <a:ext cx="1249680" cy="451104"/>
          </a:xfrm>
          <a:prstGeom prst="rect">
            <a:avLst/>
          </a:prstGeom>
          <a:solidFill>
            <a:srgbClr val="EEF7EE"/>
          </a:solidFill>
          <a:ln w="12700">
            <a:solidFill>
              <a:srgbClr val="C8E6C8"/>
            </a:solidFill>
            <a:prstDash val="solid"/>
          </a:ln>
        </p:spPr>
      </p:sp>
      <p:sp>
        <p:nvSpPr>
          <p:cNvPr id="62" name="Text 60"/>
          <p:cNvSpPr/>
          <p:nvPr/>
        </p:nvSpPr>
        <p:spPr>
          <a:xfrm>
            <a:off x="7784592" y="1837944"/>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Lien partageable vers vue filtrée actualisée</a:t>
            </a:r>
            <a:endParaRPr lang="en-US" sz="550" dirty="0"/>
          </a:p>
        </p:txBody>
      </p:sp>
      <p:sp>
        <p:nvSpPr>
          <p:cNvPr id="63" name="Shape 61"/>
          <p:cNvSpPr/>
          <p:nvPr/>
        </p:nvSpPr>
        <p:spPr>
          <a:xfrm>
            <a:off x="137160" y="2371344"/>
            <a:ext cx="8869680" cy="1191768"/>
          </a:xfrm>
          <a:prstGeom prst="rect">
            <a:avLst/>
          </a:prstGeom>
          <a:solidFill>
            <a:srgbClr val="F7F8F0"/>
          </a:solidFill>
          <a:ln w="12700">
            <a:solidFill>
              <a:srgbClr val="DDE6F0"/>
            </a:solidFill>
            <a:prstDash val="solid"/>
          </a:ln>
        </p:spPr>
      </p:sp>
      <p:sp>
        <p:nvSpPr>
          <p:cNvPr id="64" name="Shape 62"/>
          <p:cNvSpPr/>
          <p:nvPr/>
        </p:nvSpPr>
        <p:spPr>
          <a:xfrm>
            <a:off x="137160" y="2371344"/>
            <a:ext cx="1261872" cy="1191768"/>
          </a:xfrm>
          <a:prstGeom prst="rect">
            <a:avLst/>
          </a:prstGeom>
          <a:solidFill>
            <a:srgbClr val="C00707"/>
          </a:solidFill>
          <a:ln w="12700">
            <a:solidFill>
              <a:srgbClr val="C00707"/>
            </a:solidFill>
            <a:prstDash val="solid"/>
          </a:ln>
        </p:spPr>
      </p:sp>
      <p:sp>
        <p:nvSpPr>
          <p:cNvPr id="65" name="Shape 63"/>
          <p:cNvSpPr/>
          <p:nvPr/>
        </p:nvSpPr>
        <p:spPr>
          <a:xfrm>
            <a:off x="603504" y="2426208"/>
            <a:ext cx="329184" cy="329184"/>
          </a:xfrm>
          <a:prstGeom prst="ellipse">
            <a:avLst/>
          </a:prstGeom>
          <a:solidFill>
            <a:srgbClr val="FFFFFF"/>
          </a:solidFill>
          <a:ln w="12700">
            <a:solidFill>
              <a:srgbClr val="FFFFFF"/>
            </a:solidFill>
            <a:prstDash val="solid"/>
          </a:ln>
        </p:spPr>
      </p:sp>
      <p:sp>
        <p:nvSpPr>
          <p:cNvPr id="66" name="Text 64"/>
          <p:cNvSpPr/>
          <p:nvPr/>
        </p:nvSpPr>
        <p:spPr>
          <a:xfrm>
            <a:off x="603504" y="2426208"/>
            <a:ext cx="329184" cy="329184"/>
          </a:xfrm>
          <a:prstGeom prst="rect">
            <a:avLst/>
          </a:prstGeom>
          <a:noFill/>
          <a:ln/>
        </p:spPr>
        <p:txBody>
          <a:bodyPr wrap="square" lIns="0" tIns="0" rIns="0" bIns="0" rtlCol="0" anchor="ctr"/>
          <a:lstStyle/>
          <a:p>
            <a:pPr algn="ctr" indent="0" marL="0">
              <a:buNone/>
            </a:pPr>
            <a:r>
              <a:rPr lang="en-US" sz="900" b="1" dirty="0">
                <a:solidFill>
                  <a:srgbClr val="C00707"/>
                </a:solidFill>
                <a:latin typeface="Calibri" pitchFamily="34" charset="0"/>
                <a:ea typeface="Calibri" pitchFamily="34" charset="-122"/>
                <a:cs typeface="Calibri" pitchFamily="34" charset="-120"/>
              </a:rPr>
              <a:t>AL</a:t>
            </a:r>
            <a:endParaRPr lang="en-US" sz="900" dirty="0"/>
          </a:p>
        </p:txBody>
      </p:sp>
      <p:sp>
        <p:nvSpPr>
          <p:cNvPr id="67" name="Text 65"/>
          <p:cNvSpPr/>
          <p:nvPr/>
        </p:nvSpPr>
        <p:spPr>
          <a:xfrm>
            <a:off x="173736" y="2791968"/>
            <a:ext cx="11887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Arnaud Lecomte</a:t>
            </a:r>
            <a:endParaRPr lang="en-US" sz="700" dirty="0"/>
          </a:p>
        </p:txBody>
      </p:sp>
      <p:sp>
        <p:nvSpPr>
          <p:cNvPr id="68" name="Text 66"/>
          <p:cNvSpPr/>
          <p:nvPr/>
        </p:nvSpPr>
        <p:spPr>
          <a:xfrm>
            <a:off x="173736" y="2974848"/>
            <a:ext cx="1188720" cy="219456"/>
          </a:xfrm>
          <a:prstGeom prst="rect">
            <a:avLst/>
          </a:prstGeom>
          <a:noFill/>
          <a:ln/>
        </p:spPr>
        <p:txBody>
          <a:bodyPr wrap="square" lIns="0" tIns="0" rIns="0" bIns="0" rtlCol="0" anchor="t"/>
          <a:lstStyle/>
          <a:p>
            <a:pPr algn="ctr" indent="0" marL="0">
              <a:lnSpc>
                <a:spcPct val="115000"/>
              </a:lnSpc>
              <a:buNone/>
            </a:pPr>
            <a:r>
              <a:rPr lang="en-US" sz="550" i="1" dirty="0">
                <a:solidFill>
                  <a:srgbClr val="C8DFF0"/>
                </a:solidFill>
                <a:latin typeface="Calibri" pitchFamily="34" charset="0"/>
                <a:ea typeface="Calibri" pitchFamily="34" charset="-122"/>
                <a:cs typeface="Calibri" pitchFamily="34" charset="-120"/>
              </a:rPr>
              <a:t>Dir. Coopération bilatérale · MEAE</a:t>
            </a:r>
            <a:endParaRPr lang="en-US" sz="550" dirty="0"/>
          </a:p>
        </p:txBody>
      </p:sp>
      <p:sp>
        <p:nvSpPr>
          <p:cNvPr id="69" name="Text 67"/>
          <p:cNvSpPr/>
          <p:nvPr/>
        </p:nvSpPr>
        <p:spPr>
          <a:xfrm>
            <a:off x="173736" y="3203448"/>
            <a:ext cx="1188720" cy="347472"/>
          </a:xfrm>
          <a:prstGeom prst="rect">
            <a:avLst/>
          </a:prstGeom>
          <a:noFill/>
          <a:ln/>
        </p:spPr>
        <p:txBody>
          <a:bodyPr wrap="square" lIns="0" tIns="0" rIns="0" bIns="0" rtlCol="0" anchor="t"/>
          <a:lstStyle/>
          <a:p>
            <a:pPr algn="ctr" indent="0" marL="0">
              <a:lnSpc>
                <a:spcPct val="115000"/>
              </a:lnSpc>
              <a:buNone/>
            </a:pPr>
            <a:r>
              <a:rPr lang="en-US" sz="550" dirty="0">
                <a:solidFill>
                  <a:srgbClr val="D8EAF5"/>
                </a:solidFill>
                <a:latin typeface="Calibri" pitchFamily="34" charset="0"/>
                <a:ea typeface="Calibri" pitchFamily="34" charset="-122"/>
                <a:cs typeface="Calibri" pitchFamily="34" charset="-120"/>
              </a:rPr>
              <a:t>↗ Intervention au G7 sur les engagements APD</a:t>
            </a:r>
            <a:endParaRPr lang="en-US" sz="550" dirty="0"/>
          </a:p>
        </p:txBody>
      </p:sp>
      <p:sp>
        <p:nvSpPr>
          <p:cNvPr id="70" name="Shape 68"/>
          <p:cNvSpPr/>
          <p:nvPr/>
        </p:nvSpPr>
        <p:spPr>
          <a:xfrm>
            <a:off x="1399032" y="2371344"/>
            <a:ext cx="1249680" cy="201168"/>
          </a:xfrm>
          <a:prstGeom prst="rect">
            <a:avLst/>
          </a:prstGeom>
          <a:solidFill>
            <a:srgbClr val="C00707"/>
          </a:solidFill>
          <a:ln w="12700">
            <a:solidFill>
              <a:srgbClr val="C00707"/>
            </a:solidFill>
            <a:prstDash val="solid"/>
          </a:ln>
        </p:spPr>
      </p:sp>
      <p:sp>
        <p:nvSpPr>
          <p:cNvPr id="71" name="Text 69"/>
          <p:cNvSpPr/>
          <p:nvPr/>
        </p:nvSpPr>
        <p:spPr>
          <a:xfrm>
            <a:off x="1444752" y="2371344"/>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1  Besoin de briefing</a:t>
            </a:r>
            <a:endParaRPr lang="en-US" sz="600" dirty="0"/>
          </a:p>
        </p:txBody>
      </p:sp>
      <p:sp>
        <p:nvSpPr>
          <p:cNvPr id="72" name="Shape 70"/>
          <p:cNvSpPr/>
          <p:nvPr/>
        </p:nvSpPr>
        <p:spPr>
          <a:xfrm>
            <a:off x="1399032" y="2581656"/>
            <a:ext cx="1249680" cy="155448"/>
          </a:xfrm>
          <a:prstGeom prst="rect">
            <a:avLst/>
          </a:prstGeom>
          <a:solidFill>
            <a:srgbClr val="E07B3A"/>
          </a:solidFill>
          <a:ln w="12700">
            <a:solidFill>
              <a:srgbClr val="E07B3A"/>
            </a:solidFill>
            <a:prstDash val="solid"/>
          </a:ln>
        </p:spPr>
      </p:sp>
      <p:sp>
        <p:nvSpPr>
          <p:cNvPr id="73" name="Text 71"/>
          <p:cNvSpPr/>
          <p:nvPr/>
        </p:nvSpPr>
        <p:spPr>
          <a:xfrm>
            <a:off x="1444752" y="2581656"/>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Frustré·e</a:t>
            </a:r>
            <a:endParaRPr lang="en-US" sz="550" dirty="0"/>
          </a:p>
        </p:txBody>
      </p:sp>
      <p:sp>
        <p:nvSpPr>
          <p:cNvPr id="74" name="Text 72"/>
          <p:cNvSpPr/>
          <p:nvPr/>
        </p:nvSpPr>
        <p:spPr>
          <a:xfrm>
            <a:off x="1444752" y="2764536"/>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Données OCDE avec 18 mois de retard</a:t>
            </a:r>
            <a:endParaRPr lang="en-US" sz="550" dirty="0"/>
          </a:p>
        </p:txBody>
      </p:sp>
      <p:sp>
        <p:nvSpPr>
          <p:cNvPr id="75" name="Text 73"/>
          <p:cNvSpPr/>
          <p:nvPr/>
        </p:nvSpPr>
        <p:spPr>
          <a:xfrm>
            <a:off x="1444752" y="2906268"/>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Pas d'outil comparaison directe</a:t>
            </a:r>
            <a:endParaRPr lang="en-US" sz="550" dirty="0"/>
          </a:p>
        </p:txBody>
      </p:sp>
      <p:sp>
        <p:nvSpPr>
          <p:cNvPr id="76" name="Shape 74"/>
          <p:cNvSpPr/>
          <p:nvPr/>
        </p:nvSpPr>
        <p:spPr>
          <a:xfrm>
            <a:off x="1399032" y="3075432"/>
            <a:ext cx="1249680" cy="451104"/>
          </a:xfrm>
          <a:prstGeom prst="rect">
            <a:avLst/>
          </a:prstGeom>
          <a:solidFill>
            <a:srgbClr val="EEF7EE"/>
          </a:solidFill>
          <a:ln w="12700">
            <a:solidFill>
              <a:srgbClr val="C8E6C8"/>
            </a:solidFill>
            <a:prstDash val="solid"/>
          </a:ln>
        </p:spPr>
      </p:sp>
      <p:sp>
        <p:nvSpPr>
          <p:cNvPr id="77" name="Text 75"/>
          <p:cNvSpPr/>
          <p:nvPr/>
        </p:nvSpPr>
        <p:spPr>
          <a:xfrm>
            <a:off x="1444752" y="3093720"/>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Vue comparative instantanée France vs. G7</a:t>
            </a:r>
            <a:endParaRPr lang="en-US" sz="550" dirty="0"/>
          </a:p>
        </p:txBody>
      </p:sp>
      <p:sp>
        <p:nvSpPr>
          <p:cNvPr id="78" name="Shape 76"/>
          <p:cNvSpPr/>
          <p:nvPr/>
        </p:nvSpPr>
        <p:spPr>
          <a:xfrm>
            <a:off x="2667000" y="2371344"/>
            <a:ext cx="1249680" cy="201168"/>
          </a:xfrm>
          <a:prstGeom prst="rect">
            <a:avLst/>
          </a:prstGeom>
          <a:solidFill>
            <a:srgbClr val="C00707"/>
          </a:solidFill>
          <a:ln w="12700">
            <a:solidFill>
              <a:srgbClr val="C00707"/>
            </a:solidFill>
            <a:prstDash val="solid"/>
          </a:ln>
        </p:spPr>
      </p:sp>
      <p:sp>
        <p:nvSpPr>
          <p:cNvPr id="79" name="Text 77"/>
          <p:cNvSpPr/>
          <p:nvPr/>
        </p:nvSpPr>
        <p:spPr>
          <a:xfrm>
            <a:off x="2712720" y="2371344"/>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2  Accès à l'application</a:t>
            </a:r>
            <a:endParaRPr lang="en-US" sz="600" dirty="0"/>
          </a:p>
        </p:txBody>
      </p:sp>
      <p:sp>
        <p:nvSpPr>
          <p:cNvPr id="80" name="Shape 78"/>
          <p:cNvSpPr/>
          <p:nvPr/>
        </p:nvSpPr>
        <p:spPr>
          <a:xfrm>
            <a:off x="2667000" y="2581656"/>
            <a:ext cx="1249680" cy="155448"/>
          </a:xfrm>
          <a:prstGeom prst="rect">
            <a:avLst/>
          </a:prstGeom>
          <a:solidFill>
            <a:srgbClr val="E07B3A"/>
          </a:solidFill>
          <a:ln w="12700">
            <a:solidFill>
              <a:srgbClr val="E07B3A"/>
            </a:solidFill>
            <a:prstDash val="solid"/>
          </a:ln>
        </p:spPr>
      </p:sp>
      <p:sp>
        <p:nvSpPr>
          <p:cNvPr id="81" name="Text 79"/>
          <p:cNvSpPr/>
          <p:nvPr/>
        </p:nvSpPr>
        <p:spPr>
          <a:xfrm>
            <a:off x="2712720" y="2581656"/>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Frustré·e</a:t>
            </a:r>
            <a:endParaRPr lang="en-US" sz="550" dirty="0"/>
          </a:p>
        </p:txBody>
      </p:sp>
      <p:sp>
        <p:nvSpPr>
          <p:cNvPr id="82" name="Text 80"/>
          <p:cNvSpPr/>
          <p:nvPr/>
        </p:nvSpPr>
        <p:spPr>
          <a:xfrm>
            <a:off x="2712720" y="2764536"/>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Pas de parcours guidé décisionnel</a:t>
            </a:r>
            <a:endParaRPr lang="en-US" sz="550" dirty="0"/>
          </a:p>
        </p:txBody>
      </p:sp>
      <p:sp>
        <p:nvSpPr>
          <p:cNvPr id="83" name="Text 81"/>
          <p:cNvSpPr/>
          <p:nvPr/>
        </p:nvSpPr>
        <p:spPr>
          <a:xfrm>
            <a:off x="2712720" y="2906268"/>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Vocabulaire trop technique</a:t>
            </a:r>
            <a:endParaRPr lang="en-US" sz="550" dirty="0"/>
          </a:p>
        </p:txBody>
      </p:sp>
      <p:sp>
        <p:nvSpPr>
          <p:cNvPr id="84" name="Shape 82"/>
          <p:cNvSpPr/>
          <p:nvPr/>
        </p:nvSpPr>
        <p:spPr>
          <a:xfrm>
            <a:off x="2667000" y="3075432"/>
            <a:ext cx="1249680" cy="451104"/>
          </a:xfrm>
          <a:prstGeom prst="rect">
            <a:avLst/>
          </a:prstGeom>
          <a:solidFill>
            <a:srgbClr val="EEF7EE"/>
          </a:solidFill>
          <a:ln w="12700">
            <a:solidFill>
              <a:srgbClr val="C8E6C8"/>
            </a:solidFill>
            <a:prstDash val="solid"/>
          </a:ln>
        </p:spPr>
      </p:sp>
      <p:sp>
        <p:nvSpPr>
          <p:cNvPr id="85" name="Text 83"/>
          <p:cNvSpPr/>
          <p:nvPr/>
        </p:nvSpPr>
        <p:spPr>
          <a:xfrm>
            <a:off x="2712720" y="3093720"/>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Mode 'Décideur' avec parcours pré-construits</a:t>
            </a:r>
            <a:endParaRPr lang="en-US" sz="550" dirty="0"/>
          </a:p>
        </p:txBody>
      </p:sp>
      <p:sp>
        <p:nvSpPr>
          <p:cNvPr id="86" name="Shape 84"/>
          <p:cNvSpPr/>
          <p:nvPr/>
        </p:nvSpPr>
        <p:spPr>
          <a:xfrm>
            <a:off x="3934968" y="2371344"/>
            <a:ext cx="1249680" cy="201168"/>
          </a:xfrm>
          <a:prstGeom prst="rect">
            <a:avLst/>
          </a:prstGeom>
          <a:solidFill>
            <a:srgbClr val="C00707"/>
          </a:solidFill>
          <a:ln w="12700">
            <a:solidFill>
              <a:srgbClr val="C00707"/>
            </a:solidFill>
            <a:prstDash val="solid"/>
          </a:ln>
        </p:spPr>
      </p:sp>
      <p:sp>
        <p:nvSpPr>
          <p:cNvPr id="87" name="Text 85"/>
          <p:cNvSpPr/>
          <p:nvPr/>
        </p:nvSpPr>
        <p:spPr>
          <a:xfrm>
            <a:off x="3980688" y="2371344"/>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3  Recherche comparative</a:t>
            </a:r>
            <a:endParaRPr lang="en-US" sz="600" dirty="0"/>
          </a:p>
        </p:txBody>
      </p:sp>
      <p:sp>
        <p:nvSpPr>
          <p:cNvPr id="88" name="Shape 86"/>
          <p:cNvSpPr/>
          <p:nvPr/>
        </p:nvSpPr>
        <p:spPr>
          <a:xfrm>
            <a:off x="3934968" y="2581656"/>
            <a:ext cx="1249680" cy="155448"/>
          </a:xfrm>
          <a:prstGeom prst="rect">
            <a:avLst/>
          </a:prstGeom>
          <a:solidFill>
            <a:srgbClr val="C00707"/>
          </a:solidFill>
          <a:ln w="12700">
            <a:solidFill>
              <a:srgbClr val="C00707"/>
            </a:solidFill>
            <a:prstDash val="solid"/>
          </a:ln>
        </p:spPr>
      </p:sp>
      <p:sp>
        <p:nvSpPr>
          <p:cNvPr id="89" name="Text 87"/>
          <p:cNvSpPr/>
          <p:nvPr/>
        </p:nvSpPr>
        <p:spPr>
          <a:xfrm>
            <a:off x="3980688" y="2581656"/>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Très frustré·e</a:t>
            </a:r>
            <a:endParaRPr lang="en-US" sz="550" dirty="0"/>
          </a:p>
        </p:txBody>
      </p:sp>
      <p:sp>
        <p:nvSpPr>
          <p:cNvPr id="90" name="Text 88"/>
          <p:cNvSpPr/>
          <p:nvPr/>
        </p:nvSpPr>
        <p:spPr>
          <a:xfrm>
            <a:off x="3980688" y="2764536"/>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Données centrées bénéficiaires</a:t>
            </a:r>
            <a:endParaRPr lang="en-US" sz="550" dirty="0"/>
          </a:p>
        </p:txBody>
      </p:sp>
      <p:sp>
        <p:nvSpPr>
          <p:cNvPr id="91" name="Text 89"/>
          <p:cNvSpPr/>
          <p:nvPr/>
        </p:nvSpPr>
        <p:spPr>
          <a:xfrm>
            <a:off x="3980688" y="2906268"/>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Pas de vue 'donateur vs. donateur'</a:t>
            </a:r>
            <a:endParaRPr lang="en-US" sz="550" dirty="0"/>
          </a:p>
        </p:txBody>
      </p:sp>
      <p:sp>
        <p:nvSpPr>
          <p:cNvPr id="92" name="Shape 90"/>
          <p:cNvSpPr/>
          <p:nvPr/>
        </p:nvSpPr>
        <p:spPr>
          <a:xfrm>
            <a:off x="3934968" y="3075432"/>
            <a:ext cx="1249680" cy="451104"/>
          </a:xfrm>
          <a:prstGeom prst="rect">
            <a:avLst/>
          </a:prstGeom>
          <a:solidFill>
            <a:srgbClr val="EEF7EE"/>
          </a:solidFill>
          <a:ln w="12700">
            <a:solidFill>
              <a:srgbClr val="C8E6C8"/>
            </a:solidFill>
            <a:prstDash val="solid"/>
          </a:ln>
        </p:spPr>
      </p:sp>
      <p:sp>
        <p:nvSpPr>
          <p:cNvPr id="93" name="Text 91"/>
          <p:cNvSpPr/>
          <p:nvPr/>
        </p:nvSpPr>
        <p:spPr>
          <a:xfrm>
            <a:off x="3980688" y="3093720"/>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Axe 'Pays donateurs' avec indicateurs % RNB</a:t>
            </a:r>
            <a:endParaRPr lang="en-US" sz="550" dirty="0"/>
          </a:p>
        </p:txBody>
      </p:sp>
      <p:sp>
        <p:nvSpPr>
          <p:cNvPr id="94" name="Shape 92"/>
          <p:cNvSpPr/>
          <p:nvPr/>
        </p:nvSpPr>
        <p:spPr>
          <a:xfrm>
            <a:off x="5202936" y="2371344"/>
            <a:ext cx="1249680" cy="201168"/>
          </a:xfrm>
          <a:prstGeom prst="rect">
            <a:avLst/>
          </a:prstGeom>
          <a:solidFill>
            <a:srgbClr val="C00707"/>
          </a:solidFill>
          <a:ln w="12700">
            <a:solidFill>
              <a:srgbClr val="C00707"/>
            </a:solidFill>
            <a:prstDash val="solid"/>
          </a:ln>
        </p:spPr>
      </p:sp>
      <p:sp>
        <p:nvSpPr>
          <p:cNvPr id="95" name="Text 93"/>
          <p:cNvSpPr/>
          <p:nvPr/>
        </p:nvSpPr>
        <p:spPr>
          <a:xfrm>
            <a:off x="5248656" y="2371344"/>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4  Lecture des résultats</a:t>
            </a:r>
            <a:endParaRPr lang="en-US" sz="600" dirty="0"/>
          </a:p>
        </p:txBody>
      </p:sp>
      <p:sp>
        <p:nvSpPr>
          <p:cNvPr id="96" name="Shape 94"/>
          <p:cNvSpPr/>
          <p:nvPr/>
        </p:nvSpPr>
        <p:spPr>
          <a:xfrm>
            <a:off x="5202936" y="2581656"/>
            <a:ext cx="1249680" cy="155448"/>
          </a:xfrm>
          <a:prstGeom prst="rect">
            <a:avLst/>
          </a:prstGeom>
          <a:solidFill>
            <a:srgbClr val="7AAACE"/>
          </a:solidFill>
          <a:ln w="12700">
            <a:solidFill>
              <a:srgbClr val="7AAACE"/>
            </a:solidFill>
            <a:prstDash val="solid"/>
          </a:ln>
        </p:spPr>
      </p:sp>
      <p:sp>
        <p:nvSpPr>
          <p:cNvPr id="97" name="Text 95"/>
          <p:cNvSpPr/>
          <p:nvPr/>
        </p:nvSpPr>
        <p:spPr>
          <a:xfrm>
            <a:off x="5248656" y="2581656"/>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Neutre</a:t>
            </a:r>
            <a:endParaRPr lang="en-US" sz="550" dirty="0"/>
          </a:p>
        </p:txBody>
      </p:sp>
      <p:sp>
        <p:nvSpPr>
          <p:cNvPr id="98" name="Text 96"/>
          <p:cNvSpPr/>
          <p:nvPr/>
        </p:nvSpPr>
        <p:spPr>
          <a:xfrm>
            <a:off x="5248656" y="2764536"/>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Visuels trop techniques</a:t>
            </a:r>
            <a:endParaRPr lang="en-US" sz="550" dirty="0"/>
          </a:p>
        </p:txBody>
      </p:sp>
      <p:sp>
        <p:nvSpPr>
          <p:cNvPr id="99" name="Text 97"/>
          <p:cNvSpPr/>
          <p:nvPr/>
        </p:nvSpPr>
        <p:spPr>
          <a:xfrm>
            <a:off x="5248656" y="2906268"/>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Pas de mise en récit des données</a:t>
            </a:r>
            <a:endParaRPr lang="en-US" sz="550" dirty="0"/>
          </a:p>
        </p:txBody>
      </p:sp>
      <p:sp>
        <p:nvSpPr>
          <p:cNvPr id="100" name="Shape 98"/>
          <p:cNvSpPr/>
          <p:nvPr/>
        </p:nvSpPr>
        <p:spPr>
          <a:xfrm>
            <a:off x="5202936" y="3075432"/>
            <a:ext cx="1249680" cy="451104"/>
          </a:xfrm>
          <a:prstGeom prst="rect">
            <a:avLst/>
          </a:prstGeom>
          <a:solidFill>
            <a:srgbClr val="EEF7EE"/>
          </a:solidFill>
          <a:ln w="12700">
            <a:solidFill>
              <a:srgbClr val="C8E6C8"/>
            </a:solidFill>
            <a:prstDash val="solid"/>
          </a:ln>
        </p:spPr>
      </p:sp>
      <p:sp>
        <p:nvSpPr>
          <p:cNvPr id="101" name="Text 99"/>
          <p:cNvSpPr/>
          <p:nvPr/>
        </p:nvSpPr>
        <p:spPr>
          <a:xfrm>
            <a:off x="5248656" y="3093720"/>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Templates slides pour réunions diplomatiques</a:t>
            </a:r>
            <a:endParaRPr lang="en-US" sz="550" dirty="0"/>
          </a:p>
        </p:txBody>
      </p:sp>
      <p:sp>
        <p:nvSpPr>
          <p:cNvPr id="102" name="Shape 100"/>
          <p:cNvSpPr/>
          <p:nvPr/>
        </p:nvSpPr>
        <p:spPr>
          <a:xfrm>
            <a:off x="6470904" y="2371344"/>
            <a:ext cx="1249680" cy="201168"/>
          </a:xfrm>
          <a:prstGeom prst="rect">
            <a:avLst/>
          </a:prstGeom>
          <a:solidFill>
            <a:srgbClr val="C00707"/>
          </a:solidFill>
          <a:ln w="12700">
            <a:solidFill>
              <a:srgbClr val="C00707"/>
            </a:solidFill>
            <a:prstDash val="solid"/>
          </a:ln>
        </p:spPr>
      </p:sp>
      <p:sp>
        <p:nvSpPr>
          <p:cNvPr id="103" name="Text 101"/>
          <p:cNvSpPr/>
          <p:nvPr/>
        </p:nvSpPr>
        <p:spPr>
          <a:xfrm>
            <a:off x="6516624" y="2371344"/>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5  Export &amp; Présentation</a:t>
            </a:r>
            <a:endParaRPr lang="en-US" sz="600" dirty="0"/>
          </a:p>
        </p:txBody>
      </p:sp>
      <p:sp>
        <p:nvSpPr>
          <p:cNvPr id="104" name="Shape 102"/>
          <p:cNvSpPr/>
          <p:nvPr/>
        </p:nvSpPr>
        <p:spPr>
          <a:xfrm>
            <a:off x="6470904" y="2581656"/>
            <a:ext cx="1249680" cy="155448"/>
          </a:xfrm>
          <a:prstGeom prst="rect">
            <a:avLst/>
          </a:prstGeom>
          <a:solidFill>
            <a:srgbClr val="E07B3A"/>
          </a:solidFill>
          <a:ln w="12700">
            <a:solidFill>
              <a:srgbClr val="E07B3A"/>
            </a:solidFill>
            <a:prstDash val="solid"/>
          </a:ln>
        </p:spPr>
      </p:sp>
      <p:sp>
        <p:nvSpPr>
          <p:cNvPr id="105" name="Text 103"/>
          <p:cNvSpPr/>
          <p:nvPr/>
        </p:nvSpPr>
        <p:spPr>
          <a:xfrm>
            <a:off x="6516624" y="2581656"/>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Frustré·e</a:t>
            </a:r>
            <a:endParaRPr lang="en-US" sz="550" dirty="0"/>
          </a:p>
        </p:txBody>
      </p:sp>
      <p:sp>
        <p:nvSpPr>
          <p:cNvPr id="106" name="Text 104"/>
          <p:cNvSpPr/>
          <p:nvPr/>
        </p:nvSpPr>
        <p:spPr>
          <a:xfrm>
            <a:off x="6516624" y="2764536"/>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Export brut non formaté</a:t>
            </a:r>
            <a:endParaRPr lang="en-US" sz="550" dirty="0"/>
          </a:p>
        </p:txBody>
      </p:sp>
      <p:sp>
        <p:nvSpPr>
          <p:cNvPr id="107" name="Text 105"/>
          <p:cNvSpPr/>
          <p:nvPr/>
        </p:nvSpPr>
        <p:spPr>
          <a:xfrm>
            <a:off x="6516624" y="2906268"/>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Pas d'export PPTX institutionnel</a:t>
            </a:r>
            <a:endParaRPr lang="en-US" sz="550" dirty="0"/>
          </a:p>
        </p:txBody>
      </p:sp>
      <p:sp>
        <p:nvSpPr>
          <p:cNvPr id="108" name="Shape 106"/>
          <p:cNvSpPr/>
          <p:nvPr/>
        </p:nvSpPr>
        <p:spPr>
          <a:xfrm>
            <a:off x="6470904" y="3075432"/>
            <a:ext cx="1249680" cy="451104"/>
          </a:xfrm>
          <a:prstGeom prst="rect">
            <a:avLst/>
          </a:prstGeom>
          <a:solidFill>
            <a:srgbClr val="EEF7EE"/>
          </a:solidFill>
          <a:ln w="12700">
            <a:solidFill>
              <a:srgbClr val="C8E6C8"/>
            </a:solidFill>
            <a:prstDash val="solid"/>
          </a:ln>
        </p:spPr>
      </p:sp>
      <p:sp>
        <p:nvSpPr>
          <p:cNvPr id="109" name="Text 107"/>
          <p:cNvSpPr/>
          <p:nvPr/>
        </p:nvSpPr>
        <p:spPr>
          <a:xfrm>
            <a:off x="6516624" y="3093720"/>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Export PPTX charte diplomatique haute résol.</a:t>
            </a:r>
            <a:endParaRPr lang="en-US" sz="550" dirty="0"/>
          </a:p>
        </p:txBody>
      </p:sp>
      <p:sp>
        <p:nvSpPr>
          <p:cNvPr id="110" name="Shape 108"/>
          <p:cNvSpPr/>
          <p:nvPr/>
        </p:nvSpPr>
        <p:spPr>
          <a:xfrm>
            <a:off x="7738872" y="2371344"/>
            <a:ext cx="1249680" cy="201168"/>
          </a:xfrm>
          <a:prstGeom prst="rect">
            <a:avLst/>
          </a:prstGeom>
          <a:solidFill>
            <a:srgbClr val="C00707"/>
          </a:solidFill>
          <a:ln w="12700">
            <a:solidFill>
              <a:srgbClr val="C00707"/>
            </a:solidFill>
            <a:prstDash val="solid"/>
          </a:ln>
        </p:spPr>
      </p:sp>
      <p:sp>
        <p:nvSpPr>
          <p:cNvPr id="111" name="Text 109"/>
          <p:cNvSpPr/>
          <p:nvPr/>
        </p:nvSpPr>
        <p:spPr>
          <a:xfrm>
            <a:off x="7784592" y="2371344"/>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6  Prise de décision</a:t>
            </a:r>
            <a:endParaRPr lang="en-US" sz="600" dirty="0"/>
          </a:p>
        </p:txBody>
      </p:sp>
      <p:sp>
        <p:nvSpPr>
          <p:cNvPr id="112" name="Shape 110"/>
          <p:cNvSpPr/>
          <p:nvPr/>
        </p:nvSpPr>
        <p:spPr>
          <a:xfrm>
            <a:off x="7738872" y="2581656"/>
            <a:ext cx="1249680" cy="155448"/>
          </a:xfrm>
          <a:prstGeom prst="rect">
            <a:avLst/>
          </a:prstGeom>
          <a:solidFill>
            <a:srgbClr val="7AAACE"/>
          </a:solidFill>
          <a:ln w="12700">
            <a:solidFill>
              <a:srgbClr val="7AAACE"/>
            </a:solidFill>
            <a:prstDash val="solid"/>
          </a:ln>
        </p:spPr>
      </p:sp>
      <p:sp>
        <p:nvSpPr>
          <p:cNvPr id="113" name="Text 111"/>
          <p:cNvSpPr/>
          <p:nvPr/>
        </p:nvSpPr>
        <p:spPr>
          <a:xfrm>
            <a:off x="7784592" y="2581656"/>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Neutre</a:t>
            </a:r>
            <a:endParaRPr lang="en-US" sz="550" dirty="0"/>
          </a:p>
        </p:txBody>
      </p:sp>
      <p:sp>
        <p:nvSpPr>
          <p:cNvPr id="114" name="Text 112"/>
          <p:cNvSpPr/>
          <p:nvPr/>
        </p:nvSpPr>
        <p:spPr>
          <a:xfrm>
            <a:off x="7784592" y="2764536"/>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Pas d'alertes sur indicateurs stratégiques</a:t>
            </a:r>
            <a:endParaRPr lang="en-US" sz="550" dirty="0"/>
          </a:p>
        </p:txBody>
      </p:sp>
      <p:sp>
        <p:nvSpPr>
          <p:cNvPr id="115" name="Text 113"/>
          <p:cNvSpPr/>
          <p:nvPr/>
        </p:nvSpPr>
        <p:spPr>
          <a:xfrm>
            <a:off x="7784592" y="2906268"/>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Pas de suivi des engagements</a:t>
            </a:r>
            <a:endParaRPr lang="en-US" sz="550" dirty="0"/>
          </a:p>
        </p:txBody>
      </p:sp>
      <p:sp>
        <p:nvSpPr>
          <p:cNvPr id="116" name="Shape 114"/>
          <p:cNvSpPr/>
          <p:nvPr/>
        </p:nvSpPr>
        <p:spPr>
          <a:xfrm>
            <a:off x="7738872" y="3075432"/>
            <a:ext cx="1249680" cy="451104"/>
          </a:xfrm>
          <a:prstGeom prst="rect">
            <a:avLst/>
          </a:prstGeom>
          <a:solidFill>
            <a:srgbClr val="EEF7EE"/>
          </a:solidFill>
          <a:ln w="12700">
            <a:solidFill>
              <a:srgbClr val="C8E6C8"/>
            </a:solidFill>
            <a:prstDash val="solid"/>
          </a:ln>
        </p:spPr>
      </p:sp>
      <p:sp>
        <p:nvSpPr>
          <p:cNvPr id="117" name="Text 115"/>
          <p:cNvSpPr/>
          <p:nvPr/>
        </p:nvSpPr>
        <p:spPr>
          <a:xfrm>
            <a:off x="7784592" y="3093720"/>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Dashboard exécutif avec alertes personnalisées</a:t>
            </a:r>
            <a:endParaRPr lang="en-US" sz="550" dirty="0"/>
          </a:p>
        </p:txBody>
      </p:sp>
      <p:sp>
        <p:nvSpPr>
          <p:cNvPr id="118" name="Shape 116"/>
          <p:cNvSpPr/>
          <p:nvPr/>
        </p:nvSpPr>
        <p:spPr>
          <a:xfrm>
            <a:off x="137160" y="3627120"/>
            <a:ext cx="8869680" cy="1191768"/>
          </a:xfrm>
          <a:prstGeom prst="rect">
            <a:avLst/>
          </a:prstGeom>
          <a:solidFill>
            <a:srgbClr val="F7F8F0"/>
          </a:solidFill>
          <a:ln w="12700">
            <a:solidFill>
              <a:srgbClr val="DDE6F0"/>
            </a:solidFill>
            <a:prstDash val="solid"/>
          </a:ln>
        </p:spPr>
      </p:sp>
      <p:sp>
        <p:nvSpPr>
          <p:cNvPr id="119" name="Shape 117"/>
          <p:cNvSpPr/>
          <p:nvPr/>
        </p:nvSpPr>
        <p:spPr>
          <a:xfrm>
            <a:off x="137160" y="3627120"/>
            <a:ext cx="1261872" cy="1191768"/>
          </a:xfrm>
          <a:prstGeom prst="rect">
            <a:avLst/>
          </a:prstGeom>
          <a:solidFill>
            <a:srgbClr val="1A7A4A"/>
          </a:solidFill>
          <a:ln w="12700">
            <a:solidFill>
              <a:srgbClr val="1A7A4A"/>
            </a:solidFill>
            <a:prstDash val="solid"/>
          </a:ln>
        </p:spPr>
      </p:sp>
      <p:sp>
        <p:nvSpPr>
          <p:cNvPr id="120" name="Shape 118"/>
          <p:cNvSpPr/>
          <p:nvPr/>
        </p:nvSpPr>
        <p:spPr>
          <a:xfrm>
            <a:off x="603504" y="3681984"/>
            <a:ext cx="329184" cy="329184"/>
          </a:xfrm>
          <a:prstGeom prst="ellipse">
            <a:avLst/>
          </a:prstGeom>
          <a:solidFill>
            <a:srgbClr val="FFFFFF"/>
          </a:solidFill>
          <a:ln w="12700">
            <a:solidFill>
              <a:srgbClr val="FFFFFF"/>
            </a:solidFill>
            <a:prstDash val="solid"/>
          </a:ln>
        </p:spPr>
      </p:sp>
      <p:sp>
        <p:nvSpPr>
          <p:cNvPr id="121" name="Text 119"/>
          <p:cNvSpPr/>
          <p:nvPr/>
        </p:nvSpPr>
        <p:spPr>
          <a:xfrm>
            <a:off x="603504" y="3681984"/>
            <a:ext cx="329184" cy="329184"/>
          </a:xfrm>
          <a:prstGeom prst="rect">
            <a:avLst/>
          </a:prstGeom>
          <a:noFill/>
          <a:ln/>
        </p:spPr>
        <p:txBody>
          <a:bodyPr wrap="square" lIns="0" tIns="0" rIns="0" bIns="0" rtlCol="0" anchor="ctr"/>
          <a:lstStyle/>
          <a:p>
            <a:pPr algn="ctr" indent="0" marL="0">
              <a:buNone/>
            </a:pPr>
            <a:r>
              <a:rPr lang="en-US" sz="900" b="1" dirty="0">
                <a:solidFill>
                  <a:srgbClr val="1A7A4A"/>
                </a:solidFill>
                <a:latin typeface="Calibri" pitchFamily="34" charset="0"/>
                <a:ea typeface="Calibri" pitchFamily="34" charset="-122"/>
                <a:cs typeface="Calibri" pitchFamily="34" charset="-120"/>
              </a:rPr>
              <a:t>MD</a:t>
            </a:r>
            <a:endParaRPr lang="en-US" sz="900" dirty="0"/>
          </a:p>
        </p:txBody>
      </p:sp>
      <p:sp>
        <p:nvSpPr>
          <p:cNvPr id="122" name="Text 120"/>
          <p:cNvSpPr/>
          <p:nvPr/>
        </p:nvSpPr>
        <p:spPr>
          <a:xfrm>
            <a:off x="173736" y="4047744"/>
            <a:ext cx="11887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Mariam Diallo</a:t>
            </a:r>
            <a:endParaRPr lang="en-US" sz="700" dirty="0"/>
          </a:p>
        </p:txBody>
      </p:sp>
      <p:sp>
        <p:nvSpPr>
          <p:cNvPr id="123" name="Text 121"/>
          <p:cNvSpPr/>
          <p:nvPr/>
        </p:nvSpPr>
        <p:spPr>
          <a:xfrm>
            <a:off x="173736" y="4230624"/>
            <a:ext cx="1188720" cy="219456"/>
          </a:xfrm>
          <a:prstGeom prst="rect">
            <a:avLst/>
          </a:prstGeom>
          <a:noFill/>
          <a:ln/>
        </p:spPr>
        <p:txBody>
          <a:bodyPr wrap="square" lIns="0" tIns="0" rIns="0" bIns="0" rtlCol="0" anchor="t"/>
          <a:lstStyle/>
          <a:p>
            <a:pPr algn="ctr" indent="0" marL="0">
              <a:lnSpc>
                <a:spcPct val="115000"/>
              </a:lnSpc>
              <a:buNone/>
            </a:pPr>
            <a:r>
              <a:rPr lang="en-US" sz="550" i="1" dirty="0">
                <a:solidFill>
                  <a:srgbClr val="C8DFF0"/>
                </a:solidFill>
                <a:latin typeface="Calibri" pitchFamily="34" charset="0"/>
                <a:ea typeface="Calibri" pitchFamily="34" charset="-122"/>
                <a:cs typeface="Calibri" pitchFamily="34" charset="-120"/>
              </a:rPr>
              <a:t>Coordinatrice projets · ONG ESF Dakar</a:t>
            </a:r>
            <a:endParaRPr lang="en-US" sz="550" dirty="0"/>
          </a:p>
        </p:txBody>
      </p:sp>
      <p:sp>
        <p:nvSpPr>
          <p:cNvPr id="124" name="Text 122"/>
          <p:cNvSpPr/>
          <p:nvPr/>
        </p:nvSpPr>
        <p:spPr>
          <a:xfrm>
            <a:off x="173736" y="4459224"/>
            <a:ext cx="1188720" cy="347472"/>
          </a:xfrm>
          <a:prstGeom prst="rect">
            <a:avLst/>
          </a:prstGeom>
          <a:noFill/>
          <a:ln/>
        </p:spPr>
        <p:txBody>
          <a:bodyPr wrap="square" lIns="0" tIns="0" rIns="0" bIns="0" rtlCol="0" anchor="t"/>
          <a:lstStyle/>
          <a:p>
            <a:pPr algn="ctr" indent="0" marL="0">
              <a:lnSpc>
                <a:spcPct val="115000"/>
              </a:lnSpc>
              <a:buNone/>
            </a:pPr>
            <a:r>
              <a:rPr lang="en-US" sz="550" dirty="0">
                <a:solidFill>
                  <a:srgbClr val="D8EAF5"/>
                </a:solidFill>
                <a:latin typeface="Calibri" pitchFamily="34" charset="0"/>
                <a:ea typeface="Calibri" pitchFamily="34" charset="-122"/>
                <a:cs typeface="Calibri" pitchFamily="34" charset="-120"/>
              </a:rPr>
              <a:t>↗ Financement AFD pour projet eau au Sénégal</a:t>
            </a:r>
            <a:endParaRPr lang="en-US" sz="550" dirty="0"/>
          </a:p>
        </p:txBody>
      </p:sp>
      <p:sp>
        <p:nvSpPr>
          <p:cNvPr id="125" name="Shape 123"/>
          <p:cNvSpPr/>
          <p:nvPr/>
        </p:nvSpPr>
        <p:spPr>
          <a:xfrm>
            <a:off x="1399032" y="3627120"/>
            <a:ext cx="1249680" cy="201168"/>
          </a:xfrm>
          <a:prstGeom prst="rect">
            <a:avLst/>
          </a:prstGeom>
          <a:solidFill>
            <a:srgbClr val="1A7A4A"/>
          </a:solidFill>
          <a:ln w="12700">
            <a:solidFill>
              <a:srgbClr val="1A7A4A"/>
            </a:solidFill>
            <a:prstDash val="solid"/>
          </a:ln>
        </p:spPr>
      </p:sp>
      <p:sp>
        <p:nvSpPr>
          <p:cNvPr id="126" name="Text 124"/>
          <p:cNvSpPr/>
          <p:nvPr/>
        </p:nvSpPr>
        <p:spPr>
          <a:xfrm>
            <a:off x="1444752" y="3627120"/>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1  Identification du besoin</a:t>
            </a:r>
            <a:endParaRPr lang="en-US" sz="600" dirty="0"/>
          </a:p>
        </p:txBody>
      </p:sp>
      <p:sp>
        <p:nvSpPr>
          <p:cNvPr id="127" name="Shape 125"/>
          <p:cNvSpPr/>
          <p:nvPr/>
        </p:nvSpPr>
        <p:spPr>
          <a:xfrm>
            <a:off x="1399032" y="3837432"/>
            <a:ext cx="1249680" cy="155448"/>
          </a:xfrm>
          <a:prstGeom prst="rect">
            <a:avLst/>
          </a:prstGeom>
          <a:solidFill>
            <a:srgbClr val="7AAACE"/>
          </a:solidFill>
          <a:ln w="12700">
            <a:solidFill>
              <a:srgbClr val="7AAACE"/>
            </a:solidFill>
            <a:prstDash val="solid"/>
          </a:ln>
        </p:spPr>
      </p:sp>
      <p:sp>
        <p:nvSpPr>
          <p:cNvPr id="128" name="Text 126"/>
          <p:cNvSpPr/>
          <p:nvPr/>
        </p:nvSpPr>
        <p:spPr>
          <a:xfrm>
            <a:off x="1444752" y="3837432"/>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Neutre</a:t>
            </a:r>
            <a:endParaRPr lang="en-US" sz="550" dirty="0"/>
          </a:p>
        </p:txBody>
      </p:sp>
      <p:sp>
        <p:nvSpPr>
          <p:cNvPr id="129" name="Text 127"/>
          <p:cNvSpPr/>
          <p:nvPr/>
        </p:nvSpPr>
        <p:spPr>
          <a:xfrm>
            <a:off x="1444752" y="4020312"/>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Informations dispersées sur plusieurs sites</a:t>
            </a:r>
            <a:endParaRPr lang="en-US" sz="550" dirty="0"/>
          </a:p>
        </p:txBody>
      </p:sp>
      <p:sp>
        <p:nvSpPr>
          <p:cNvPr id="130" name="Text 128"/>
          <p:cNvSpPr/>
          <p:nvPr/>
        </p:nvSpPr>
        <p:spPr>
          <a:xfrm>
            <a:off x="1444752" y="4162044"/>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Pas de centralisation appels à projets</a:t>
            </a:r>
            <a:endParaRPr lang="en-US" sz="550" dirty="0"/>
          </a:p>
        </p:txBody>
      </p:sp>
      <p:sp>
        <p:nvSpPr>
          <p:cNvPr id="131" name="Shape 129"/>
          <p:cNvSpPr/>
          <p:nvPr/>
        </p:nvSpPr>
        <p:spPr>
          <a:xfrm>
            <a:off x="1399032" y="4331208"/>
            <a:ext cx="1249680" cy="451104"/>
          </a:xfrm>
          <a:prstGeom prst="rect">
            <a:avLst/>
          </a:prstGeom>
          <a:solidFill>
            <a:srgbClr val="EEF7EE"/>
          </a:solidFill>
          <a:ln w="12700">
            <a:solidFill>
              <a:srgbClr val="C8E6C8"/>
            </a:solidFill>
            <a:prstDash val="solid"/>
          </a:ln>
        </p:spPr>
      </p:sp>
      <p:sp>
        <p:nvSpPr>
          <p:cNvPr id="132" name="Text 130"/>
          <p:cNvSpPr/>
          <p:nvPr/>
        </p:nvSpPr>
        <p:spPr>
          <a:xfrm>
            <a:off x="1444752" y="4349496"/>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Section 'Opportunités financement' temps réel</a:t>
            </a:r>
            <a:endParaRPr lang="en-US" sz="550" dirty="0"/>
          </a:p>
        </p:txBody>
      </p:sp>
      <p:sp>
        <p:nvSpPr>
          <p:cNvPr id="133" name="Shape 131"/>
          <p:cNvSpPr/>
          <p:nvPr/>
        </p:nvSpPr>
        <p:spPr>
          <a:xfrm>
            <a:off x="2667000" y="3627120"/>
            <a:ext cx="1249680" cy="201168"/>
          </a:xfrm>
          <a:prstGeom prst="rect">
            <a:avLst/>
          </a:prstGeom>
          <a:solidFill>
            <a:srgbClr val="1A7A4A"/>
          </a:solidFill>
          <a:ln w="12700">
            <a:solidFill>
              <a:srgbClr val="1A7A4A"/>
            </a:solidFill>
            <a:prstDash val="solid"/>
          </a:ln>
        </p:spPr>
      </p:sp>
      <p:sp>
        <p:nvSpPr>
          <p:cNvPr id="134" name="Text 132"/>
          <p:cNvSpPr/>
          <p:nvPr/>
        </p:nvSpPr>
        <p:spPr>
          <a:xfrm>
            <a:off x="2712720" y="3627120"/>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2  Découverte de l'outil</a:t>
            </a:r>
            <a:endParaRPr lang="en-US" sz="600" dirty="0"/>
          </a:p>
        </p:txBody>
      </p:sp>
      <p:sp>
        <p:nvSpPr>
          <p:cNvPr id="135" name="Shape 133"/>
          <p:cNvSpPr/>
          <p:nvPr/>
        </p:nvSpPr>
        <p:spPr>
          <a:xfrm>
            <a:off x="2667000" y="3837432"/>
            <a:ext cx="1249680" cy="155448"/>
          </a:xfrm>
          <a:prstGeom prst="rect">
            <a:avLst/>
          </a:prstGeom>
          <a:solidFill>
            <a:srgbClr val="E07B3A"/>
          </a:solidFill>
          <a:ln w="12700">
            <a:solidFill>
              <a:srgbClr val="E07B3A"/>
            </a:solidFill>
            <a:prstDash val="solid"/>
          </a:ln>
        </p:spPr>
      </p:sp>
      <p:sp>
        <p:nvSpPr>
          <p:cNvPr id="136" name="Text 134"/>
          <p:cNvSpPr/>
          <p:nvPr/>
        </p:nvSpPr>
        <p:spPr>
          <a:xfrm>
            <a:off x="2712720" y="3837432"/>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Frustré·e</a:t>
            </a:r>
            <a:endParaRPr lang="en-US" sz="550" dirty="0"/>
          </a:p>
        </p:txBody>
      </p:sp>
      <p:sp>
        <p:nvSpPr>
          <p:cNvPr id="137" name="Text 135"/>
          <p:cNvSpPr/>
          <p:nvPr/>
        </p:nvSpPr>
        <p:spPr>
          <a:xfrm>
            <a:off x="2712720" y="4020312"/>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Interface non optimisée mobile</a:t>
            </a:r>
            <a:endParaRPr lang="en-US" sz="550" dirty="0"/>
          </a:p>
        </p:txBody>
      </p:sp>
      <p:sp>
        <p:nvSpPr>
          <p:cNvPr id="138" name="Text 136"/>
          <p:cNvSpPr/>
          <p:nvPr/>
        </p:nvSpPr>
        <p:spPr>
          <a:xfrm>
            <a:off x="2712720" y="4162044"/>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Connexion lente, peu de bande passante</a:t>
            </a:r>
            <a:endParaRPr lang="en-US" sz="550" dirty="0"/>
          </a:p>
        </p:txBody>
      </p:sp>
      <p:sp>
        <p:nvSpPr>
          <p:cNvPr id="139" name="Shape 137"/>
          <p:cNvSpPr/>
          <p:nvPr/>
        </p:nvSpPr>
        <p:spPr>
          <a:xfrm>
            <a:off x="2667000" y="4331208"/>
            <a:ext cx="1249680" cy="451104"/>
          </a:xfrm>
          <a:prstGeom prst="rect">
            <a:avLst/>
          </a:prstGeom>
          <a:solidFill>
            <a:srgbClr val="EEF7EE"/>
          </a:solidFill>
          <a:ln w="12700">
            <a:solidFill>
              <a:srgbClr val="C8E6C8"/>
            </a:solidFill>
            <a:prstDash val="solid"/>
          </a:ln>
        </p:spPr>
      </p:sp>
      <p:sp>
        <p:nvSpPr>
          <p:cNvPr id="140" name="Text 138"/>
          <p:cNvSpPr/>
          <p:nvPr/>
        </p:nvSpPr>
        <p:spPr>
          <a:xfrm>
            <a:off x="2712720" y="4349496"/>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Application responsive mobile-first, mode léger</a:t>
            </a:r>
            <a:endParaRPr lang="en-US" sz="550" dirty="0"/>
          </a:p>
        </p:txBody>
      </p:sp>
      <p:sp>
        <p:nvSpPr>
          <p:cNvPr id="141" name="Shape 139"/>
          <p:cNvSpPr/>
          <p:nvPr/>
        </p:nvSpPr>
        <p:spPr>
          <a:xfrm>
            <a:off x="3934968" y="3627120"/>
            <a:ext cx="1249680" cy="201168"/>
          </a:xfrm>
          <a:prstGeom prst="rect">
            <a:avLst/>
          </a:prstGeom>
          <a:solidFill>
            <a:srgbClr val="1A7A4A"/>
          </a:solidFill>
          <a:ln w="12700">
            <a:solidFill>
              <a:srgbClr val="1A7A4A"/>
            </a:solidFill>
            <a:prstDash val="solid"/>
          </a:ln>
        </p:spPr>
      </p:sp>
      <p:sp>
        <p:nvSpPr>
          <p:cNvPr id="142" name="Text 140"/>
          <p:cNvSpPr/>
          <p:nvPr/>
        </p:nvSpPr>
        <p:spPr>
          <a:xfrm>
            <a:off x="3980688" y="3627120"/>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3  Navigation initiale</a:t>
            </a:r>
            <a:endParaRPr lang="en-US" sz="600" dirty="0"/>
          </a:p>
        </p:txBody>
      </p:sp>
      <p:sp>
        <p:nvSpPr>
          <p:cNvPr id="143" name="Shape 141"/>
          <p:cNvSpPr/>
          <p:nvPr/>
        </p:nvSpPr>
        <p:spPr>
          <a:xfrm>
            <a:off x="3934968" y="3837432"/>
            <a:ext cx="1249680" cy="155448"/>
          </a:xfrm>
          <a:prstGeom prst="rect">
            <a:avLst/>
          </a:prstGeom>
          <a:solidFill>
            <a:srgbClr val="C00707"/>
          </a:solidFill>
          <a:ln w="12700">
            <a:solidFill>
              <a:srgbClr val="C00707"/>
            </a:solidFill>
            <a:prstDash val="solid"/>
          </a:ln>
        </p:spPr>
      </p:sp>
      <p:sp>
        <p:nvSpPr>
          <p:cNvPr id="144" name="Text 142"/>
          <p:cNvSpPr/>
          <p:nvPr/>
        </p:nvSpPr>
        <p:spPr>
          <a:xfrm>
            <a:off x="3980688" y="3837432"/>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Très frustré·e</a:t>
            </a:r>
            <a:endParaRPr lang="en-US" sz="550" dirty="0"/>
          </a:p>
        </p:txBody>
      </p:sp>
      <p:sp>
        <p:nvSpPr>
          <p:cNvPr id="145" name="Text 143"/>
          <p:cNvSpPr/>
          <p:nvPr/>
        </p:nvSpPr>
        <p:spPr>
          <a:xfrm>
            <a:off x="3980688" y="4020312"/>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Jargon technique (AASP, CAD, PRITI…)</a:t>
            </a:r>
            <a:endParaRPr lang="en-US" sz="550" dirty="0"/>
          </a:p>
        </p:txBody>
      </p:sp>
      <p:sp>
        <p:nvSpPr>
          <p:cNvPr id="146" name="Text 144"/>
          <p:cNvSpPr/>
          <p:nvPr/>
        </p:nvSpPr>
        <p:spPr>
          <a:xfrm>
            <a:off x="3980688" y="4162044"/>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Courbe d'apprentissage trop élevée</a:t>
            </a:r>
            <a:endParaRPr lang="en-US" sz="550" dirty="0"/>
          </a:p>
        </p:txBody>
      </p:sp>
      <p:sp>
        <p:nvSpPr>
          <p:cNvPr id="147" name="Shape 145"/>
          <p:cNvSpPr/>
          <p:nvPr/>
        </p:nvSpPr>
        <p:spPr>
          <a:xfrm>
            <a:off x="3934968" y="4331208"/>
            <a:ext cx="1249680" cy="451104"/>
          </a:xfrm>
          <a:prstGeom prst="rect">
            <a:avLst/>
          </a:prstGeom>
          <a:solidFill>
            <a:srgbClr val="EEF7EE"/>
          </a:solidFill>
          <a:ln w="12700">
            <a:solidFill>
              <a:srgbClr val="C8E6C8"/>
            </a:solidFill>
            <a:prstDash val="solid"/>
          </a:ln>
        </p:spPr>
      </p:sp>
      <p:sp>
        <p:nvSpPr>
          <p:cNvPr id="148" name="Text 146"/>
          <p:cNvSpPr/>
          <p:nvPr/>
        </p:nvSpPr>
        <p:spPr>
          <a:xfrm>
            <a:off x="3980688" y="4349496"/>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Glossaire intégré au survol + mode 'simplifié'</a:t>
            </a:r>
            <a:endParaRPr lang="en-US" sz="550" dirty="0"/>
          </a:p>
        </p:txBody>
      </p:sp>
      <p:sp>
        <p:nvSpPr>
          <p:cNvPr id="149" name="Shape 147"/>
          <p:cNvSpPr/>
          <p:nvPr/>
        </p:nvSpPr>
        <p:spPr>
          <a:xfrm>
            <a:off x="5202936" y="3627120"/>
            <a:ext cx="1249680" cy="201168"/>
          </a:xfrm>
          <a:prstGeom prst="rect">
            <a:avLst/>
          </a:prstGeom>
          <a:solidFill>
            <a:srgbClr val="1A7A4A"/>
          </a:solidFill>
          <a:ln w="12700">
            <a:solidFill>
              <a:srgbClr val="1A7A4A"/>
            </a:solidFill>
            <a:prstDash val="solid"/>
          </a:ln>
        </p:spPr>
      </p:sp>
      <p:sp>
        <p:nvSpPr>
          <p:cNvPr id="150" name="Text 148"/>
          <p:cNvSpPr/>
          <p:nvPr/>
        </p:nvSpPr>
        <p:spPr>
          <a:xfrm>
            <a:off x="5248656" y="3627120"/>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4  Exploration des données</a:t>
            </a:r>
            <a:endParaRPr lang="en-US" sz="600" dirty="0"/>
          </a:p>
        </p:txBody>
      </p:sp>
      <p:sp>
        <p:nvSpPr>
          <p:cNvPr id="151" name="Shape 149"/>
          <p:cNvSpPr/>
          <p:nvPr/>
        </p:nvSpPr>
        <p:spPr>
          <a:xfrm>
            <a:off x="5202936" y="3837432"/>
            <a:ext cx="1249680" cy="155448"/>
          </a:xfrm>
          <a:prstGeom prst="rect">
            <a:avLst/>
          </a:prstGeom>
          <a:solidFill>
            <a:srgbClr val="1A7A4A"/>
          </a:solidFill>
          <a:ln w="12700">
            <a:solidFill>
              <a:srgbClr val="1A7A4A"/>
            </a:solidFill>
            <a:prstDash val="solid"/>
          </a:ln>
        </p:spPr>
      </p:sp>
      <p:sp>
        <p:nvSpPr>
          <p:cNvPr id="152" name="Text 150"/>
          <p:cNvSpPr/>
          <p:nvPr/>
        </p:nvSpPr>
        <p:spPr>
          <a:xfrm>
            <a:off x="5248656" y="3837432"/>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Satisfait·e</a:t>
            </a:r>
            <a:endParaRPr lang="en-US" sz="550" dirty="0"/>
          </a:p>
        </p:txBody>
      </p:sp>
      <p:sp>
        <p:nvSpPr>
          <p:cNvPr id="153" name="Text 151"/>
          <p:cNvSpPr/>
          <p:nvPr/>
        </p:nvSpPr>
        <p:spPr>
          <a:xfrm>
            <a:off x="5248656" y="4020312"/>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Données sans coordonnées de contact</a:t>
            </a:r>
            <a:endParaRPr lang="en-US" sz="550" dirty="0"/>
          </a:p>
        </p:txBody>
      </p:sp>
      <p:sp>
        <p:nvSpPr>
          <p:cNvPr id="154" name="Text 152"/>
          <p:cNvSpPr/>
          <p:nvPr/>
        </p:nvSpPr>
        <p:spPr>
          <a:xfrm>
            <a:off x="5248656" y="4162044"/>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Pas de lien vers fiches projet détaillées</a:t>
            </a:r>
            <a:endParaRPr lang="en-US" sz="550" dirty="0"/>
          </a:p>
        </p:txBody>
      </p:sp>
      <p:sp>
        <p:nvSpPr>
          <p:cNvPr id="155" name="Shape 153"/>
          <p:cNvSpPr/>
          <p:nvPr/>
        </p:nvSpPr>
        <p:spPr>
          <a:xfrm>
            <a:off x="5202936" y="4331208"/>
            <a:ext cx="1249680" cy="451104"/>
          </a:xfrm>
          <a:prstGeom prst="rect">
            <a:avLst/>
          </a:prstGeom>
          <a:solidFill>
            <a:srgbClr val="EEF7EE"/>
          </a:solidFill>
          <a:ln w="12700">
            <a:solidFill>
              <a:srgbClr val="C8E6C8"/>
            </a:solidFill>
            <a:prstDash val="solid"/>
          </a:ln>
        </p:spPr>
      </p:sp>
      <p:sp>
        <p:nvSpPr>
          <p:cNvPr id="156" name="Text 154"/>
          <p:cNvSpPr/>
          <p:nvPr/>
        </p:nvSpPr>
        <p:spPr>
          <a:xfrm>
            <a:off x="5248656" y="4349496"/>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Lien fiche AFD complète + contact bureau local</a:t>
            </a:r>
            <a:endParaRPr lang="en-US" sz="550" dirty="0"/>
          </a:p>
        </p:txBody>
      </p:sp>
      <p:sp>
        <p:nvSpPr>
          <p:cNvPr id="157" name="Shape 155"/>
          <p:cNvSpPr/>
          <p:nvPr/>
        </p:nvSpPr>
        <p:spPr>
          <a:xfrm>
            <a:off x="6470904" y="3627120"/>
            <a:ext cx="1249680" cy="201168"/>
          </a:xfrm>
          <a:prstGeom prst="rect">
            <a:avLst/>
          </a:prstGeom>
          <a:solidFill>
            <a:srgbClr val="1A7A4A"/>
          </a:solidFill>
          <a:ln w="12700">
            <a:solidFill>
              <a:srgbClr val="1A7A4A"/>
            </a:solidFill>
            <a:prstDash val="solid"/>
          </a:ln>
        </p:spPr>
      </p:sp>
      <p:sp>
        <p:nvSpPr>
          <p:cNvPr id="158" name="Text 156"/>
          <p:cNvSpPr/>
          <p:nvPr/>
        </p:nvSpPr>
        <p:spPr>
          <a:xfrm>
            <a:off x="6516624" y="3627120"/>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5  Analyse de pertinence</a:t>
            </a:r>
            <a:endParaRPr lang="en-US" sz="600" dirty="0"/>
          </a:p>
        </p:txBody>
      </p:sp>
      <p:sp>
        <p:nvSpPr>
          <p:cNvPr id="159" name="Shape 157"/>
          <p:cNvSpPr/>
          <p:nvPr/>
        </p:nvSpPr>
        <p:spPr>
          <a:xfrm>
            <a:off x="6470904" y="3837432"/>
            <a:ext cx="1249680" cy="155448"/>
          </a:xfrm>
          <a:prstGeom prst="rect">
            <a:avLst/>
          </a:prstGeom>
          <a:solidFill>
            <a:srgbClr val="7AAACE"/>
          </a:solidFill>
          <a:ln w="12700">
            <a:solidFill>
              <a:srgbClr val="7AAACE"/>
            </a:solidFill>
            <a:prstDash val="solid"/>
          </a:ln>
        </p:spPr>
      </p:sp>
      <p:sp>
        <p:nvSpPr>
          <p:cNvPr id="160" name="Text 158"/>
          <p:cNvSpPr/>
          <p:nvPr/>
        </p:nvSpPr>
        <p:spPr>
          <a:xfrm>
            <a:off x="6516624" y="3837432"/>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Neutre</a:t>
            </a:r>
            <a:endParaRPr lang="en-US" sz="550" dirty="0"/>
          </a:p>
        </p:txBody>
      </p:sp>
      <p:sp>
        <p:nvSpPr>
          <p:cNvPr id="161" name="Text 159"/>
          <p:cNvSpPr/>
          <p:nvPr/>
        </p:nvSpPr>
        <p:spPr>
          <a:xfrm>
            <a:off x="6516624" y="4020312"/>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Pas de stats tailles projets financés</a:t>
            </a:r>
            <a:endParaRPr lang="en-US" sz="550" dirty="0"/>
          </a:p>
        </p:txBody>
      </p:sp>
      <p:sp>
        <p:nvSpPr>
          <p:cNvPr id="162" name="Text 160"/>
          <p:cNvSpPr/>
          <p:nvPr/>
        </p:nvSpPr>
        <p:spPr>
          <a:xfrm>
            <a:off x="6516624" y="4162044"/>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Pas de critères d'éligibilité accessibles</a:t>
            </a:r>
            <a:endParaRPr lang="en-US" sz="550" dirty="0"/>
          </a:p>
        </p:txBody>
      </p:sp>
      <p:sp>
        <p:nvSpPr>
          <p:cNvPr id="163" name="Shape 161"/>
          <p:cNvSpPr/>
          <p:nvPr/>
        </p:nvSpPr>
        <p:spPr>
          <a:xfrm>
            <a:off x="6470904" y="4331208"/>
            <a:ext cx="1249680" cy="451104"/>
          </a:xfrm>
          <a:prstGeom prst="rect">
            <a:avLst/>
          </a:prstGeom>
          <a:solidFill>
            <a:srgbClr val="EEF7EE"/>
          </a:solidFill>
          <a:ln w="12700">
            <a:solidFill>
              <a:srgbClr val="C8E6C8"/>
            </a:solidFill>
            <a:prstDash val="solid"/>
          </a:ln>
        </p:spPr>
      </p:sp>
      <p:sp>
        <p:nvSpPr>
          <p:cNvPr id="164" name="Text 162"/>
          <p:cNvSpPr/>
          <p:nvPr/>
        </p:nvSpPr>
        <p:spPr>
          <a:xfrm>
            <a:off x="6516624" y="4349496"/>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Stats (médian/min/max) + critères éligibilité</a:t>
            </a:r>
            <a:endParaRPr lang="en-US" sz="550" dirty="0"/>
          </a:p>
        </p:txBody>
      </p:sp>
      <p:sp>
        <p:nvSpPr>
          <p:cNvPr id="165" name="Shape 163"/>
          <p:cNvSpPr/>
          <p:nvPr/>
        </p:nvSpPr>
        <p:spPr>
          <a:xfrm>
            <a:off x="7738872" y="3627120"/>
            <a:ext cx="1249680" cy="201168"/>
          </a:xfrm>
          <a:prstGeom prst="rect">
            <a:avLst/>
          </a:prstGeom>
          <a:solidFill>
            <a:srgbClr val="1A7A4A"/>
          </a:solidFill>
          <a:ln w="12700">
            <a:solidFill>
              <a:srgbClr val="1A7A4A"/>
            </a:solidFill>
            <a:prstDash val="solid"/>
          </a:ln>
        </p:spPr>
      </p:sp>
      <p:sp>
        <p:nvSpPr>
          <p:cNvPr id="166" name="Text 164"/>
          <p:cNvSpPr/>
          <p:nvPr/>
        </p:nvSpPr>
        <p:spPr>
          <a:xfrm>
            <a:off x="7784592" y="3627120"/>
            <a:ext cx="1176528" cy="201168"/>
          </a:xfrm>
          <a:prstGeom prst="rect">
            <a:avLst/>
          </a:prstGeom>
          <a:noFill/>
          <a:ln/>
        </p:spPr>
        <p:txBody>
          <a:bodyPr wrap="square" lIns="0" tIns="0" rIns="0" bIns="0" rtlCol="0" anchor="ctr"/>
          <a:lstStyle/>
          <a:p>
            <a:pPr indent="0" marL="0">
              <a:buNone/>
            </a:pPr>
            <a:r>
              <a:rPr lang="en-US" sz="600" b="1" dirty="0">
                <a:solidFill>
                  <a:srgbClr val="FFFFFF"/>
                </a:solidFill>
                <a:latin typeface="Calibri" pitchFamily="34" charset="0"/>
                <a:ea typeface="Calibri" pitchFamily="34" charset="-122"/>
                <a:cs typeface="Calibri" pitchFamily="34" charset="-120"/>
              </a:rPr>
              <a:t>6  Montage du dossier</a:t>
            </a:r>
            <a:endParaRPr lang="en-US" sz="600" dirty="0"/>
          </a:p>
        </p:txBody>
      </p:sp>
      <p:sp>
        <p:nvSpPr>
          <p:cNvPr id="167" name="Shape 165"/>
          <p:cNvSpPr/>
          <p:nvPr/>
        </p:nvSpPr>
        <p:spPr>
          <a:xfrm>
            <a:off x="7738872" y="3837432"/>
            <a:ext cx="1249680" cy="155448"/>
          </a:xfrm>
          <a:prstGeom prst="rect">
            <a:avLst/>
          </a:prstGeom>
          <a:solidFill>
            <a:srgbClr val="1A7A4A"/>
          </a:solidFill>
          <a:ln w="12700">
            <a:solidFill>
              <a:srgbClr val="1A7A4A"/>
            </a:solidFill>
            <a:prstDash val="solid"/>
          </a:ln>
        </p:spPr>
      </p:sp>
      <p:sp>
        <p:nvSpPr>
          <p:cNvPr id="168" name="Text 166"/>
          <p:cNvSpPr/>
          <p:nvPr/>
        </p:nvSpPr>
        <p:spPr>
          <a:xfrm>
            <a:off x="7784592" y="3837432"/>
            <a:ext cx="1176528" cy="155448"/>
          </a:xfrm>
          <a:prstGeom prst="rect">
            <a:avLst/>
          </a:prstGeom>
          <a:noFill/>
          <a:ln/>
        </p:spPr>
        <p:txBody>
          <a:bodyPr wrap="square" lIns="0" tIns="0" rIns="0" bIns="0" rtlCol="0" anchor="ctr"/>
          <a:lstStyle/>
          <a:p>
            <a:pPr algn="ctr" indent="0" marL="0">
              <a:buNone/>
            </a:pPr>
            <a:r>
              <a:rPr lang="en-US" sz="550" dirty="0">
                <a:solidFill>
                  <a:srgbClr val="FFFFFF"/>
                </a:solidFill>
                <a:latin typeface="Calibri" pitchFamily="34" charset="0"/>
                <a:ea typeface="Calibri" pitchFamily="34" charset="-122"/>
                <a:cs typeface="Calibri" pitchFamily="34" charset="-120"/>
              </a:rPr>
              <a:t>Satisfait·e</a:t>
            </a:r>
            <a:endParaRPr lang="en-US" sz="550" dirty="0"/>
          </a:p>
        </p:txBody>
      </p:sp>
      <p:sp>
        <p:nvSpPr>
          <p:cNvPr id="169" name="Text 167"/>
          <p:cNvSpPr/>
          <p:nvPr/>
        </p:nvSpPr>
        <p:spPr>
          <a:xfrm>
            <a:off x="7784592" y="4020312"/>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Export CSV brut difficile à intégrer</a:t>
            </a:r>
            <a:endParaRPr lang="en-US" sz="550" dirty="0"/>
          </a:p>
        </p:txBody>
      </p:sp>
      <p:sp>
        <p:nvSpPr>
          <p:cNvPr id="170" name="Text 168"/>
          <p:cNvSpPr/>
          <p:nvPr/>
        </p:nvSpPr>
        <p:spPr>
          <a:xfrm>
            <a:off x="7784592" y="4162044"/>
            <a:ext cx="1176528" cy="141732"/>
          </a:xfrm>
          <a:prstGeom prst="rect">
            <a:avLst/>
          </a:prstGeom>
          <a:noFill/>
          <a:ln/>
        </p:spPr>
        <p:txBody>
          <a:bodyPr wrap="square" lIns="0" tIns="0" rIns="0" bIns="0" rtlCol="0" anchor="t"/>
          <a:lstStyle/>
          <a:p>
            <a:pPr indent="0" marL="0">
              <a:lnSpc>
                <a:spcPct val="100000"/>
              </a:lnSpc>
              <a:buNone/>
            </a:pPr>
            <a:r>
              <a:rPr lang="en-US" sz="550" dirty="0">
                <a:solidFill>
                  <a:srgbClr val="1A2E4A"/>
                </a:solidFill>
                <a:latin typeface="Calibri" pitchFamily="34" charset="0"/>
                <a:ea typeface="Calibri" pitchFamily="34" charset="-122"/>
                <a:cs typeface="Calibri" pitchFamily="34" charset="-120"/>
              </a:rPr>
              <a:t>· Pas de template de candidature</a:t>
            </a:r>
            <a:endParaRPr lang="en-US" sz="550" dirty="0"/>
          </a:p>
        </p:txBody>
      </p:sp>
      <p:sp>
        <p:nvSpPr>
          <p:cNvPr id="171" name="Shape 169"/>
          <p:cNvSpPr/>
          <p:nvPr/>
        </p:nvSpPr>
        <p:spPr>
          <a:xfrm>
            <a:off x="7738872" y="4331208"/>
            <a:ext cx="1249680" cy="451104"/>
          </a:xfrm>
          <a:prstGeom prst="rect">
            <a:avLst/>
          </a:prstGeom>
          <a:solidFill>
            <a:srgbClr val="EEF7EE"/>
          </a:solidFill>
          <a:ln w="12700">
            <a:solidFill>
              <a:srgbClr val="C8E6C8"/>
            </a:solidFill>
            <a:prstDash val="solid"/>
          </a:ln>
        </p:spPr>
      </p:sp>
      <p:sp>
        <p:nvSpPr>
          <p:cNvPr id="172" name="Text 170"/>
          <p:cNvSpPr/>
          <p:nvPr/>
        </p:nvSpPr>
        <p:spPr>
          <a:xfrm>
            <a:off x="7784592" y="4349496"/>
            <a:ext cx="1176528" cy="414528"/>
          </a:xfrm>
          <a:prstGeom prst="rect">
            <a:avLst/>
          </a:prstGeom>
          <a:noFill/>
          <a:ln/>
        </p:spPr>
        <p:txBody>
          <a:bodyPr wrap="square" lIns="0" tIns="0" rIns="0" bIns="0" rtlCol="0" anchor="t"/>
          <a:lstStyle/>
          <a:p>
            <a:pPr indent="0" marL="0">
              <a:lnSpc>
                <a:spcPct val="110000"/>
              </a:lnSpc>
              <a:buNone/>
            </a:pPr>
            <a:r>
              <a:rPr lang="en-US" sz="550" dirty="0">
                <a:solidFill>
                  <a:srgbClr val="1A6B44"/>
                </a:solidFill>
                <a:latin typeface="Calibri" pitchFamily="34" charset="0"/>
                <a:ea typeface="Calibri" pitchFamily="34" charset="-122"/>
                <a:cs typeface="Calibri" pitchFamily="34" charset="-120"/>
              </a:rPr>
              <a:t>▸ Template pré-rempli + alertes appels à projets</a:t>
            </a:r>
            <a:endParaRPr lang="en-US" sz="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0"/>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34E8E"/>
          </a:solidFill>
          <a:ln w="12700">
            <a:solidFill>
              <a:srgbClr val="134E8E"/>
            </a:solidFill>
            <a:prstDash val="solid"/>
          </a:ln>
        </p:spPr>
      </p:sp>
      <p:sp>
        <p:nvSpPr>
          <p:cNvPr id="3" name="Shape 1"/>
          <p:cNvSpPr/>
          <p:nvPr/>
        </p:nvSpPr>
        <p:spPr>
          <a:xfrm>
            <a:off x="0" y="0"/>
            <a:ext cx="137160" cy="960120"/>
          </a:xfrm>
          <a:prstGeom prst="rect">
            <a:avLst/>
          </a:prstGeom>
          <a:solidFill>
            <a:srgbClr val="C00707"/>
          </a:solidFill>
          <a:ln w="12700">
            <a:solidFill>
              <a:srgbClr val="C00707"/>
            </a:solidFill>
            <a:prstDash val="solid"/>
          </a:ln>
        </p:spPr>
      </p:sp>
      <p:sp>
        <p:nvSpPr>
          <p:cNvPr id="4" name="Text 2"/>
          <p:cNvSpPr/>
          <p:nvPr/>
        </p:nvSpPr>
        <p:spPr>
          <a:xfrm>
            <a:off x="320040" y="0"/>
            <a:ext cx="777240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04 — Synthèse</a:t>
            </a:r>
            <a:endParaRPr lang="en-US" sz="2200" dirty="0"/>
          </a:p>
        </p:txBody>
      </p:sp>
      <p:sp>
        <p:nvSpPr>
          <p:cNvPr id="5" name="Text 3"/>
          <p:cNvSpPr/>
          <p:nvPr/>
        </p:nvSpPr>
        <p:spPr>
          <a:xfrm>
            <a:off x="320040" y="594360"/>
            <a:ext cx="8503920" cy="320040"/>
          </a:xfrm>
          <a:prstGeom prst="rect">
            <a:avLst/>
          </a:prstGeom>
          <a:noFill/>
          <a:ln/>
        </p:spPr>
        <p:txBody>
          <a:bodyPr wrap="square" lIns="0" tIns="0" rIns="0" bIns="0" rtlCol="0" anchor="ctr"/>
          <a:lstStyle/>
          <a:p>
            <a:pPr indent="0" marL="0">
              <a:buNone/>
            </a:pPr>
            <a:r>
              <a:rPr lang="en-US" sz="1050" i="1" dirty="0">
                <a:solidFill>
                  <a:srgbClr val="8AAFC8"/>
                </a:solidFill>
                <a:latin typeface="Calibri" pitchFamily="34" charset="0"/>
                <a:ea typeface="Calibri" pitchFamily="34" charset="-122"/>
                <a:cs typeface="Calibri" pitchFamily="34" charset="-120"/>
              </a:rPr>
              <a:t>Analyse des besoins — Vue d'ensemble</a:t>
            </a:r>
            <a:endParaRPr lang="en-US" sz="1050" dirty="0"/>
          </a:p>
        </p:txBody>
      </p:sp>
      <p:sp>
        <p:nvSpPr>
          <p:cNvPr id="6" name="Shape 4"/>
          <p:cNvSpPr/>
          <p:nvPr/>
        </p:nvSpPr>
        <p:spPr>
          <a:xfrm>
            <a:off x="0" y="4956048"/>
            <a:ext cx="9144000" cy="182880"/>
          </a:xfrm>
          <a:prstGeom prst="rect">
            <a:avLst/>
          </a:prstGeom>
          <a:solidFill>
            <a:srgbClr val="134E8E"/>
          </a:solidFill>
          <a:ln w="12700">
            <a:solidFill>
              <a:srgbClr val="134E8E"/>
            </a:solidFill>
            <a:prstDash val="solid"/>
          </a:ln>
        </p:spPr>
      </p:sp>
      <p:sp>
        <p:nvSpPr>
          <p:cNvPr id="7" name="Text 5"/>
          <p:cNvSpPr/>
          <p:nvPr/>
        </p:nvSpPr>
        <p:spPr>
          <a:xfrm>
            <a:off x="182880" y="4919472"/>
            <a:ext cx="8778240" cy="219456"/>
          </a:xfrm>
          <a:prstGeom prst="rect">
            <a:avLst/>
          </a:prstGeom>
          <a:noFill/>
          <a:ln/>
        </p:spPr>
        <p:txBody>
          <a:bodyPr wrap="square" lIns="0" tIns="0" rIns="0" bIns="0" rtlCol="0" anchor="ctr"/>
          <a:lstStyle/>
          <a:p>
            <a:pPr algn="r" indent="0" marL="0">
              <a:buNone/>
            </a:pPr>
            <a:r>
              <a:rPr lang="en-US" sz="850" dirty="0">
                <a:solidFill>
                  <a:srgbClr val="FFFFFF"/>
                </a:solidFill>
                <a:latin typeface="Calibri" pitchFamily="34" charset="0"/>
                <a:ea typeface="Calibri" pitchFamily="34" charset="-122"/>
                <a:cs typeface="Calibri" pitchFamily="34" charset="-120"/>
              </a:rPr>
              <a:t>Application Data APD  ·  AFD  ·  DPM Project 2025</a:t>
            </a:r>
            <a:endParaRPr lang="en-US" sz="850" dirty="0"/>
          </a:p>
        </p:txBody>
      </p:sp>
      <p:sp>
        <p:nvSpPr>
          <p:cNvPr id="8" name="Shape 6"/>
          <p:cNvSpPr/>
          <p:nvPr/>
        </p:nvSpPr>
        <p:spPr>
          <a:xfrm>
            <a:off x="274320" y="1115568"/>
            <a:ext cx="2788920" cy="370332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274320" y="1115568"/>
            <a:ext cx="2788920" cy="457200"/>
          </a:xfrm>
          <a:prstGeom prst="rect">
            <a:avLst/>
          </a:prstGeom>
          <a:solidFill>
            <a:srgbClr val="C00707"/>
          </a:solidFill>
          <a:ln w="12700">
            <a:solidFill>
              <a:srgbClr val="C00707"/>
            </a:solidFill>
            <a:prstDash val="solid"/>
          </a:ln>
        </p:spPr>
      </p:sp>
      <p:sp>
        <p:nvSpPr>
          <p:cNvPr id="10" name="Text 8"/>
          <p:cNvSpPr/>
          <p:nvPr/>
        </p:nvSpPr>
        <p:spPr>
          <a:xfrm>
            <a:off x="411480" y="1170432"/>
            <a:ext cx="2514600" cy="347472"/>
          </a:xfrm>
          <a:prstGeom prst="rect">
            <a:avLst/>
          </a:prstGeom>
          <a:noFill/>
          <a:ln/>
        </p:spPr>
        <p:txBody>
          <a:bodyPr wrap="square" lIns="0" tIns="0" rIns="0" bIns="0" rtlCol="0" anchor="ctr"/>
          <a:lstStyle/>
          <a:p>
            <a:pPr indent="0" marL="0">
              <a:buNone/>
            </a:pPr>
            <a:r>
              <a:rPr lang="en-US" sz="1300" b="1" spc="150" kern="0" dirty="0">
                <a:solidFill>
                  <a:srgbClr val="FFFFFF"/>
                </a:solidFill>
                <a:latin typeface="Calibri" pitchFamily="34" charset="0"/>
                <a:ea typeface="Calibri" pitchFamily="34" charset="-122"/>
                <a:cs typeface="Calibri" pitchFamily="34" charset="-120"/>
              </a:rPr>
              <a:t>PROBLÈMES</a:t>
            </a:r>
            <a:endParaRPr lang="en-US" sz="1300" dirty="0"/>
          </a:p>
        </p:txBody>
      </p:sp>
      <p:sp>
        <p:nvSpPr>
          <p:cNvPr id="11" name="Shape 9"/>
          <p:cNvSpPr/>
          <p:nvPr/>
        </p:nvSpPr>
        <p:spPr>
          <a:xfrm>
            <a:off x="457200" y="1847088"/>
            <a:ext cx="201168" cy="201168"/>
          </a:xfrm>
          <a:prstGeom prst="ellipse">
            <a:avLst/>
          </a:prstGeom>
          <a:solidFill>
            <a:srgbClr val="C00707"/>
          </a:solidFill>
          <a:ln w="12700">
            <a:solidFill>
              <a:srgbClr val="C00707"/>
            </a:solidFill>
            <a:prstDash val="solid"/>
          </a:ln>
        </p:spPr>
      </p:sp>
      <p:sp>
        <p:nvSpPr>
          <p:cNvPr id="12" name="Text 10"/>
          <p:cNvSpPr/>
          <p:nvPr/>
        </p:nvSpPr>
        <p:spPr>
          <a:xfrm>
            <a:off x="777240" y="1755648"/>
            <a:ext cx="2148840" cy="658368"/>
          </a:xfrm>
          <a:prstGeom prst="rect">
            <a:avLst/>
          </a:prstGeom>
          <a:noFill/>
          <a:ln/>
        </p:spPr>
        <p:txBody>
          <a:bodyPr wrap="square" lIns="0" tIns="0" rIns="0" bIns="0" rtlCol="0" anchor="ctr"/>
          <a:lstStyle/>
          <a:p>
            <a:pPr indent="0" marL="0">
              <a:lnSpc>
                <a:spcPct val="130000"/>
              </a:lnSpc>
              <a:buNone/>
            </a:pPr>
            <a:r>
              <a:rPr lang="en-US" sz="1150" dirty="0">
                <a:solidFill>
                  <a:srgbClr val="1A2E4A"/>
                </a:solidFill>
                <a:latin typeface="Calibri" pitchFamily="34" charset="0"/>
                <a:ea typeface="Calibri" pitchFamily="34" charset="-122"/>
                <a:cs typeface="Calibri" pitchFamily="34" charset="-120"/>
              </a:rPr>
              <a:t>Données éparpillées dans de multiples fichiers</a:t>
            </a:r>
            <a:endParaRPr lang="en-US" sz="1150" dirty="0"/>
          </a:p>
        </p:txBody>
      </p:sp>
      <p:sp>
        <p:nvSpPr>
          <p:cNvPr id="13" name="Shape 11"/>
          <p:cNvSpPr/>
          <p:nvPr/>
        </p:nvSpPr>
        <p:spPr>
          <a:xfrm>
            <a:off x="457200" y="2834640"/>
            <a:ext cx="201168" cy="201168"/>
          </a:xfrm>
          <a:prstGeom prst="ellipse">
            <a:avLst/>
          </a:prstGeom>
          <a:solidFill>
            <a:srgbClr val="C00707"/>
          </a:solidFill>
          <a:ln w="12700">
            <a:solidFill>
              <a:srgbClr val="C00707"/>
            </a:solidFill>
            <a:prstDash val="solid"/>
          </a:ln>
        </p:spPr>
      </p:sp>
      <p:sp>
        <p:nvSpPr>
          <p:cNvPr id="14" name="Text 12"/>
          <p:cNvSpPr/>
          <p:nvPr/>
        </p:nvSpPr>
        <p:spPr>
          <a:xfrm>
            <a:off x="777240" y="2743200"/>
            <a:ext cx="2148840" cy="658368"/>
          </a:xfrm>
          <a:prstGeom prst="rect">
            <a:avLst/>
          </a:prstGeom>
          <a:noFill/>
          <a:ln/>
        </p:spPr>
        <p:txBody>
          <a:bodyPr wrap="square" lIns="0" tIns="0" rIns="0" bIns="0" rtlCol="0" anchor="ctr"/>
          <a:lstStyle/>
          <a:p>
            <a:pPr indent="0" marL="0">
              <a:lnSpc>
                <a:spcPct val="130000"/>
              </a:lnSpc>
              <a:buNone/>
            </a:pPr>
            <a:r>
              <a:rPr lang="en-US" sz="1150" dirty="0">
                <a:solidFill>
                  <a:srgbClr val="1A2E4A"/>
                </a:solidFill>
                <a:latin typeface="Calibri" pitchFamily="34" charset="0"/>
                <a:ea typeface="Calibri" pitchFamily="34" charset="-122"/>
                <a:cs typeface="Calibri" pitchFamily="34" charset="-120"/>
              </a:rPr>
              <a:t>Manque de visualisation des tendances</a:t>
            </a:r>
            <a:endParaRPr lang="en-US" sz="1150" dirty="0"/>
          </a:p>
        </p:txBody>
      </p:sp>
      <p:sp>
        <p:nvSpPr>
          <p:cNvPr id="15" name="Shape 13"/>
          <p:cNvSpPr/>
          <p:nvPr/>
        </p:nvSpPr>
        <p:spPr>
          <a:xfrm>
            <a:off x="457200" y="3822192"/>
            <a:ext cx="201168" cy="201168"/>
          </a:xfrm>
          <a:prstGeom prst="ellipse">
            <a:avLst/>
          </a:prstGeom>
          <a:solidFill>
            <a:srgbClr val="C00707"/>
          </a:solidFill>
          <a:ln w="12700">
            <a:solidFill>
              <a:srgbClr val="C00707"/>
            </a:solidFill>
            <a:prstDash val="solid"/>
          </a:ln>
        </p:spPr>
      </p:sp>
      <p:sp>
        <p:nvSpPr>
          <p:cNvPr id="16" name="Text 14"/>
          <p:cNvSpPr/>
          <p:nvPr/>
        </p:nvSpPr>
        <p:spPr>
          <a:xfrm>
            <a:off x="777240" y="3730752"/>
            <a:ext cx="2148840" cy="658368"/>
          </a:xfrm>
          <a:prstGeom prst="rect">
            <a:avLst/>
          </a:prstGeom>
          <a:noFill/>
          <a:ln/>
        </p:spPr>
        <p:txBody>
          <a:bodyPr wrap="square" lIns="0" tIns="0" rIns="0" bIns="0" rtlCol="0" anchor="ctr"/>
          <a:lstStyle/>
          <a:p>
            <a:pPr indent="0" marL="0">
              <a:lnSpc>
                <a:spcPct val="130000"/>
              </a:lnSpc>
              <a:buNone/>
            </a:pPr>
            <a:r>
              <a:rPr lang="en-US" sz="1150" dirty="0">
                <a:solidFill>
                  <a:srgbClr val="1A2E4A"/>
                </a:solidFill>
                <a:latin typeface="Calibri" pitchFamily="34" charset="0"/>
                <a:ea typeface="Calibri" pitchFamily="34" charset="-122"/>
                <a:cs typeface="Calibri" pitchFamily="34" charset="-120"/>
              </a:rPr>
              <a:t>Absence d'outils de prédiction et comparaison</a:t>
            </a:r>
            <a:endParaRPr lang="en-US" sz="1150" dirty="0"/>
          </a:p>
        </p:txBody>
      </p:sp>
      <p:sp>
        <p:nvSpPr>
          <p:cNvPr id="17" name="Shape 15"/>
          <p:cNvSpPr/>
          <p:nvPr/>
        </p:nvSpPr>
        <p:spPr>
          <a:xfrm>
            <a:off x="3246120" y="1115568"/>
            <a:ext cx="2788920" cy="370332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18" name="Shape 16"/>
          <p:cNvSpPr/>
          <p:nvPr/>
        </p:nvSpPr>
        <p:spPr>
          <a:xfrm>
            <a:off x="3246120" y="1115568"/>
            <a:ext cx="2788920" cy="457200"/>
          </a:xfrm>
          <a:prstGeom prst="rect">
            <a:avLst/>
          </a:prstGeom>
          <a:solidFill>
            <a:srgbClr val="134E8E"/>
          </a:solidFill>
          <a:ln w="12700">
            <a:solidFill>
              <a:srgbClr val="134E8E"/>
            </a:solidFill>
            <a:prstDash val="solid"/>
          </a:ln>
        </p:spPr>
      </p:sp>
      <p:sp>
        <p:nvSpPr>
          <p:cNvPr id="19" name="Text 17"/>
          <p:cNvSpPr/>
          <p:nvPr/>
        </p:nvSpPr>
        <p:spPr>
          <a:xfrm>
            <a:off x="3383280" y="1170432"/>
            <a:ext cx="2514600" cy="347472"/>
          </a:xfrm>
          <a:prstGeom prst="rect">
            <a:avLst/>
          </a:prstGeom>
          <a:noFill/>
          <a:ln/>
        </p:spPr>
        <p:txBody>
          <a:bodyPr wrap="square" lIns="0" tIns="0" rIns="0" bIns="0" rtlCol="0" anchor="ctr"/>
          <a:lstStyle/>
          <a:p>
            <a:pPr indent="0" marL="0">
              <a:buNone/>
            </a:pPr>
            <a:r>
              <a:rPr lang="en-US" sz="1300" b="1" spc="150" kern="0" dirty="0">
                <a:solidFill>
                  <a:srgbClr val="FFFFFF"/>
                </a:solidFill>
                <a:latin typeface="Calibri" pitchFamily="34" charset="0"/>
                <a:ea typeface="Calibri" pitchFamily="34" charset="-122"/>
                <a:cs typeface="Calibri" pitchFamily="34" charset="-120"/>
              </a:rPr>
              <a:t>IMPACTS</a:t>
            </a:r>
            <a:endParaRPr lang="en-US" sz="1300" dirty="0"/>
          </a:p>
        </p:txBody>
      </p:sp>
      <p:sp>
        <p:nvSpPr>
          <p:cNvPr id="20" name="Shape 18"/>
          <p:cNvSpPr/>
          <p:nvPr/>
        </p:nvSpPr>
        <p:spPr>
          <a:xfrm>
            <a:off x="3429000" y="1847088"/>
            <a:ext cx="201168" cy="201168"/>
          </a:xfrm>
          <a:prstGeom prst="ellipse">
            <a:avLst/>
          </a:prstGeom>
          <a:solidFill>
            <a:srgbClr val="134E8E"/>
          </a:solidFill>
          <a:ln w="12700">
            <a:solidFill>
              <a:srgbClr val="134E8E"/>
            </a:solidFill>
            <a:prstDash val="solid"/>
          </a:ln>
        </p:spPr>
      </p:sp>
      <p:sp>
        <p:nvSpPr>
          <p:cNvPr id="21" name="Text 19"/>
          <p:cNvSpPr/>
          <p:nvPr/>
        </p:nvSpPr>
        <p:spPr>
          <a:xfrm>
            <a:off x="3749040" y="1755648"/>
            <a:ext cx="2148840" cy="658368"/>
          </a:xfrm>
          <a:prstGeom prst="rect">
            <a:avLst/>
          </a:prstGeom>
          <a:noFill/>
          <a:ln/>
        </p:spPr>
        <p:txBody>
          <a:bodyPr wrap="square" lIns="0" tIns="0" rIns="0" bIns="0" rtlCol="0" anchor="ctr"/>
          <a:lstStyle/>
          <a:p>
            <a:pPr indent="0" marL="0">
              <a:lnSpc>
                <a:spcPct val="130000"/>
              </a:lnSpc>
              <a:buNone/>
            </a:pPr>
            <a:r>
              <a:rPr lang="en-US" sz="1150" dirty="0">
                <a:solidFill>
                  <a:srgbClr val="1A2E4A"/>
                </a:solidFill>
                <a:latin typeface="Calibri" pitchFamily="34" charset="0"/>
                <a:ea typeface="Calibri" pitchFamily="34" charset="-122"/>
                <a:cs typeface="Calibri" pitchFamily="34" charset="-120"/>
              </a:rPr>
              <a:t>Temps de reporting allongé</a:t>
            </a:r>
            <a:endParaRPr lang="en-US" sz="1150" dirty="0"/>
          </a:p>
        </p:txBody>
      </p:sp>
      <p:sp>
        <p:nvSpPr>
          <p:cNvPr id="22" name="Shape 20"/>
          <p:cNvSpPr/>
          <p:nvPr/>
        </p:nvSpPr>
        <p:spPr>
          <a:xfrm>
            <a:off x="3429000" y="2834640"/>
            <a:ext cx="201168" cy="201168"/>
          </a:xfrm>
          <a:prstGeom prst="ellipse">
            <a:avLst/>
          </a:prstGeom>
          <a:solidFill>
            <a:srgbClr val="134E8E"/>
          </a:solidFill>
          <a:ln w="12700">
            <a:solidFill>
              <a:srgbClr val="134E8E"/>
            </a:solidFill>
            <a:prstDash val="solid"/>
          </a:ln>
        </p:spPr>
      </p:sp>
      <p:sp>
        <p:nvSpPr>
          <p:cNvPr id="23" name="Text 21"/>
          <p:cNvSpPr/>
          <p:nvPr/>
        </p:nvSpPr>
        <p:spPr>
          <a:xfrm>
            <a:off x="3749040" y="2743200"/>
            <a:ext cx="2148840" cy="658368"/>
          </a:xfrm>
          <a:prstGeom prst="rect">
            <a:avLst/>
          </a:prstGeom>
          <a:noFill/>
          <a:ln/>
        </p:spPr>
        <p:txBody>
          <a:bodyPr wrap="square" lIns="0" tIns="0" rIns="0" bIns="0" rtlCol="0" anchor="ctr"/>
          <a:lstStyle/>
          <a:p>
            <a:pPr indent="0" marL="0">
              <a:lnSpc>
                <a:spcPct val="130000"/>
              </a:lnSpc>
              <a:buNone/>
            </a:pPr>
            <a:r>
              <a:rPr lang="en-US" sz="1150" dirty="0">
                <a:solidFill>
                  <a:srgbClr val="1A2E4A"/>
                </a:solidFill>
                <a:latin typeface="Calibri" pitchFamily="34" charset="0"/>
                <a:ea typeface="Calibri" pitchFamily="34" charset="-122"/>
                <a:cs typeface="Calibri" pitchFamily="34" charset="-120"/>
              </a:rPr>
              <a:t>Prises de décision moins éclairées</a:t>
            </a:r>
            <a:endParaRPr lang="en-US" sz="1150" dirty="0"/>
          </a:p>
        </p:txBody>
      </p:sp>
      <p:sp>
        <p:nvSpPr>
          <p:cNvPr id="24" name="Shape 22"/>
          <p:cNvSpPr/>
          <p:nvPr/>
        </p:nvSpPr>
        <p:spPr>
          <a:xfrm>
            <a:off x="3429000" y="3822192"/>
            <a:ext cx="201168" cy="201168"/>
          </a:xfrm>
          <a:prstGeom prst="ellipse">
            <a:avLst/>
          </a:prstGeom>
          <a:solidFill>
            <a:srgbClr val="134E8E"/>
          </a:solidFill>
          <a:ln w="12700">
            <a:solidFill>
              <a:srgbClr val="134E8E"/>
            </a:solidFill>
            <a:prstDash val="solid"/>
          </a:ln>
        </p:spPr>
      </p:sp>
      <p:sp>
        <p:nvSpPr>
          <p:cNvPr id="25" name="Text 23"/>
          <p:cNvSpPr/>
          <p:nvPr/>
        </p:nvSpPr>
        <p:spPr>
          <a:xfrm>
            <a:off x="3749040" y="3730752"/>
            <a:ext cx="2148840" cy="658368"/>
          </a:xfrm>
          <a:prstGeom prst="rect">
            <a:avLst/>
          </a:prstGeom>
          <a:noFill/>
          <a:ln/>
        </p:spPr>
        <p:txBody>
          <a:bodyPr wrap="square" lIns="0" tIns="0" rIns="0" bIns="0" rtlCol="0" anchor="ctr"/>
          <a:lstStyle/>
          <a:p>
            <a:pPr indent="0" marL="0">
              <a:lnSpc>
                <a:spcPct val="130000"/>
              </a:lnSpc>
              <a:buNone/>
            </a:pPr>
            <a:r>
              <a:rPr lang="en-US" sz="1150" dirty="0">
                <a:solidFill>
                  <a:srgbClr val="1A2E4A"/>
                </a:solidFill>
                <a:latin typeface="Calibri" pitchFamily="34" charset="0"/>
                <a:ea typeface="Calibri" pitchFamily="34" charset="-122"/>
                <a:cs typeface="Calibri" pitchFamily="34" charset="-120"/>
              </a:rPr>
              <a:t>Difficulté à anticiper les flux financiers</a:t>
            </a:r>
            <a:endParaRPr lang="en-US" sz="1150" dirty="0"/>
          </a:p>
        </p:txBody>
      </p:sp>
      <p:sp>
        <p:nvSpPr>
          <p:cNvPr id="26" name="Shape 24"/>
          <p:cNvSpPr/>
          <p:nvPr/>
        </p:nvSpPr>
        <p:spPr>
          <a:xfrm>
            <a:off x="6217920" y="1115568"/>
            <a:ext cx="2788920" cy="370332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27" name="Shape 25"/>
          <p:cNvSpPr/>
          <p:nvPr/>
        </p:nvSpPr>
        <p:spPr>
          <a:xfrm>
            <a:off x="6217920" y="1115568"/>
            <a:ext cx="2788920" cy="457200"/>
          </a:xfrm>
          <a:prstGeom prst="rect">
            <a:avLst/>
          </a:prstGeom>
          <a:solidFill>
            <a:srgbClr val="1A8A4A"/>
          </a:solidFill>
          <a:ln w="12700">
            <a:solidFill>
              <a:srgbClr val="1A8A4A"/>
            </a:solidFill>
            <a:prstDash val="solid"/>
          </a:ln>
        </p:spPr>
      </p:sp>
      <p:sp>
        <p:nvSpPr>
          <p:cNvPr id="28" name="Text 26"/>
          <p:cNvSpPr/>
          <p:nvPr/>
        </p:nvSpPr>
        <p:spPr>
          <a:xfrm>
            <a:off x="6355080" y="1170432"/>
            <a:ext cx="2514600" cy="347472"/>
          </a:xfrm>
          <a:prstGeom prst="rect">
            <a:avLst/>
          </a:prstGeom>
          <a:noFill/>
          <a:ln/>
        </p:spPr>
        <p:txBody>
          <a:bodyPr wrap="square" lIns="0" tIns="0" rIns="0" bIns="0" rtlCol="0" anchor="ctr"/>
          <a:lstStyle/>
          <a:p>
            <a:pPr indent="0" marL="0">
              <a:buNone/>
            </a:pPr>
            <a:r>
              <a:rPr lang="en-US" sz="1300" b="1" spc="150" kern="0" dirty="0">
                <a:solidFill>
                  <a:srgbClr val="FFFFFF"/>
                </a:solidFill>
                <a:latin typeface="Calibri" pitchFamily="34" charset="0"/>
                <a:ea typeface="Calibri" pitchFamily="34" charset="-122"/>
                <a:cs typeface="Calibri" pitchFamily="34" charset="-120"/>
              </a:rPr>
              <a:t>SOLUTIONS</a:t>
            </a:r>
            <a:endParaRPr lang="en-US" sz="1300" dirty="0"/>
          </a:p>
        </p:txBody>
      </p:sp>
      <p:sp>
        <p:nvSpPr>
          <p:cNvPr id="29" name="Shape 27"/>
          <p:cNvSpPr/>
          <p:nvPr/>
        </p:nvSpPr>
        <p:spPr>
          <a:xfrm>
            <a:off x="6400800" y="1847088"/>
            <a:ext cx="201168" cy="201168"/>
          </a:xfrm>
          <a:prstGeom prst="ellipse">
            <a:avLst/>
          </a:prstGeom>
          <a:solidFill>
            <a:srgbClr val="1A8A4A"/>
          </a:solidFill>
          <a:ln w="12700">
            <a:solidFill>
              <a:srgbClr val="1A8A4A"/>
            </a:solidFill>
            <a:prstDash val="solid"/>
          </a:ln>
        </p:spPr>
      </p:sp>
      <p:sp>
        <p:nvSpPr>
          <p:cNvPr id="30" name="Text 28"/>
          <p:cNvSpPr/>
          <p:nvPr/>
        </p:nvSpPr>
        <p:spPr>
          <a:xfrm>
            <a:off x="6720840" y="1755648"/>
            <a:ext cx="2148840" cy="658368"/>
          </a:xfrm>
          <a:prstGeom prst="rect">
            <a:avLst/>
          </a:prstGeom>
          <a:noFill/>
          <a:ln/>
        </p:spPr>
        <p:txBody>
          <a:bodyPr wrap="square" lIns="0" tIns="0" rIns="0" bIns="0" rtlCol="0" anchor="ctr"/>
          <a:lstStyle/>
          <a:p>
            <a:pPr indent="0" marL="0">
              <a:lnSpc>
                <a:spcPct val="130000"/>
              </a:lnSpc>
              <a:buNone/>
            </a:pPr>
            <a:r>
              <a:rPr lang="en-US" sz="1150" dirty="0">
                <a:solidFill>
                  <a:srgbClr val="1A2E4A"/>
                </a:solidFill>
                <a:latin typeface="Calibri" pitchFamily="34" charset="0"/>
                <a:ea typeface="Calibri" pitchFamily="34" charset="-122"/>
                <a:cs typeface="Calibri" pitchFamily="34" charset="-120"/>
              </a:rPr>
              <a:t>Visualisation consolidée des données APD</a:t>
            </a:r>
            <a:endParaRPr lang="en-US" sz="1150" dirty="0"/>
          </a:p>
        </p:txBody>
      </p:sp>
      <p:sp>
        <p:nvSpPr>
          <p:cNvPr id="31" name="Shape 29"/>
          <p:cNvSpPr/>
          <p:nvPr/>
        </p:nvSpPr>
        <p:spPr>
          <a:xfrm>
            <a:off x="6400800" y="2834640"/>
            <a:ext cx="201168" cy="201168"/>
          </a:xfrm>
          <a:prstGeom prst="ellipse">
            <a:avLst/>
          </a:prstGeom>
          <a:solidFill>
            <a:srgbClr val="1A8A4A"/>
          </a:solidFill>
          <a:ln w="12700">
            <a:solidFill>
              <a:srgbClr val="1A8A4A"/>
            </a:solidFill>
            <a:prstDash val="solid"/>
          </a:ln>
        </p:spPr>
      </p:sp>
      <p:sp>
        <p:nvSpPr>
          <p:cNvPr id="32" name="Text 30"/>
          <p:cNvSpPr/>
          <p:nvPr/>
        </p:nvSpPr>
        <p:spPr>
          <a:xfrm>
            <a:off x="6720840" y="2743200"/>
            <a:ext cx="2148840" cy="658368"/>
          </a:xfrm>
          <a:prstGeom prst="rect">
            <a:avLst/>
          </a:prstGeom>
          <a:noFill/>
          <a:ln/>
        </p:spPr>
        <p:txBody>
          <a:bodyPr wrap="square" lIns="0" tIns="0" rIns="0" bIns="0" rtlCol="0" anchor="ctr"/>
          <a:lstStyle/>
          <a:p>
            <a:pPr indent="0" marL="0">
              <a:lnSpc>
                <a:spcPct val="130000"/>
              </a:lnSpc>
              <a:buNone/>
            </a:pPr>
            <a:r>
              <a:rPr lang="en-US" sz="1150" dirty="0">
                <a:solidFill>
                  <a:srgbClr val="1A2E4A"/>
                </a:solidFill>
                <a:latin typeface="Calibri" pitchFamily="34" charset="0"/>
                <a:ea typeface="Calibri" pitchFamily="34" charset="-122"/>
                <a:cs typeface="Calibri" pitchFamily="34" charset="-120"/>
              </a:rPr>
              <a:t>Modèles prédictifs &amp; simulations</a:t>
            </a:r>
            <a:endParaRPr lang="en-US" sz="1150" dirty="0"/>
          </a:p>
        </p:txBody>
      </p:sp>
      <p:sp>
        <p:nvSpPr>
          <p:cNvPr id="33" name="Shape 31"/>
          <p:cNvSpPr/>
          <p:nvPr/>
        </p:nvSpPr>
        <p:spPr>
          <a:xfrm>
            <a:off x="6400800" y="3822192"/>
            <a:ext cx="201168" cy="201168"/>
          </a:xfrm>
          <a:prstGeom prst="ellipse">
            <a:avLst/>
          </a:prstGeom>
          <a:solidFill>
            <a:srgbClr val="1A8A4A"/>
          </a:solidFill>
          <a:ln w="12700">
            <a:solidFill>
              <a:srgbClr val="1A8A4A"/>
            </a:solidFill>
            <a:prstDash val="solid"/>
          </a:ln>
        </p:spPr>
      </p:sp>
      <p:sp>
        <p:nvSpPr>
          <p:cNvPr id="34" name="Text 32"/>
          <p:cNvSpPr/>
          <p:nvPr/>
        </p:nvSpPr>
        <p:spPr>
          <a:xfrm>
            <a:off x="6720840" y="3730752"/>
            <a:ext cx="2148840" cy="658368"/>
          </a:xfrm>
          <a:prstGeom prst="rect">
            <a:avLst/>
          </a:prstGeom>
          <a:noFill/>
          <a:ln/>
        </p:spPr>
        <p:txBody>
          <a:bodyPr wrap="square" lIns="0" tIns="0" rIns="0" bIns="0" rtlCol="0" anchor="ctr"/>
          <a:lstStyle/>
          <a:p>
            <a:pPr indent="0" marL="0">
              <a:lnSpc>
                <a:spcPct val="130000"/>
              </a:lnSpc>
              <a:buNone/>
            </a:pPr>
            <a:r>
              <a:rPr lang="en-US" sz="1150" dirty="0">
                <a:solidFill>
                  <a:srgbClr val="1A2E4A"/>
                </a:solidFill>
                <a:latin typeface="Calibri" pitchFamily="34" charset="0"/>
                <a:ea typeface="Calibri" pitchFamily="34" charset="-122"/>
                <a:cs typeface="Calibri" pitchFamily="34" charset="-120"/>
              </a:rPr>
              <a:t>Rapports automatisés + comparaisons OCDE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0"/>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34E8E"/>
          </a:solidFill>
          <a:ln w="12700">
            <a:solidFill>
              <a:srgbClr val="134E8E"/>
            </a:solidFill>
            <a:prstDash val="solid"/>
          </a:ln>
        </p:spPr>
      </p:sp>
      <p:sp>
        <p:nvSpPr>
          <p:cNvPr id="3" name="Shape 1"/>
          <p:cNvSpPr/>
          <p:nvPr/>
        </p:nvSpPr>
        <p:spPr>
          <a:xfrm>
            <a:off x="0" y="0"/>
            <a:ext cx="137160" cy="960120"/>
          </a:xfrm>
          <a:prstGeom prst="rect">
            <a:avLst/>
          </a:prstGeom>
          <a:solidFill>
            <a:srgbClr val="C00707"/>
          </a:solidFill>
          <a:ln w="12700">
            <a:solidFill>
              <a:srgbClr val="C00707"/>
            </a:solidFill>
            <a:prstDash val="solid"/>
          </a:ln>
        </p:spPr>
      </p:sp>
      <p:sp>
        <p:nvSpPr>
          <p:cNvPr id="4" name="Text 2"/>
          <p:cNvSpPr/>
          <p:nvPr/>
        </p:nvSpPr>
        <p:spPr>
          <a:xfrm>
            <a:off x="320040" y="0"/>
            <a:ext cx="777240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05 — Pain Points</a:t>
            </a:r>
            <a:endParaRPr lang="en-US" sz="2200" dirty="0"/>
          </a:p>
        </p:txBody>
      </p:sp>
      <p:sp>
        <p:nvSpPr>
          <p:cNvPr id="5" name="Text 3"/>
          <p:cNvSpPr/>
          <p:nvPr/>
        </p:nvSpPr>
        <p:spPr>
          <a:xfrm>
            <a:off x="320040" y="594360"/>
            <a:ext cx="8503920" cy="320040"/>
          </a:xfrm>
          <a:prstGeom prst="rect">
            <a:avLst/>
          </a:prstGeom>
          <a:noFill/>
          <a:ln/>
        </p:spPr>
        <p:txBody>
          <a:bodyPr wrap="square" lIns="0" tIns="0" rIns="0" bIns="0" rtlCol="0" anchor="ctr"/>
          <a:lstStyle/>
          <a:p>
            <a:pPr indent="0" marL="0">
              <a:buNone/>
            </a:pPr>
            <a:r>
              <a:rPr lang="en-US" sz="1050" i="1" dirty="0">
                <a:solidFill>
                  <a:srgbClr val="8AAFC8"/>
                </a:solidFill>
                <a:latin typeface="Calibri" pitchFamily="34" charset="0"/>
                <a:ea typeface="Calibri" pitchFamily="34" charset="-122"/>
                <a:cs typeface="Calibri" pitchFamily="34" charset="-120"/>
              </a:rPr>
              <a:t>Ce qui ne fonctionne pas — 3 problèmes critiques</a:t>
            </a:r>
            <a:endParaRPr lang="en-US" sz="1050" dirty="0"/>
          </a:p>
        </p:txBody>
      </p:sp>
      <p:sp>
        <p:nvSpPr>
          <p:cNvPr id="6" name="Shape 4"/>
          <p:cNvSpPr/>
          <p:nvPr/>
        </p:nvSpPr>
        <p:spPr>
          <a:xfrm>
            <a:off x="0" y="4956048"/>
            <a:ext cx="9144000" cy="182880"/>
          </a:xfrm>
          <a:prstGeom prst="rect">
            <a:avLst/>
          </a:prstGeom>
          <a:solidFill>
            <a:srgbClr val="134E8E"/>
          </a:solidFill>
          <a:ln w="12700">
            <a:solidFill>
              <a:srgbClr val="134E8E"/>
            </a:solidFill>
            <a:prstDash val="solid"/>
          </a:ln>
        </p:spPr>
      </p:sp>
      <p:sp>
        <p:nvSpPr>
          <p:cNvPr id="7" name="Text 5"/>
          <p:cNvSpPr/>
          <p:nvPr/>
        </p:nvSpPr>
        <p:spPr>
          <a:xfrm>
            <a:off x="182880" y="4919472"/>
            <a:ext cx="8778240" cy="219456"/>
          </a:xfrm>
          <a:prstGeom prst="rect">
            <a:avLst/>
          </a:prstGeom>
          <a:noFill/>
          <a:ln/>
        </p:spPr>
        <p:txBody>
          <a:bodyPr wrap="square" lIns="0" tIns="0" rIns="0" bIns="0" rtlCol="0" anchor="ctr"/>
          <a:lstStyle/>
          <a:p>
            <a:pPr algn="r" indent="0" marL="0">
              <a:buNone/>
            </a:pPr>
            <a:r>
              <a:rPr lang="en-US" sz="850" dirty="0">
                <a:solidFill>
                  <a:srgbClr val="FFFFFF"/>
                </a:solidFill>
                <a:latin typeface="Calibri" pitchFamily="34" charset="0"/>
                <a:ea typeface="Calibri" pitchFamily="34" charset="-122"/>
                <a:cs typeface="Calibri" pitchFamily="34" charset="-120"/>
              </a:rPr>
              <a:t>Application Data APD  ·  AFD  ·  DPM Project 2025</a:t>
            </a:r>
            <a:endParaRPr lang="en-US" sz="850" dirty="0"/>
          </a:p>
        </p:txBody>
      </p:sp>
      <p:sp>
        <p:nvSpPr>
          <p:cNvPr id="8" name="Shape 6"/>
          <p:cNvSpPr/>
          <p:nvPr/>
        </p:nvSpPr>
        <p:spPr>
          <a:xfrm>
            <a:off x="274320" y="1115568"/>
            <a:ext cx="2788920" cy="370332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274320" y="1115568"/>
            <a:ext cx="2788920" cy="54864"/>
          </a:xfrm>
          <a:prstGeom prst="rect">
            <a:avLst/>
          </a:prstGeom>
          <a:solidFill>
            <a:srgbClr val="C00707"/>
          </a:solidFill>
          <a:ln w="12700">
            <a:solidFill>
              <a:srgbClr val="C00707"/>
            </a:solidFill>
            <a:prstDash val="solid"/>
          </a:ln>
        </p:spPr>
      </p:sp>
      <p:sp>
        <p:nvSpPr>
          <p:cNvPr id="10" name="Text 8"/>
          <p:cNvSpPr/>
          <p:nvPr/>
        </p:nvSpPr>
        <p:spPr>
          <a:xfrm>
            <a:off x="411480" y="1188720"/>
            <a:ext cx="685800" cy="685800"/>
          </a:xfrm>
          <a:prstGeom prst="rect">
            <a:avLst/>
          </a:prstGeom>
          <a:noFill/>
          <a:ln/>
        </p:spPr>
        <p:txBody>
          <a:bodyPr wrap="square" lIns="0" tIns="0" rIns="0" bIns="0" rtlCol="0" anchor="ctr"/>
          <a:lstStyle/>
          <a:p>
            <a:pPr indent="0" marL="0">
              <a:buNone/>
            </a:pPr>
            <a:r>
              <a:rPr lang="en-US" sz="4000" b="1" dirty="0">
                <a:solidFill>
                  <a:srgbClr val="E8F2FA"/>
                </a:solidFill>
                <a:latin typeface="Georgia" pitchFamily="34" charset="0"/>
                <a:ea typeface="Georgia" pitchFamily="34" charset="-122"/>
                <a:cs typeface="Georgia" pitchFamily="34" charset="-120"/>
              </a:rPr>
              <a:t>01</a:t>
            </a:r>
            <a:endParaRPr lang="en-US" sz="4000" dirty="0"/>
          </a:p>
        </p:txBody>
      </p:sp>
      <p:sp>
        <p:nvSpPr>
          <p:cNvPr id="11" name="Shape 9"/>
          <p:cNvSpPr/>
          <p:nvPr/>
        </p:nvSpPr>
        <p:spPr>
          <a:xfrm>
            <a:off x="2423160" y="1225296"/>
            <a:ext cx="457200" cy="457200"/>
          </a:xfrm>
          <a:prstGeom prst="ellipse">
            <a:avLst/>
          </a:prstGeom>
          <a:solidFill>
            <a:srgbClr val="C00707"/>
          </a:solidFill>
          <a:ln w="12700">
            <a:solidFill>
              <a:srgbClr val="C00707"/>
            </a:solidFill>
            <a:prstDash val="solid"/>
          </a:ln>
        </p:spPr>
      </p:sp>
      <p:sp>
        <p:nvSpPr>
          <p:cNvPr id="12" name="Text 10"/>
          <p:cNvSpPr/>
          <p:nvPr/>
        </p:nvSpPr>
        <p:spPr>
          <a:xfrm>
            <a:off x="2423160" y="122529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13" name="Text 11"/>
          <p:cNvSpPr/>
          <p:nvPr/>
        </p:nvSpPr>
        <p:spPr>
          <a:xfrm>
            <a:off x="411480" y="1938528"/>
            <a:ext cx="2514600" cy="502920"/>
          </a:xfrm>
          <a:prstGeom prst="rect">
            <a:avLst/>
          </a:prstGeom>
          <a:noFill/>
          <a:ln/>
        </p:spPr>
        <p:txBody>
          <a:bodyPr wrap="square" lIns="0" tIns="0" rIns="0" bIns="0" rtlCol="0" anchor="ctr"/>
          <a:lstStyle/>
          <a:p>
            <a:pPr indent="0" marL="0">
              <a:lnSpc>
                <a:spcPct val="125000"/>
              </a:lnSpc>
              <a:buNone/>
            </a:pPr>
            <a:r>
              <a:rPr lang="en-US" sz="1300" b="1" dirty="0">
                <a:solidFill>
                  <a:srgbClr val="134E8E"/>
                </a:solidFill>
                <a:latin typeface="Calibri" pitchFamily="34" charset="0"/>
                <a:ea typeface="Calibri" pitchFamily="34" charset="-122"/>
                <a:cs typeface="Calibri" pitchFamily="34" charset="-120"/>
              </a:rPr>
              <a:t>Comparaison &amp; Prédictions</a:t>
            </a:r>
            <a:endParaRPr lang="en-US" sz="1300" dirty="0"/>
          </a:p>
        </p:txBody>
      </p:sp>
      <p:sp>
        <p:nvSpPr>
          <p:cNvPr id="14" name="Shape 12"/>
          <p:cNvSpPr/>
          <p:nvPr/>
        </p:nvSpPr>
        <p:spPr>
          <a:xfrm>
            <a:off x="411480" y="2487168"/>
            <a:ext cx="2514600" cy="0"/>
          </a:xfrm>
          <a:prstGeom prst="line">
            <a:avLst/>
          </a:prstGeom>
          <a:noFill/>
          <a:ln w="12700">
            <a:solidFill>
              <a:srgbClr val="DDE6F0"/>
            </a:solidFill>
            <a:prstDash val="solid"/>
          </a:ln>
        </p:spPr>
      </p:sp>
      <p:sp>
        <p:nvSpPr>
          <p:cNvPr id="15" name="Text 13"/>
          <p:cNvSpPr/>
          <p:nvPr/>
        </p:nvSpPr>
        <p:spPr>
          <a:xfrm>
            <a:off x="411480" y="2560320"/>
            <a:ext cx="2514600" cy="2148840"/>
          </a:xfrm>
          <a:prstGeom prst="rect">
            <a:avLst/>
          </a:prstGeom>
          <a:noFill/>
          <a:ln/>
        </p:spPr>
        <p:txBody>
          <a:bodyPr wrap="square" lIns="0" tIns="0" rIns="0" bIns="0" rtlCol="0" anchor="t"/>
          <a:lstStyle/>
          <a:p>
            <a:pPr indent="0" marL="0">
              <a:lnSpc>
                <a:spcPct val="140000"/>
              </a:lnSpc>
              <a:buNone/>
            </a:pPr>
            <a:r>
              <a:rPr lang="en-US" sz="1050" dirty="0">
                <a:solidFill>
                  <a:srgbClr val="6B7A8D"/>
                </a:solidFill>
                <a:latin typeface="Calibri" pitchFamily="34" charset="0"/>
                <a:ea typeface="Calibri" pitchFamily="34" charset="-122"/>
                <a:cs typeface="Calibri" pitchFamily="34" charset="-120"/>
              </a:rPr>
              <a:t>Absence de moyen de comparaison et de prédictions des aides entre pays et secteurs. Les décideurs ne peuvent pas simuler les scénarios budgétaires futurs ni comparer leurs flux avec d'autres bailleurs (OCDE, Banque Mondiale).</a:t>
            </a:r>
            <a:endParaRPr lang="en-US" sz="1050" dirty="0"/>
          </a:p>
        </p:txBody>
      </p:sp>
      <p:sp>
        <p:nvSpPr>
          <p:cNvPr id="16" name="Shape 14"/>
          <p:cNvSpPr/>
          <p:nvPr/>
        </p:nvSpPr>
        <p:spPr>
          <a:xfrm>
            <a:off x="3246120" y="1115568"/>
            <a:ext cx="2788920" cy="370332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3246120" y="1115568"/>
            <a:ext cx="2788920" cy="54864"/>
          </a:xfrm>
          <a:prstGeom prst="rect">
            <a:avLst/>
          </a:prstGeom>
          <a:solidFill>
            <a:srgbClr val="C00707"/>
          </a:solidFill>
          <a:ln w="12700">
            <a:solidFill>
              <a:srgbClr val="C00707"/>
            </a:solidFill>
            <a:prstDash val="solid"/>
          </a:ln>
        </p:spPr>
      </p:sp>
      <p:sp>
        <p:nvSpPr>
          <p:cNvPr id="18" name="Text 16"/>
          <p:cNvSpPr/>
          <p:nvPr/>
        </p:nvSpPr>
        <p:spPr>
          <a:xfrm>
            <a:off x="3383280" y="1188720"/>
            <a:ext cx="685800" cy="685800"/>
          </a:xfrm>
          <a:prstGeom prst="rect">
            <a:avLst/>
          </a:prstGeom>
          <a:noFill/>
          <a:ln/>
        </p:spPr>
        <p:txBody>
          <a:bodyPr wrap="square" lIns="0" tIns="0" rIns="0" bIns="0" rtlCol="0" anchor="ctr"/>
          <a:lstStyle/>
          <a:p>
            <a:pPr indent="0" marL="0">
              <a:buNone/>
            </a:pPr>
            <a:r>
              <a:rPr lang="en-US" sz="4000" b="1" dirty="0">
                <a:solidFill>
                  <a:srgbClr val="E8F2FA"/>
                </a:solidFill>
                <a:latin typeface="Georgia" pitchFamily="34" charset="0"/>
                <a:ea typeface="Georgia" pitchFamily="34" charset="-122"/>
                <a:cs typeface="Georgia" pitchFamily="34" charset="-120"/>
              </a:rPr>
              <a:t>02</a:t>
            </a:r>
            <a:endParaRPr lang="en-US" sz="4000" dirty="0"/>
          </a:p>
        </p:txBody>
      </p:sp>
      <p:sp>
        <p:nvSpPr>
          <p:cNvPr id="19" name="Shape 17"/>
          <p:cNvSpPr/>
          <p:nvPr/>
        </p:nvSpPr>
        <p:spPr>
          <a:xfrm>
            <a:off x="5394960" y="1225296"/>
            <a:ext cx="457200" cy="457200"/>
          </a:xfrm>
          <a:prstGeom prst="ellipse">
            <a:avLst/>
          </a:prstGeom>
          <a:solidFill>
            <a:srgbClr val="C00707"/>
          </a:solidFill>
          <a:ln w="12700">
            <a:solidFill>
              <a:srgbClr val="C00707"/>
            </a:solidFill>
            <a:prstDash val="solid"/>
          </a:ln>
        </p:spPr>
      </p:sp>
      <p:sp>
        <p:nvSpPr>
          <p:cNvPr id="20" name="Text 18"/>
          <p:cNvSpPr/>
          <p:nvPr/>
        </p:nvSpPr>
        <p:spPr>
          <a:xfrm>
            <a:off x="5394960" y="122529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21" name="Text 19"/>
          <p:cNvSpPr/>
          <p:nvPr/>
        </p:nvSpPr>
        <p:spPr>
          <a:xfrm>
            <a:off x="3383280" y="1938528"/>
            <a:ext cx="2514600" cy="502920"/>
          </a:xfrm>
          <a:prstGeom prst="rect">
            <a:avLst/>
          </a:prstGeom>
          <a:noFill/>
          <a:ln/>
        </p:spPr>
        <p:txBody>
          <a:bodyPr wrap="square" lIns="0" tIns="0" rIns="0" bIns="0" rtlCol="0" anchor="ctr"/>
          <a:lstStyle/>
          <a:p>
            <a:pPr indent="0" marL="0">
              <a:lnSpc>
                <a:spcPct val="125000"/>
              </a:lnSpc>
              <a:buNone/>
            </a:pPr>
            <a:r>
              <a:rPr lang="en-US" sz="1300" b="1" dirty="0">
                <a:solidFill>
                  <a:srgbClr val="134E8E"/>
                </a:solidFill>
                <a:latin typeface="Calibri" pitchFamily="34" charset="0"/>
                <a:ea typeface="Calibri" pitchFamily="34" charset="-122"/>
                <a:cs typeface="Calibri" pitchFamily="34" charset="-120"/>
              </a:rPr>
              <a:t>Manque de visualisation</a:t>
            </a:r>
            <a:endParaRPr lang="en-US" sz="1300" dirty="0"/>
          </a:p>
        </p:txBody>
      </p:sp>
      <p:sp>
        <p:nvSpPr>
          <p:cNvPr id="22" name="Shape 20"/>
          <p:cNvSpPr/>
          <p:nvPr/>
        </p:nvSpPr>
        <p:spPr>
          <a:xfrm>
            <a:off x="3383280" y="2487168"/>
            <a:ext cx="2514600" cy="0"/>
          </a:xfrm>
          <a:prstGeom prst="line">
            <a:avLst/>
          </a:prstGeom>
          <a:noFill/>
          <a:ln w="12700">
            <a:solidFill>
              <a:srgbClr val="DDE6F0"/>
            </a:solidFill>
            <a:prstDash val="solid"/>
          </a:ln>
        </p:spPr>
      </p:sp>
      <p:sp>
        <p:nvSpPr>
          <p:cNvPr id="23" name="Text 21"/>
          <p:cNvSpPr/>
          <p:nvPr/>
        </p:nvSpPr>
        <p:spPr>
          <a:xfrm>
            <a:off x="3383280" y="2560320"/>
            <a:ext cx="2514600" cy="2148840"/>
          </a:xfrm>
          <a:prstGeom prst="rect">
            <a:avLst/>
          </a:prstGeom>
          <a:noFill/>
          <a:ln/>
        </p:spPr>
        <p:txBody>
          <a:bodyPr wrap="square" lIns="0" tIns="0" rIns="0" bIns="0" rtlCol="0" anchor="t"/>
          <a:lstStyle/>
          <a:p>
            <a:pPr indent="0" marL="0">
              <a:lnSpc>
                <a:spcPct val="140000"/>
              </a:lnSpc>
              <a:buNone/>
            </a:pPr>
            <a:r>
              <a:rPr lang="en-US" sz="1050" dirty="0">
                <a:solidFill>
                  <a:srgbClr val="6B7A8D"/>
                </a:solidFill>
                <a:latin typeface="Calibri" pitchFamily="34" charset="0"/>
                <a:ea typeface="Calibri" pitchFamily="34" charset="-122"/>
                <a:cs typeface="Calibri" pitchFamily="34" charset="-120"/>
              </a:rPr>
              <a:t>Besoin d'une visualisation simple, rapide et explicative des données disponibles. Les graphiques actuels sont trop techniques, peu adaptés aux non-experts et ne permettent pas d'identifier rapidement les tendances clés.</a:t>
            </a:r>
            <a:endParaRPr lang="en-US" sz="1050" dirty="0"/>
          </a:p>
        </p:txBody>
      </p:sp>
      <p:sp>
        <p:nvSpPr>
          <p:cNvPr id="24" name="Shape 22"/>
          <p:cNvSpPr/>
          <p:nvPr/>
        </p:nvSpPr>
        <p:spPr>
          <a:xfrm>
            <a:off x="6217920" y="1115568"/>
            <a:ext cx="2788920" cy="370332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25" name="Shape 23"/>
          <p:cNvSpPr/>
          <p:nvPr/>
        </p:nvSpPr>
        <p:spPr>
          <a:xfrm>
            <a:off x="6217920" y="1115568"/>
            <a:ext cx="2788920" cy="54864"/>
          </a:xfrm>
          <a:prstGeom prst="rect">
            <a:avLst/>
          </a:prstGeom>
          <a:solidFill>
            <a:srgbClr val="C00707"/>
          </a:solidFill>
          <a:ln w="12700">
            <a:solidFill>
              <a:srgbClr val="C00707"/>
            </a:solidFill>
            <a:prstDash val="solid"/>
          </a:ln>
        </p:spPr>
      </p:sp>
      <p:sp>
        <p:nvSpPr>
          <p:cNvPr id="26" name="Text 24"/>
          <p:cNvSpPr/>
          <p:nvPr/>
        </p:nvSpPr>
        <p:spPr>
          <a:xfrm>
            <a:off x="6355080" y="1188720"/>
            <a:ext cx="685800" cy="685800"/>
          </a:xfrm>
          <a:prstGeom prst="rect">
            <a:avLst/>
          </a:prstGeom>
          <a:noFill/>
          <a:ln/>
        </p:spPr>
        <p:txBody>
          <a:bodyPr wrap="square" lIns="0" tIns="0" rIns="0" bIns="0" rtlCol="0" anchor="ctr"/>
          <a:lstStyle/>
          <a:p>
            <a:pPr indent="0" marL="0">
              <a:buNone/>
            </a:pPr>
            <a:r>
              <a:rPr lang="en-US" sz="4000" b="1" dirty="0">
                <a:solidFill>
                  <a:srgbClr val="E8F2FA"/>
                </a:solidFill>
                <a:latin typeface="Georgia" pitchFamily="34" charset="0"/>
                <a:ea typeface="Georgia" pitchFamily="34" charset="-122"/>
                <a:cs typeface="Georgia" pitchFamily="34" charset="-120"/>
              </a:rPr>
              <a:t>03</a:t>
            </a:r>
            <a:endParaRPr lang="en-US" sz="4000" dirty="0"/>
          </a:p>
        </p:txBody>
      </p:sp>
      <p:sp>
        <p:nvSpPr>
          <p:cNvPr id="27" name="Shape 25"/>
          <p:cNvSpPr/>
          <p:nvPr/>
        </p:nvSpPr>
        <p:spPr>
          <a:xfrm>
            <a:off x="8366760" y="1225296"/>
            <a:ext cx="457200" cy="457200"/>
          </a:xfrm>
          <a:prstGeom prst="ellipse">
            <a:avLst/>
          </a:prstGeom>
          <a:solidFill>
            <a:srgbClr val="C00707"/>
          </a:solidFill>
          <a:ln w="12700">
            <a:solidFill>
              <a:srgbClr val="C00707"/>
            </a:solidFill>
            <a:prstDash val="solid"/>
          </a:ln>
        </p:spPr>
      </p:sp>
      <p:sp>
        <p:nvSpPr>
          <p:cNvPr id="28" name="Text 26"/>
          <p:cNvSpPr/>
          <p:nvPr/>
        </p:nvSpPr>
        <p:spPr>
          <a:xfrm>
            <a:off x="8366760" y="122529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sp>
        <p:nvSpPr>
          <p:cNvPr id="29" name="Text 27"/>
          <p:cNvSpPr/>
          <p:nvPr/>
        </p:nvSpPr>
        <p:spPr>
          <a:xfrm>
            <a:off x="6355080" y="1938528"/>
            <a:ext cx="2514600" cy="502920"/>
          </a:xfrm>
          <a:prstGeom prst="rect">
            <a:avLst/>
          </a:prstGeom>
          <a:noFill/>
          <a:ln/>
        </p:spPr>
        <p:txBody>
          <a:bodyPr wrap="square" lIns="0" tIns="0" rIns="0" bIns="0" rtlCol="0" anchor="ctr"/>
          <a:lstStyle/>
          <a:p>
            <a:pPr indent="0" marL="0">
              <a:lnSpc>
                <a:spcPct val="125000"/>
              </a:lnSpc>
              <a:buNone/>
            </a:pPr>
            <a:r>
              <a:rPr lang="en-US" sz="1300" b="1" dirty="0">
                <a:solidFill>
                  <a:srgbClr val="134E8E"/>
                </a:solidFill>
                <a:latin typeface="Calibri" pitchFamily="34" charset="0"/>
                <a:ea typeface="Calibri" pitchFamily="34" charset="-122"/>
                <a:cs typeface="Calibri" pitchFamily="34" charset="-120"/>
              </a:rPr>
              <a:t>Dispersion des informations</a:t>
            </a:r>
            <a:endParaRPr lang="en-US" sz="1300" dirty="0"/>
          </a:p>
        </p:txBody>
      </p:sp>
      <p:sp>
        <p:nvSpPr>
          <p:cNvPr id="30" name="Shape 28"/>
          <p:cNvSpPr/>
          <p:nvPr/>
        </p:nvSpPr>
        <p:spPr>
          <a:xfrm>
            <a:off x="6355080" y="2487168"/>
            <a:ext cx="2514600" cy="0"/>
          </a:xfrm>
          <a:prstGeom prst="line">
            <a:avLst/>
          </a:prstGeom>
          <a:noFill/>
          <a:ln w="12700">
            <a:solidFill>
              <a:srgbClr val="DDE6F0"/>
            </a:solidFill>
            <a:prstDash val="solid"/>
          </a:ln>
        </p:spPr>
      </p:sp>
      <p:sp>
        <p:nvSpPr>
          <p:cNvPr id="31" name="Text 29"/>
          <p:cNvSpPr/>
          <p:nvPr/>
        </p:nvSpPr>
        <p:spPr>
          <a:xfrm>
            <a:off x="6355080" y="2560320"/>
            <a:ext cx="2514600" cy="2148840"/>
          </a:xfrm>
          <a:prstGeom prst="rect">
            <a:avLst/>
          </a:prstGeom>
          <a:noFill/>
          <a:ln/>
        </p:spPr>
        <p:txBody>
          <a:bodyPr wrap="square" lIns="0" tIns="0" rIns="0" bIns="0" rtlCol="0" anchor="t"/>
          <a:lstStyle/>
          <a:p>
            <a:pPr indent="0" marL="0">
              <a:lnSpc>
                <a:spcPct val="140000"/>
              </a:lnSpc>
              <a:buNone/>
            </a:pPr>
            <a:r>
              <a:rPr lang="en-US" sz="1050" dirty="0">
                <a:solidFill>
                  <a:srgbClr val="6B7A8D"/>
                </a:solidFill>
                <a:latin typeface="Calibri" pitchFamily="34" charset="0"/>
                <a:ea typeface="Calibri" pitchFamily="34" charset="-122"/>
                <a:cs typeface="Calibri" pitchFamily="34" charset="-120"/>
              </a:rPr>
              <a:t>Les informations sont éparpillées dans de multiples fichiers Excel, rendant l'accès et la synthèse difficiles. Chaque rapport nécessite une compilation manuelle chronophage et source d'erreurs.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0"/>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34E8E"/>
          </a:solidFill>
          <a:ln w="12700">
            <a:solidFill>
              <a:srgbClr val="134E8E"/>
            </a:solidFill>
            <a:prstDash val="solid"/>
          </a:ln>
        </p:spPr>
      </p:sp>
      <p:sp>
        <p:nvSpPr>
          <p:cNvPr id="3" name="Shape 1"/>
          <p:cNvSpPr/>
          <p:nvPr/>
        </p:nvSpPr>
        <p:spPr>
          <a:xfrm>
            <a:off x="0" y="0"/>
            <a:ext cx="137160" cy="960120"/>
          </a:xfrm>
          <a:prstGeom prst="rect">
            <a:avLst/>
          </a:prstGeom>
          <a:solidFill>
            <a:srgbClr val="C00707"/>
          </a:solidFill>
          <a:ln w="12700">
            <a:solidFill>
              <a:srgbClr val="C00707"/>
            </a:solidFill>
            <a:prstDash val="solid"/>
          </a:ln>
        </p:spPr>
      </p:sp>
      <p:sp>
        <p:nvSpPr>
          <p:cNvPr id="4" name="Text 2"/>
          <p:cNvSpPr/>
          <p:nvPr/>
        </p:nvSpPr>
        <p:spPr>
          <a:xfrm>
            <a:off x="320040" y="0"/>
            <a:ext cx="777240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06 — Benchmarks</a:t>
            </a:r>
            <a:endParaRPr lang="en-US" sz="2200" dirty="0"/>
          </a:p>
        </p:txBody>
      </p:sp>
      <p:sp>
        <p:nvSpPr>
          <p:cNvPr id="5" name="Text 3"/>
          <p:cNvSpPr/>
          <p:nvPr/>
        </p:nvSpPr>
        <p:spPr>
          <a:xfrm>
            <a:off x="320040" y="594360"/>
            <a:ext cx="8503920" cy="320040"/>
          </a:xfrm>
          <a:prstGeom prst="rect">
            <a:avLst/>
          </a:prstGeom>
          <a:noFill/>
          <a:ln/>
        </p:spPr>
        <p:txBody>
          <a:bodyPr wrap="square" lIns="0" tIns="0" rIns="0" bIns="0" rtlCol="0" anchor="ctr"/>
          <a:lstStyle/>
          <a:p>
            <a:pPr indent="0" marL="0">
              <a:buNone/>
            </a:pPr>
            <a:r>
              <a:rPr lang="en-US" sz="1050" i="1" dirty="0">
                <a:solidFill>
                  <a:srgbClr val="8AAFC8"/>
                </a:solidFill>
                <a:latin typeface="Calibri" pitchFamily="34" charset="0"/>
                <a:ea typeface="Calibri" pitchFamily="34" charset="-122"/>
                <a:cs typeface="Calibri" pitchFamily="34" charset="-120"/>
              </a:rPr>
              <a:t>4 solutions de référence analysées pour l'analyse des flux APD</a:t>
            </a:r>
            <a:endParaRPr lang="en-US" sz="1050" dirty="0"/>
          </a:p>
        </p:txBody>
      </p:sp>
      <p:sp>
        <p:nvSpPr>
          <p:cNvPr id="6" name="Shape 4"/>
          <p:cNvSpPr/>
          <p:nvPr/>
        </p:nvSpPr>
        <p:spPr>
          <a:xfrm>
            <a:off x="0" y="4956048"/>
            <a:ext cx="9144000" cy="182880"/>
          </a:xfrm>
          <a:prstGeom prst="rect">
            <a:avLst/>
          </a:prstGeom>
          <a:solidFill>
            <a:srgbClr val="134E8E"/>
          </a:solidFill>
          <a:ln w="12700">
            <a:solidFill>
              <a:srgbClr val="134E8E"/>
            </a:solidFill>
            <a:prstDash val="solid"/>
          </a:ln>
        </p:spPr>
      </p:sp>
      <p:sp>
        <p:nvSpPr>
          <p:cNvPr id="7" name="Text 5"/>
          <p:cNvSpPr/>
          <p:nvPr/>
        </p:nvSpPr>
        <p:spPr>
          <a:xfrm>
            <a:off x="182880" y="4919472"/>
            <a:ext cx="8778240" cy="219456"/>
          </a:xfrm>
          <a:prstGeom prst="rect">
            <a:avLst/>
          </a:prstGeom>
          <a:noFill/>
          <a:ln/>
        </p:spPr>
        <p:txBody>
          <a:bodyPr wrap="square" lIns="0" tIns="0" rIns="0" bIns="0" rtlCol="0" anchor="ctr"/>
          <a:lstStyle/>
          <a:p>
            <a:pPr algn="r" indent="0" marL="0">
              <a:buNone/>
            </a:pPr>
            <a:r>
              <a:rPr lang="en-US" sz="850" dirty="0">
                <a:solidFill>
                  <a:srgbClr val="FFFFFF"/>
                </a:solidFill>
                <a:latin typeface="Calibri" pitchFamily="34" charset="0"/>
                <a:ea typeface="Calibri" pitchFamily="34" charset="-122"/>
                <a:cs typeface="Calibri" pitchFamily="34" charset="-120"/>
              </a:rPr>
              <a:t>Application Data APD  ·  AFD  ·  DPM Project 2025</a:t>
            </a:r>
            <a:endParaRPr lang="en-US" sz="850" dirty="0"/>
          </a:p>
        </p:txBody>
      </p:sp>
      <p:sp>
        <p:nvSpPr>
          <p:cNvPr id="8" name="Shape 6"/>
          <p:cNvSpPr/>
          <p:nvPr/>
        </p:nvSpPr>
        <p:spPr>
          <a:xfrm>
            <a:off x="256032" y="1115568"/>
            <a:ext cx="4169664" cy="1719072"/>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256032" y="1115568"/>
            <a:ext cx="109728" cy="1719072"/>
          </a:xfrm>
          <a:prstGeom prst="rect">
            <a:avLst/>
          </a:prstGeom>
          <a:solidFill>
            <a:srgbClr val="134E8E"/>
          </a:solidFill>
          <a:ln w="12700">
            <a:solidFill>
              <a:srgbClr val="134E8E"/>
            </a:solidFill>
            <a:prstDash val="solid"/>
          </a:ln>
        </p:spPr>
      </p:sp>
      <p:sp>
        <p:nvSpPr>
          <p:cNvPr id="10" name="Text 8"/>
          <p:cNvSpPr/>
          <p:nvPr/>
        </p:nvSpPr>
        <p:spPr>
          <a:xfrm>
            <a:off x="484632" y="1207008"/>
            <a:ext cx="3849624" cy="228600"/>
          </a:xfrm>
          <a:prstGeom prst="rect">
            <a:avLst/>
          </a:prstGeom>
          <a:noFill/>
          <a:ln/>
        </p:spPr>
        <p:txBody>
          <a:bodyPr wrap="square" lIns="0" tIns="0" rIns="0" bIns="0" rtlCol="0" anchor="ctr"/>
          <a:lstStyle/>
          <a:p>
            <a:pPr indent="0" marL="0">
              <a:buNone/>
            </a:pPr>
            <a:r>
              <a:rPr lang="en-US" sz="900" b="1" spc="100" kern="0" dirty="0">
                <a:solidFill>
                  <a:srgbClr val="6B7A8D"/>
                </a:solidFill>
                <a:latin typeface="Calibri" pitchFamily="34" charset="0"/>
                <a:ea typeface="Calibri" pitchFamily="34" charset="-122"/>
                <a:cs typeface="Calibri" pitchFamily="34" charset="-120"/>
              </a:rPr>
              <a:t>Commission Européenne</a:t>
            </a:r>
            <a:endParaRPr lang="en-US" sz="900" dirty="0"/>
          </a:p>
        </p:txBody>
      </p:sp>
      <p:sp>
        <p:nvSpPr>
          <p:cNvPr id="11" name="Text 9"/>
          <p:cNvSpPr/>
          <p:nvPr/>
        </p:nvSpPr>
        <p:spPr>
          <a:xfrm>
            <a:off x="484632" y="1389888"/>
            <a:ext cx="3849624" cy="292608"/>
          </a:xfrm>
          <a:prstGeom prst="rect">
            <a:avLst/>
          </a:prstGeom>
          <a:noFill/>
          <a:ln/>
        </p:spPr>
        <p:txBody>
          <a:bodyPr wrap="square" lIns="0" tIns="0" rIns="0" bIns="0" rtlCol="0" anchor="ctr"/>
          <a:lstStyle/>
          <a:p>
            <a:pPr indent="0" marL="0">
              <a:buNone/>
            </a:pPr>
            <a:r>
              <a:rPr lang="en-US" sz="1300" b="1" dirty="0">
                <a:solidFill>
                  <a:srgbClr val="134E8E"/>
                </a:solidFill>
                <a:latin typeface="Calibri" pitchFamily="34" charset="0"/>
                <a:ea typeface="Calibri" pitchFamily="34" charset="-122"/>
                <a:cs typeface="Calibri" pitchFamily="34" charset="-120"/>
              </a:rPr>
              <a:t>Team Europe Explorer</a:t>
            </a:r>
            <a:endParaRPr lang="en-US" sz="1300" dirty="0"/>
          </a:p>
        </p:txBody>
      </p:sp>
      <p:sp>
        <p:nvSpPr>
          <p:cNvPr id="12" name="Text 10"/>
          <p:cNvSpPr/>
          <p:nvPr/>
        </p:nvSpPr>
        <p:spPr>
          <a:xfrm>
            <a:off x="484632" y="1664208"/>
            <a:ext cx="3849624" cy="201168"/>
          </a:xfrm>
          <a:prstGeom prst="rect">
            <a:avLst/>
          </a:prstGeom>
          <a:noFill/>
          <a:ln/>
        </p:spPr>
        <p:txBody>
          <a:bodyPr wrap="square" lIns="0" tIns="0" rIns="0" bIns="0" rtlCol="0" anchor="ctr"/>
          <a:lstStyle/>
          <a:p>
            <a:pPr indent="0" marL="0">
              <a:buNone/>
            </a:pPr>
            <a:r>
              <a:rPr lang="en-US" sz="950" i="1" dirty="0">
                <a:solidFill>
                  <a:srgbClr val="7AAACE"/>
                </a:solidFill>
                <a:latin typeface="Calibri" pitchFamily="34" charset="0"/>
                <a:ea typeface="Calibri" pitchFamily="34" charset="-122"/>
                <a:cs typeface="Calibri" pitchFamily="34" charset="-120"/>
              </a:rPr>
              <a:t>Visualisation APD/TOSSD de l'UE</a:t>
            </a:r>
            <a:endParaRPr lang="en-US" sz="950" dirty="0"/>
          </a:p>
        </p:txBody>
      </p:sp>
      <p:sp>
        <p:nvSpPr>
          <p:cNvPr id="13" name="Shape 11"/>
          <p:cNvSpPr/>
          <p:nvPr/>
        </p:nvSpPr>
        <p:spPr>
          <a:xfrm>
            <a:off x="484632" y="1901952"/>
            <a:ext cx="3803904" cy="0"/>
          </a:xfrm>
          <a:prstGeom prst="line">
            <a:avLst/>
          </a:prstGeom>
          <a:noFill/>
          <a:ln w="12700">
            <a:solidFill>
              <a:srgbClr val="DDE6F0"/>
            </a:solidFill>
            <a:prstDash val="solid"/>
          </a:ln>
        </p:spPr>
      </p:sp>
      <p:sp>
        <p:nvSpPr>
          <p:cNvPr id="14" name="Text 12"/>
          <p:cNvSpPr/>
          <p:nvPr/>
        </p:nvSpPr>
        <p:spPr>
          <a:xfrm>
            <a:off x="484632" y="1956816"/>
            <a:ext cx="3849624" cy="411480"/>
          </a:xfrm>
          <a:prstGeom prst="rect">
            <a:avLst/>
          </a:prstGeom>
          <a:noFill/>
          <a:ln/>
        </p:spPr>
        <p:txBody>
          <a:bodyPr wrap="square" lIns="0" tIns="0" rIns="0" bIns="0" rtlCol="0" anchor="t"/>
          <a:lstStyle/>
          <a:p>
            <a:pPr indent="0" marL="0">
              <a:lnSpc>
                <a:spcPct val="125000"/>
              </a:lnSpc>
              <a:buNone/>
            </a:pPr>
            <a:r>
              <a:rPr lang="en-US" sz="950" dirty="0">
                <a:solidFill>
                  <a:srgbClr val="1A7A4A"/>
                </a:solidFill>
                <a:latin typeface="Calibri" pitchFamily="34" charset="0"/>
                <a:ea typeface="Calibri" pitchFamily="34" charset="-122"/>
                <a:cs typeface="Calibri" pitchFamily="34" charset="-120"/>
              </a:rPr>
              <a:t>✓  Dashboards par pays/région, fiches pays communication, narratif politique clair.</a:t>
            </a:r>
            <a:endParaRPr lang="en-US" sz="950" dirty="0"/>
          </a:p>
        </p:txBody>
      </p:sp>
      <p:sp>
        <p:nvSpPr>
          <p:cNvPr id="15" name="Text 13"/>
          <p:cNvSpPr/>
          <p:nvPr/>
        </p:nvSpPr>
        <p:spPr>
          <a:xfrm>
            <a:off x="484632" y="2395728"/>
            <a:ext cx="3849624" cy="384048"/>
          </a:xfrm>
          <a:prstGeom prst="rect">
            <a:avLst/>
          </a:prstGeom>
          <a:noFill/>
          <a:ln/>
        </p:spPr>
        <p:txBody>
          <a:bodyPr wrap="square" lIns="0" tIns="0" rIns="0" bIns="0" rtlCol="0" anchor="t"/>
          <a:lstStyle/>
          <a:p>
            <a:pPr indent="0" marL="0">
              <a:lnSpc>
                <a:spcPct val="125000"/>
              </a:lnSpc>
              <a:buNone/>
            </a:pPr>
            <a:r>
              <a:rPr lang="en-US" sz="950" dirty="0">
                <a:solidFill>
                  <a:srgbClr val="6B7A8D"/>
                </a:solidFill>
                <a:latin typeface="Calibri" pitchFamily="34" charset="0"/>
                <a:ea typeface="Calibri" pitchFamily="34" charset="-122"/>
                <a:cs typeface="Calibri" pitchFamily="34" charset="-120"/>
              </a:rPr>
              <a:t>⚠  Peu d'outils décisionnels pour les arbitrages internes AFD.</a:t>
            </a:r>
            <a:endParaRPr lang="en-US" sz="950" dirty="0"/>
          </a:p>
        </p:txBody>
      </p:sp>
      <p:sp>
        <p:nvSpPr>
          <p:cNvPr id="16" name="Shape 14"/>
          <p:cNvSpPr/>
          <p:nvPr/>
        </p:nvSpPr>
        <p:spPr>
          <a:xfrm>
            <a:off x="4681728" y="1115568"/>
            <a:ext cx="4169664" cy="1719072"/>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4681728" y="1115568"/>
            <a:ext cx="109728" cy="1719072"/>
          </a:xfrm>
          <a:prstGeom prst="rect">
            <a:avLst/>
          </a:prstGeom>
          <a:solidFill>
            <a:srgbClr val="7AAACE"/>
          </a:solidFill>
          <a:ln w="12700">
            <a:solidFill>
              <a:srgbClr val="7AAACE"/>
            </a:solidFill>
            <a:prstDash val="solid"/>
          </a:ln>
        </p:spPr>
      </p:sp>
      <p:sp>
        <p:nvSpPr>
          <p:cNvPr id="18" name="Text 16"/>
          <p:cNvSpPr/>
          <p:nvPr/>
        </p:nvSpPr>
        <p:spPr>
          <a:xfrm>
            <a:off x="4910328" y="1207008"/>
            <a:ext cx="3849624" cy="228600"/>
          </a:xfrm>
          <a:prstGeom prst="rect">
            <a:avLst/>
          </a:prstGeom>
          <a:noFill/>
          <a:ln/>
        </p:spPr>
        <p:txBody>
          <a:bodyPr wrap="square" lIns="0" tIns="0" rIns="0" bIns="0" rtlCol="0" anchor="ctr"/>
          <a:lstStyle/>
          <a:p>
            <a:pPr indent="0" marL="0">
              <a:buNone/>
            </a:pPr>
            <a:r>
              <a:rPr lang="en-US" sz="900" b="1" spc="100" kern="0" dirty="0">
                <a:solidFill>
                  <a:srgbClr val="6B7A8D"/>
                </a:solidFill>
                <a:latin typeface="Calibri" pitchFamily="34" charset="0"/>
                <a:ea typeface="Calibri" pitchFamily="34" charset="-122"/>
                <a:cs typeface="Calibri" pitchFamily="34" charset="-120"/>
              </a:rPr>
              <a:t>OCDE</a:t>
            </a:r>
            <a:endParaRPr lang="en-US" sz="900" dirty="0"/>
          </a:p>
        </p:txBody>
      </p:sp>
      <p:sp>
        <p:nvSpPr>
          <p:cNvPr id="19" name="Text 17"/>
          <p:cNvSpPr/>
          <p:nvPr/>
        </p:nvSpPr>
        <p:spPr>
          <a:xfrm>
            <a:off x="4910328" y="1389888"/>
            <a:ext cx="3849624" cy="292608"/>
          </a:xfrm>
          <a:prstGeom prst="rect">
            <a:avLst/>
          </a:prstGeom>
          <a:noFill/>
          <a:ln/>
        </p:spPr>
        <p:txBody>
          <a:bodyPr wrap="square" lIns="0" tIns="0" rIns="0" bIns="0" rtlCol="0" anchor="ctr"/>
          <a:lstStyle/>
          <a:p>
            <a:pPr indent="0" marL="0">
              <a:buNone/>
            </a:pPr>
            <a:r>
              <a:rPr lang="en-US" sz="1300" b="1" dirty="0">
                <a:solidFill>
                  <a:srgbClr val="134E8E"/>
                </a:solidFill>
                <a:latin typeface="Calibri" pitchFamily="34" charset="0"/>
                <a:ea typeface="Calibri" pitchFamily="34" charset="-122"/>
                <a:cs typeface="Calibri" pitchFamily="34" charset="-120"/>
              </a:rPr>
              <a:t>DAC / Data Explorer / Aid at a Glance</a:t>
            </a:r>
            <a:endParaRPr lang="en-US" sz="1300" dirty="0"/>
          </a:p>
        </p:txBody>
      </p:sp>
      <p:sp>
        <p:nvSpPr>
          <p:cNvPr id="20" name="Text 18"/>
          <p:cNvSpPr/>
          <p:nvPr/>
        </p:nvSpPr>
        <p:spPr>
          <a:xfrm>
            <a:off x="4910328" y="1664208"/>
            <a:ext cx="3849624" cy="201168"/>
          </a:xfrm>
          <a:prstGeom prst="rect">
            <a:avLst/>
          </a:prstGeom>
          <a:noFill/>
          <a:ln/>
        </p:spPr>
        <p:txBody>
          <a:bodyPr wrap="square" lIns="0" tIns="0" rIns="0" bIns="0" rtlCol="0" anchor="ctr"/>
          <a:lstStyle/>
          <a:p>
            <a:pPr indent="0" marL="0">
              <a:buNone/>
            </a:pPr>
            <a:r>
              <a:rPr lang="en-US" sz="950" i="1" dirty="0">
                <a:solidFill>
                  <a:srgbClr val="7AAACE"/>
                </a:solidFill>
                <a:latin typeface="Calibri" pitchFamily="34" charset="0"/>
                <a:ea typeface="Calibri" pitchFamily="34" charset="-122"/>
                <a:cs typeface="Calibri" pitchFamily="34" charset="-120"/>
              </a:rPr>
              <a:t>Référence statistique mondiale APD</a:t>
            </a:r>
            <a:endParaRPr lang="en-US" sz="950" dirty="0"/>
          </a:p>
        </p:txBody>
      </p:sp>
      <p:sp>
        <p:nvSpPr>
          <p:cNvPr id="21" name="Shape 19"/>
          <p:cNvSpPr/>
          <p:nvPr/>
        </p:nvSpPr>
        <p:spPr>
          <a:xfrm>
            <a:off x="4910328" y="1901952"/>
            <a:ext cx="3803904" cy="0"/>
          </a:xfrm>
          <a:prstGeom prst="line">
            <a:avLst/>
          </a:prstGeom>
          <a:noFill/>
          <a:ln w="12700">
            <a:solidFill>
              <a:srgbClr val="DDE6F0"/>
            </a:solidFill>
            <a:prstDash val="solid"/>
          </a:ln>
        </p:spPr>
      </p:sp>
      <p:sp>
        <p:nvSpPr>
          <p:cNvPr id="22" name="Text 20"/>
          <p:cNvSpPr/>
          <p:nvPr/>
        </p:nvSpPr>
        <p:spPr>
          <a:xfrm>
            <a:off x="4910328" y="1956816"/>
            <a:ext cx="3849624" cy="411480"/>
          </a:xfrm>
          <a:prstGeom prst="rect">
            <a:avLst/>
          </a:prstGeom>
          <a:noFill/>
          <a:ln/>
        </p:spPr>
        <p:txBody>
          <a:bodyPr wrap="square" lIns="0" tIns="0" rIns="0" bIns="0" rtlCol="0" anchor="t"/>
          <a:lstStyle/>
          <a:p>
            <a:pPr indent="0" marL="0">
              <a:lnSpc>
                <a:spcPct val="125000"/>
              </a:lnSpc>
              <a:buNone/>
            </a:pPr>
            <a:r>
              <a:rPr lang="en-US" sz="950" dirty="0">
                <a:solidFill>
                  <a:srgbClr val="1A7A4A"/>
                </a:solidFill>
                <a:latin typeface="Calibri" pitchFamily="34" charset="0"/>
                <a:ea typeface="Calibri" pitchFamily="34" charset="-122"/>
                <a:cs typeface="Calibri" pitchFamily="34" charset="-120"/>
              </a:rPr>
              <a:t>✓  Filtres multi-dimensions (pays, secteur, type de flux), vues synthétiques, API.</a:t>
            </a:r>
            <a:endParaRPr lang="en-US" sz="950" dirty="0"/>
          </a:p>
        </p:txBody>
      </p:sp>
      <p:sp>
        <p:nvSpPr>
          <p:cNvPr id="23" name="Text 21"/>
          <p:cNvSpPr/>
          <p:nvPr/>
        </p:nvSpPr>
        <p:spPr>
          <a:xfrm>
            <a:off x="4910328" y="2395728"/>
            <a:ext cx="3849624" cy="384048"/>
          </a:xfrm>
          <a:prstGeom prst="rect">
            <a:avLst/>
          </a:prstGeom>
          <a:noFill/>
          <a:ln/>
        </p:spPr>
        <p:txBody>
          <a:bodyPr wrap="square" lIns="0" tIns="0" rIns="0" bIns="0" rtlCol="0" anchor="t"/>
          <a:lstStyle/>
          <a:p>
            <a:pPr indent="0" marL="0">
              <a:lnSpc>
                <a:spcPct val="125000"/>
              </a:lnSpc>
              <a:buNone/>
            </a:pPr>
            <a:r>
              <a:rPr lang="en-US" sz="950" dirty="0">
                <a:solidFill>
                  <a:srgbClr val="6B7A8D"/>
                </a:solidFill>
                <a:latin typeface="Calibri" pitchFamily="34" charset="0"/>
                <a:ea typeface="Calibri" pitchFamily="34" charset="-122"/>
                <a:cs typeface="Calibri" pitchFamily="34" charset="-120"/>
              </a:rPr>
              <a:t>⚠  Vision macro, peu de profondeur sur les spécificités internes d'un bailleur.</a:t>
            </a:r>
            <a:endParaRPr lang="en-US" sz="950" dirty="0"/>
          </a:p>
        </p:txBody>
      </p:sp>
      <p:sp>
        <p:nvSpPr>
          <p:cNvPr id="24" name="Shape 22"/>
          <p:cNvSpPr/>
          <p:nvPr/>
        </p:nvSpPr>
        <p:spPr>
          <a:xfrm>
            <a:off x="256032" y="2971800"/>
            <a:ext cx="4169664" cy="1719072"/>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25" name="Shape 23"/>
          <p:cNvSpPr/>
          <p:nvPr/>
        </p:nvSpPr>
        <p:spPr>
          <a:xfrm>
            <a:off x="256032" y="2971800"/>
            <a:ext cx="109728" cy="1719072"/>
          </a:xfrm>
          <a:prstGeom prst="rect">
            <a:avLst/>
          </a:prstGeom>
          <a:solidFill>
            <a:srgbClr val="134E8E"/>
          </a:solidFill>
          <a:ln w="12700">
            <a:solidFill>
              <a:srgbClr val="134E8E"/>
            </a:solidFill>
            <a:prstDash val="solid"/>
          </a:ln>
        </p:spPr>
      </p:sp>
      <p:sp>
        <p:nvSpPr>
          <p:cNvPr id="26" name="Text 24"/>
          <p:cNvSpPr/>
          <p:nvPr/>
        </p:nvSpPr>
        <p:spPr>
          <a:xfrm>
            <a:off x="484632" y="3063240"/>
            <a:ext cx="3849624" cy="228600"/>
          </a:xfrm>
          <a:prstGeom prst="rect">
            <a:avLst/>
          </a:prstGeom>
          <a:noFill/>
          <a:ln/>
        </p:spPr>
        <p:txBody>
          <a:bodyPr wrap="square" lIns="0" tIns="0" rIns="0" bIns="0" rtlCol="0" anchor="ctr"/>
          <a:lstStyle/>
          <a:p>
            <a:pPr indent="0" marL="0">
              <a:buNone/>
            </a:pPr>
            <a:r>
              <a:rPr lang="en-US" sz="900" b="1" spc="100" kern="0" dirty="0">
                <a:solidFill>
                  <a:srgbClr val="6B7A8D"/>
                </a:solidFill>
                <a:latin typeface="Calibri" pitchFamily="34" charset="0"/>
                <a:ea typeface="Calibri" pitchFamily="34" charset="-122"/>
                <a:cs typeface="Calibri" pitchFamily="34" charset="-120"/>
              </a:rPr>
              <a:t>Dev. Initiatives / IATI</a:t>
            </a:r>
            <a:endParaRPr lang="en-US" sz="900" dirty="0"/>
          </a:p>
        </p:txBody>
      </p:sp>
      <p:sp>
        <p:nvSpPr>
          <p:cNvPr id="27" name="Text 25"/>
          <p:cNvSpPr/>
          <p:nvPr/>
        </p:nvSpPr>
        <p:spPr>
          <a:xfrm>
            <a:off x="484632" y="3246120"/>
            <a:ext cx="3849624" cy="292608"/>
          </a:xfrm>
          <a:prstGeom prst="rect">
            <a:avLst/>
          </a:prstGeom>
          <a:noFill/>
          <a:ln/>
        </p:spPr>
        <p:txBody>
          <a:bodyPr wrap="square" lIns="0" tIns="0" rIns="0" bIns="0" rtlCol="0" anchor="ctr"/>
          <a:lstStyle/>
          <a:p>
            <a:pPr indent="0" marL="0">
              <a:buNone/>
            </a:pPr>
            <a:r>
              <a:rPr lang="en-US" sz="1300" b="1" dirty="0">
                <a:solidFill>
                  <a:srgbClr val="134E8E"/>
                </a:solidFill>
                <a:latin typeface="Calibri" pitchFamily="34" charset="0"/>
                <a:ea typeface="Calibri" pitchFamily="34" charset="-122"/>
                <a:cs typeface="Calibri" pitchFamily="34" charset="-120"/>
              </a:rPr>
              <a:t>Outils temps réel</a:t>
            </a:r>
            <a:endParaRPr lang="en-US" sz="1300" dirty="0"/>
          </a:p>
        </p:txBody>
      </p:sp>
      <p:sp>
        <p:nvSpPr>
          <p:cNvPr id="28" name="Text 26"/>
          <p:cNvSpPr/>
          <p:nvPr/>
        </p:nvSpPr>
        <p:spPr>
          <a:xfrm>
            <a:off x="484632" y="3520440"/>
            <a:ext cx="3849624" cy="201168"/>
          </a:xfrm>
          <a:prstGeom prst="rect">
            <a:avLst/>
          </a:prstGeom>
          <a:noFill/>
          <a:ln/>
        </p:spPr>
        <p:txBody>
          <a:bodyPr wrap="square" lIns="0" tIns="0" rIns="0" bIns="0" rtlCol="0" anchor="ctr"/>
          <a:lstStyle/>
          <a:p>
            <a:pPr indent="0" marL="0">
              <a:buNone/>
            </a:pPr>
            <a:r>
              <a:rPr lang="en-US" sz="950" i="1" dirty="0">
                <a:solidFill>
                  <a:srgbClr val="7AAACE"/>
                </a:solidFill>
                <a:latin typeface="Calibri" pitchFamily="34" charset="0"/>
                <a:ea typeface="Calibri" pitchFamily="34" charset="-122"/>
                <a:cs typeface="Calibri" pitchFamily="34" charset="-120"/>
              </a:rPr>
              <a:t>Suivi quasi temps réel des engagements</a:t>
            </a:r>
            <a:endParaRPr lang="en-US" sz="950" dirty="0"/>
          </a:p>
        </p:txBody>
      </p:sp>
      <p:sp>
        <p:nvSpPr>
          <p:cNvPr id="29" name="Shape 27"/>
          <p:cNvSpPr/>
          <p:nvPr/>
        </p:nvSpPr>
        <p:spPr>
          <a:xfrm>
            <a:off x="484632" y="3758184"/>
            <a:ext cx="3803904" cy="0"/>
          </a:xfrm>
          <a:prstGeom prst="line">
            <a:avLst/>
          </a:prstGeom>
          <a:noFill/>
          <a:ln w="12700">
            <a:solidFill>
              <a:srgbClr val="DDE6F0"/>
            </a:solidFill>
            <a:prstDash val="solid"/>
          </a:ln>
        </p:spPr>
      </p:sp>
      <p:sp>
        <p:nvSpPr>
          <p:cNvPr id="30" name="Text 28"/>
          <p:cNvSpPr/>
          <p:nvPr/>
        </p:nvSpPr>
        <p:spPr>
          <a:xfrm>
            <a:off x="484632" y="3813048"/>
            <a:ext cx="3849624" cy="411480"/>
          </a:xfrm>
          <a:prstGeom prst="rect">
            <a:avLst/>
          </a:prstGeom>
          <a:noFill/>
          <a:ln/>
        </p:spPr>
        <p:txBody>
          <a:bodyPr wrap="square" lIns="0" tIns="0" rIns="0" bIns="0" rtlCol="0" anchor="t"/>
          <a:lstStyle/>
          <a:p>
            <a:pPr indent="0" marL="0">
              <a:lnSpc>
                <a:spcPct val="125000"/>
              </a:lnSpc>
              <a:buNone/>
            </a:pPr>
            <a:r>
              <a:rPr lang="en-US" sz="950" dirty="0">
                <a:solidFill>
                  <a:srgbClr val="1A7A4A"/>
                </a:solidFill>
                <a:latin typeface="Calibri" pitchFamily="34" charset="0"/>
                <a:ea typeface="Calibri" pitchFamily="34" charset="-122"/>
                <a:cs typeface="Calibri" pitchFamily="34" charset="-120"/>
              </a:rPr>
              <a:t>✓  Distinction engagements/décaissements, forte dynamique temporelle multi-années.</a:t>
            </a:r>
            <a:endParaRPr lang="en-US" sz="950" dirty="0"/>
          </a:p>
        </p:txBody>
      </p:sp>
      <p:sp>
        <p:nvSpPr>
          <p:cNvPr id="31" name="Text 29"/>
          <p:cNvSpPr/>
          <p:nvPr/>
        </p:nvSpPr>
        <p:spPr>
          <a:xfrm>
            <a:off x="484632" y="4251960"/>
            <a:ext cx="3849624" cy="384048"/>
          </a:xfrm>
          <a:prstGeom prst="rect">
            <a:avLst/>
          </a:prstGeom>
          <a:noFill/>
          <a:ln/>
        </p:spPr>
        <p:txBody>
          <a:bodyPr wrap="square" lIns="0" tIns="0" rIns="0" bIns="0" rtlCol="0" anchor="t"/>
          <a:lstStyle/>
          <a:p>
            <a:pPr indent="0" marL="0">
              <a:lnSpc>
                <a:spcPct val="125000"/>
              </a:lnSpc>
              <a:buNone/>
            </a:pPr>
            <a:r>
              <a:rPr lang="en-US" sz="950" dirty="0">
                <a:solidFill>
                  <a:srgbClr val="6B7A8D"/>
                </a:solidFill>
                <a:latin typeface="Calibri" pitchFamily="34" charset="0"/>
                <a:ea typeface="Calibri" pitchFamily="34" charset="-122"/>
                <a:cs typeface="Calibri" pitchFamily="34" charset="-120"/>
              </a:rPr>
              <a:t>⚠  Moins centré sur la prévision et la planification stratégique propre à un bailleur.</a:t>
            </a:r>
            <a:endParaRPr lang="en-US" sz="950" dirty="0"/>
          </a:p>
        </p:txBody>
      </p:sp>
      <p:sp>
        <p:nvSpPr>
          <p:cNvPr id="32" name="Shape 30"/>
          <p:cNvSpPr/>
          <p:nvPr/>
        </p:nvSpPr>
        <p:spPr>
          <a:xfrm>
            <a:off x="4681728" y="2971800"/>
            <a:ext cx="4169664" cy="1719072"/>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33" name="Shape 31"/>
          <p:cNvSpPr/>
          <p:nvPr/>
        </p:nvSpPr>
        <p:spPr>
          <a:xfrm>
            <a:off x="4681728" y="2971800"/>
            <a:ext cx="109728" cy="1719072"/>
          </a:xfrm>
          <a:prstGeom prst="rect">
            <a:avLst/>
          </a:prstGeom>
          <a:solidFill>
            <a:srgbClr val="7AAACE"/>
          </a:solidFill>
          <a:ln w="12700">
            <a:solidFill>
              <a:srgbClr val="7AAACE"/>
            </a:solidFill>
            <a:prstDash val="solid"/>
          </a:ln>
        </p:spPr>
      </p:sp>
      <p:sp>
        <p:nvSpPr>
          <p:cNvPr id="34" name="Text 32"/>
          <p:cNvSpPr/>
          <p:nvPr/>
        </p:nvSpPr>
        <p:spPr>
          <a:xfrm>
            <a:off x="4910328" y="3063240"/>
            <a:ext cx="3849624" cy="228600"/>
          </a:xfrm>
          <a:prstGeom prst="rect">
            <a:avLst/>
          </a:prstGeom>
          <a:noFill/>
          <a:ln/>
        </p:spPr>
        <p:txBody>
          <a:bodyPr wrap="square" lIns="0" tIns="0" rIns="0" bIns="0" rtlCol="0" anchor="ctr"/>
          <a:lstStyle/>
          <a:p>
            <a:pPr indent="0" marL="0">
              <a:buNone/>
            </a:pPr>
            <a:r>
              <a:rPr lang="en-US" sz="900" b="1" spc="100" kern="0" dirty="0">
                <a:solidFill>
                  <a:srgbClr val="6B7A8D"/>
                </a:solidFill>
                <a:latin typeface="Calibri" pitchFamily="34" charset="0"/>
                <a:ea typeface="Calibri" pitchFamily="34" charset="-122"/>
                <a:cs typeface="Calibri" pitchFamily="34" charset="-120"/>
              </a:rPr>
              <a:t>World Aid Flow</a:t>
            </a:r>
            <a:endParaRPr lang="en-US" sz="900" dirty="0"/>
          </a:p>
        </p:txBody>
      </p:sp>
      <p:sp>
        <p:nvSpPr>
          <p:cNvPr id="35" name="Text 33"/>
          <p:cNvSpPr/>
          <p:nvPr/>
        </p:nvSpPr>
        <p:spPr>
          <a:xfrm>
            <a:off x="4910328" y="3246120"/>
            <a:ext cx="3849624" cy="292608"/>
          </a:xfrm>
          <a:prstGeom prst="rect">
            <a:avLst/>
          </a:prstGeom>
          <a:noFill/>
          <a:ln/>
        </p:spPr>
        <p:txBody>
          <a:bodyPr wrap="square" lIns="0" tIns="0" rIns="0" bIns="0" rtlCol="0" anchor="ctr"/>
          <a:lstStyle/>
          <a:p>
            <a:pPr indent="0" marL="0">
              <a:buNone/>
            </a:pPr>
            <a:r>
              <a:rPr lang="en-US" sz="1300" b="1" dirty="0">
                <a:solidFill>
                  <a:srgbClr val="134E8E"/>
                </a:solidFill>
                <a:latin typeface="Calibri" pitchFamily="34" charset="0"/>
                <a:ea typeface="Calibri" pitchFamily="34" charset="-122"/>
                <a:cs typeface="Calibri" pitchFamily="34" charset="-120"/>
              </a:rPr>
              <a:t>Visualisations avancées des flux</a:t>
            </a:r>
            <a:endParaRPr lang="en-US" sz="1300" dirty="0"/>
          </a:p>
        </p:txBody>
      </p:sp>
      <p:sp>
        <p:nvSpPr>
          <p:cNvPr id="36" name="Text 34"/>
          <p:cNvSpPr/>
          <p:nvPr/>
        </p:nvSpPr>
        <p:spPr>
          <a:xfrm>
            <a:off x="4910328" y="3520440"/>
            <a:ext cx="3849624" cy="201168"/>
          </a:xfrm>
          <a:prstGeom prst="rect">
            <a:avLst/>
          </a:prstGeom>
          <a:noFill/>
          <a:ln/>
        </p:spPr>
        <p:txBody>
          <a:bodyPr wrap="square" lIns="0" tIns="0" rIns="0" bIns="0" rtlCol="0" anchor="ctr"/>
          <a:lstStyle/>
          <a:p>
            <a:pPr indent="0" marL="0">
              <a:buNone/>
            </a:pPr>
            <a:r>
              <a:rPr lang="en-US" sz="950" i="1" dirty="0">
                <a:solidFill>
                  <a:srgbClr val="7AAACE"/>
                </a:solidFill>
                <a:latin typeface="Calibri" pitchFamily="34" charset="0"/>
                <a:ea typeface="Calibri" pitchFamily="34" charset="-122"/>
                <a:cs typeface="Calibri" pitchFamily="34" charset="-120"/>
              </a:rPr>
              <a:t>Visualisation pédagogique des flux</a:t>
            </a:r>
            <a:endParaRPr lang="en-US" sz="950" dirty="0"/>
          </a:p>
        </p:txBody>
      </p:sp>
      <p:sp>
        <p:nvSpPr>
          <p:cNvPr id="37" name="Shape 35"/>
          <p:cNvSpPr/>
          <p:nvPr/>
        </p:nvSpPr>
        <p:spPr>
          <a:xfrm>
            <a:off x="4910328" y="3758184"/>
            <a:ext cx="3803904" cy="0"/>
          </a:xfrm>
          <a:prstGeom prst="line">
            <a:avLst/>
          </a:prstGeom>
          <a:noFill/>
          <a:ln w="12700">
            <a:solidFill>
              <a:srgbClr val="DDE6F0"/>
            </a:solidFill>
            <a:prstDash val="solid"/>
          </a:ln>
        </p:spPr>
      </p:sp>
      <p:sp>
        <p:nvSpPr>
          <p:cNvPr id="38" name="Text 36"/>
          <p:cNvSpPr/>
          <p:nvPr/>
        </p:nvSpPr>
        <p:spPr>
          <a:xfrm>
            <a:off x="4910328" y="3813048"/>
            <a:ext cx="3849624" cy="411480"/>
          </a:xfrm>
          <a:prstGeom prst="rect">
            <a:avLst/>
          </a:prstGeom>
          <a:noFill/>
          <a:ln/>
        </p:spPr>
        <p:txBody>
          <a:bodyPr wrap="square" lIns="0" tIns="0" rIns="0" bIns="0" rtlCol="0" anchor="t"/>
          <a:lstStyle/>
          <a:p>
            <a:pPr indent="0" marL="0">
              <a:lnSpc>
                <a:spcPct val="125000"/>
              </a:lnSpc>
              <a:buNone/>
            </a:pPr>
            <a:r>
              <a:rPr lang="en-US" sz="950" dirty="0">
                <a:solidFill>
                  <a:srgbClr val="1A7A4A"/>
                </a:solidFill>
                <a:latin typeface="Calibri" pitchFamily="34" charset="0"/>
                <a:ea typeface="Calibri" pitchFamily="34" charset="-122"/>
                <a:cs typeface="Calibri" pitchFamily="34" charset="-120"/>
              </a:rPr>
              <a:t>✓  Cartes, arcs de flux, classements, couplage avec indicateurs de développement.</a:t>
            </a:r>
            <a:endParaRPr lang="en-US" sz="950" dirty="0"/>
          </a:p>
        </p:txBody>
      </p:sp>
      <p:sp>
        <p:nvSpPr>
          <p:cNvPr id="39" name="Text 37"/>
          <p:cNvSpPr/>
          <p:nvPr/>
        </p:nvSpPr>
        <p:spPr>
          <a:xfrm>
            <a:off x="4910328" y="4251960"/>
            <a:ext cx="3849624" cy="384048"/>
          </a:xfrm>
          <a:prstGeom prst="rect">
            <a:avLst/>
          </a:prstGeom>
          <a:noFill/>
          <a:ln/>
        </p:spPr>
        <p:txBody>
          <a:bodyPr wrap="square" lIns="0" tIns="0" rIns="0" bIns="0" rtlCol="0" anchor="t"/>
          <a:lstStyle/>
          <a:p>
            <a:pPr indent="0" marL="0">
              <a:lnSpc>
                <a:spcPct val="125000"/>
              </a:lnSpc>
              <a:buNone/>
            </a:pPr>
            <a:r>
              <a:rPr lang="en-US" sz="950" dirty="0">
                <a:solidFill>
                  <a:srgbClr val="6B7A8D"/>
                </a:solidFill>
                <a:latin typeface="Calibri" pitchFamily="34" charset="0"/>
                <a:ea typeface="Calibri" pitchFamily="34" charset="-122"/>
                <a:cs typeface="Calibri" pitchFamily="34" charset="-120"/>
              </a:rPr>
              <a:t>⚠  Approche exploratoire à adapter à la charte AFD et aux priorités géo/sectorielles.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0"/>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34E8E"/>
          </a:solidFill>
          <a:ln w="12700">
            <a:solidFill>
              <a:srgbClr val="134E8E"/>
            </a:solidFill>
            <a:prstDash val="solid"/>
          </a:ln>
        </p:spPr>
      </p:sp>
      <p:sp>
        <p:nvSpPr>
          <p:cNvPr id="3" name="Shape 1"/>
          <p:cNvSpPr/>
          <p:nvPr/>
        </p:nvSpPr>
        <p:spPr>
          <a:xfrm>
            <a:off x="0" y="0"/>
            <a:ext cx="137160" cy="960120"/>
          </a:xfrm>
          <a:prstGeom prst="rect">
            <a:avLst/>
          </a:prstGeom>
          <a:solidFill>
            <a:srgbClr val="C00707"/>
          </a:solidFill>
          <a:ln w="12700">
            <a:solidFill>
              <a:srgbClr val="C00707"/>
            </a:solidFill>
            <a:prstDash val="solid"/>
          </a:ln>
        </p:spPr>
      </p:sp>
      <p:sp>
        <p:nvSpPr>
          <p:cNvPr id="4" name="Text 2"/>
          <p:cNvSpPr/>
          <p:nvPr/>
        </p:nvSpPr>
        <p:spPr>
          <a:xfrm>
            <a:off x="320040" y="0"/>
            <a:ext cx="7772400" cy="59436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07 — Priorisation &amp; KPIs</a:t>
            </a:r>
            <a:endParaRPr lang="en-US" sz="2200" dirty="0"/>
          </a:p>
        </p:txBody>
      </p:sp>
      <p:sp>
        <p:nvSpPr>
          <p:cNvPr id="5" name="Text 3"/>
          <p:cNvSpPr/>
          <p:nvPr/>
        </p:nvSpPr>
        <p:spPr>
          <a:xfrm>
            <a:off x="320040" y="594360"/>
            <a:ext cx="8503920" cy="320040"/>
          </a:xfrm>
          <a:prstGeom prst="rect">
            <a:avLst/>
          </a:prstGeom>
          <a:noFill/>
          <a:ln/>
        </p:spPr>
        <p:txBody>
          <a:bodyPr wrap="square" lIns="0" tIns="0" rIns="0" bIns="0" rtlCol="0" anchor="ctr"/>
          <a:lstStyle/>
          <a:p>
            <a:pPr indent="0" marL="0">
              <a:buNone/>
            </a:pPr>
            <a:r>
              <a:rPr lang="en-US" sz="1050" i="1" dirty="0">
                <a:solidFill>
                  <a:srgbClr val="8AAFC8"/>
                </a:solidFill>
                <a:latin typeface="Calibri" pitchFamily="34" charset="0"/>
                <a:ea typeface="Calibri" pitchFamily="34" charset="-122"/>
                <a:cs typeface="Calibri" pitchFamily="34" charset="-120"/>
              </a:rPr>
              <a:t>Matrice de priorisation des fonctionnalités · 5 indicateurs clés de performance</a:t>
            </a:r>
            <a:endParaRPr lang="en-US" sz="1050" dirty="0"/>
          </a:p>
        </p:txBody>
      </p:sp>
      <p:sp>
        <p:nvSpPr>
          <p:cNvPr id="6" name="Shape 4"/>
          <p:cNvSpPr/>
          <p:nvPr/>
        </p:nvSpPr>
        <p:spPr>
          <a:xfrm>
            <a:off x="0" y="4956048"/>
            <a:ext cx="9144000" cy="182880"/>
          </a:xfrm>
          <a:prstGeom prst="rect">
            <a:avLst/>
          </a:prstGeom>
          <a:solidFill>
            <a:srgbClr val="134E8E"/>
          </a:solidFill>
          <a:ln w="12700">
            <a:solidFill>
              <a:srgbClr val="134E8E"/>
            </a:solidFill>
            <a:prstDash val="solid"/>
          </a:ln>
        </p:spPr>
      </p:sp>
      <p:sp>
        <p:nvSpPr>
          <p:cNvPr id="7" name="Text 5"/>
          <p:cNvSpPr/>
          <p:nvPr/>
        </p:nvSpPr>
        <p:spPr>
          <a:xfrm>
            <a:off x="182880" y="4919472"/>
            <a:ext cx="8778240" cy="219456"/>
          </a:xfrm>
          <a:prstGeom prst="rect">
            <a:avLst/>
          </a:prstGeom>
          <a:noFill/>
          <a:ln/>
        </p:spPr>
        <p:txBody>
          <a:bodyPr wrap="square" lIns="0" tIns="0" rIns="0" bIns="0" rtlCol="0" anchor="ctr"/>
          <a:lstStyle/>
          <a:p>
            <a:pPr algn="r" indent="0" marL="0">
              <a:buNone/>
            </a:pPr>
            <a:r>
              <a:rPr lang="en-US" sz="850" dirty="0">
                <a:solidFill>
                  <a:srgbClr val="FFFFFF"/>
                </a:solidFill>
                <a:latin typeface="Calibri" pitchFamily="34" charset="0"/>
                <a:ea typeface="Calibri" pitchFamily="34" charset="-122"/>
                <a:cs typeface="Calibri" pitchFamily="34" charset="-120"/>
              </a:rPr>
              <a:t>Application Data APD  ·  AFD  ·  DPM Project 2025</a:t>
            </a:r>
            <a:endParaRPr lang="en-US" sz="850" dirty="0"/>
          </a:p>
        </p:txBody>
      </p:sp>
      <p:sp>
        <p:nvSpPr>
          <p:cNvPr id="8" name="Shape 6"/>
          <p:cNvSpPr/>
          <p:nvPr/>
        </p:nvSpPr>
        <p:spPr>
          <a:xfrm>
            <a:off x="137160" y="1115568"/>
            <a:ext cx="2029968" cy="365760"/>
          </a:xfrm>
          <a:prstGeom prst="rect">
            <a:avLst/>
          </a:prstGeom>
          <a:solidFill>
            <a:srgbClr val="134E8E"/>
          </a:solidFill>
          <a:ln w="12700">
            <a:solidFill>
              <a:srgbClr val="134E8E"/>
            </a:solidFill>
            <a:prstDash val="solid"/>
          </a:ln>
        </p:spPr>
      </p:sp>
      <p:sp>
        <p:nvSpPr>
          <p:cNvPr id="9" name="Text 7"/>
          <p:cNvSpPr/>
          <p:nvPr/>
        </p:nvSpPr>
        <p:spPr>
          <a:xfrm>
            <a:off x="173736" y="1115568"/>
            <a:ext cx="1956816" cy="365760"/>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Fonctionnalité</a:t>
            </a:r>
            <a:endParaRPr lang="en-US" sz="850" dirty="0"/>
          </a:p>
        </p:txBody>
      </p:sp>
      <p:sp>
        <p:nvSpPr>
          <p:cNvPr id="10" name="Shape 8"/>
          <p:cNvSpPr/>
          <p:nvPr/>
        </p:nvSpPr>
        <p:spPr>
          <a:xfrm>
            <a:off x="2167128" y="1115568"/>
            <a:ext cx="521208" cy="365760"/>
          </a:xfrm>
          <a:prstGeom prst="rect">
            <a:avLst/>
          </a:prstGeom>
          <a:solidFill>
            <a:srgbClr val="134E8E"/>
          </a:solidFill>
          <a:ln w="12700">
            <a:solidFill>
              <a:srgbClr val="134E8E"/>
            </a:solidFill>
            <a:prstDash val="solid"/>
          </a:ln>
        </p:spPr>
      </p:sp>
      <p:sp>
        <p:nvSpPr>
          <p:cNvPr id="11" name="Text 9"/>
          <p:cNvSpPr/>
          <p:nvPr/>
        </p:nvSpPr>
        <p:spPr>
          <a:xfrm>
            <a:off x="2203704" y="1115568"/>
            <a:ext cx="448056" cy="36576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Satisfaction</a:t>
            </a:r>
            <a:endParaRPr lang="en-US" sz="700" dirty="0"/>
          </a:p>
        </p:txBody>
      </p:sp>
      <p:sp>
        <p:nvSpPr>
          <p:cNvPr id="12" name="Shape 10"/>
          <p:cNvSpPr/>
          <p:nvPr/>
        </p:nvSpPr>
        <p:spPr>
          <a:xfrm>
            <a:off x="2688336" y="1115568"/>
            <a:ext cx="521208" cy="365760"/>
          </a:xfrm>
          <a:prstGeom prst="rect">
            <a:avLst/>
          </a:prstGeom>
          <a:solidFill>
            <a:srgbClr val="134E8E"/>
          </a:solidFill>
          <a:ln w="12700">
            <a:solidFill>
              <a:srgbClr val="134E8E"/>
            </a:solidFill>
            <a:prstDash val="solid"/>
          </a:ln>
        </p:spPr>
      </p:sp>
      <p:sp>
        <p:nvSpPr>
          <p:cNvPr id="13" name="Text 11"/>
          <p:cNvSpPr/>
          <p:nvPr/>
        </p:nvSpPr>
        <p:spPr>
          <a:xfrm>
            <a:off x="2724912" y="1115568"/>
            <a:ext cx="448056" cy="36576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Nouveau</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Business</a:t>
            </a:r>
            <a:endParaRPr lang="en-US" sz="700" dirty="0"/>
          </a:p>
        </p:txBody>
      </p:sp>
      <p:sp>
        <p:nvSpPr>
          <p:cNvPr id="14" name="Shape 12"/>
          <p:cNvSpPr/>
          <p:nvPr/>
        </p:nvSpPr>
        <p:spPr>
          <a:xfrm>
            <a:off x="3209544" y="1115568"/>
            <a:ext cx="521208" cy="365760"/>
          </a:xfrm>
          <a:prstGeom prst="rect">
            <a:avLst/>
          </a:prstGeom>
          <a:solidFill>
            <a:srgbClr val="134E8E"/>
          </a:solidFill>
          <a:ln w="12700">
            <a:solidFill>
              <a:srgbClr val="134E8E"/>
            </a:solidFill>
            <a:prstDash val="solid"/>
          </a:ln>
        </p:spPr>
      </p:sp>
      <p:sp>
        <p:nvSpPr>
          <p:cNvPr id="15" name="Text 13"/>
          <p:cNvSpPr/>
          <p:nvPr/>
        </p:nvSpPr>
        <p:spPr>
          <a:xfrm>
            <a:off x="3246120" y="1115568"/>
            <a:ext cx="448056" cy="36576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Efficience</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Interne</a:t>
            </a:r>
            <a:endParaRPr lang="en-US" sz="700" dirty="0"/>
          </a:p>
        </p:txBody>
      </p:sp>
      <p:sp>
        <p:nvSpPr>
          <p:cNvPr id="16" name="Shape 14"/>
          <p:cNvSpPr/>
          <p:nvPr/>
        </p:nvSpPr>
        <p:spPr>
          <a:xfrm>
            <a:off x="3730752" y="1115568"/>
            <a:ext cx="521208" cy="365760"/>
          </a:xfrm>
          <a:prstGeom prst="rect">
            <a:avLst/>
          </a:prstGeom>
          <a:solidFill>
            <a:srgbClr val="134E8E"/>
          </a:solidFill>
          <a:ln w="12700">
            <a:solidFill>
              <a:srgbClr val="134E8E"/>
            </a:solidFill>
            <a:prstDash val="solid"/>
          </a:ln>
        </p:spPr>
      </p:sp>
      <p:sp>
        <p:nvSpPr>
          <p:cNvPr id="17" name="Text 15"/>
          <p:cNvSpPr/>
          <p:nvPr/>
        </p:nvSpPr>
        <p:spPr>
          <a:xfrm>
            <a:off x="3767328" y="1115568"/>
            <a:ext cx="448056" cy="36576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Croissance</a:t>
            </a:r>
            <a:endParaRPr lang="en-US" sz="700" dirty="0"/>
          </a:p>
          <a:p>
            <a:pPr algn="ctr" indent="0" marL="0">
              <a:buNone/>
            </a:pPr>
            <a:r>
              <a:rPr lang="en-US" sz="700" b="1" dirty="0">
                <a:solidFill>
                  <a:srgbClr val="FFFFFF"/>
                </a:solidFill>
                <a:latin typeface="Calibri" pitchFamily="34" charset="0"/>
                <a:ea typeface="Calibri" pitchFamily="34" charset="-122"/>
                <a:cs typeface="Calibri" pitchFamily="34" charset="-120"/>
              </a:rPr>
              <a:t>Revenu</a:t>
            </a:r>
            <a:endParaRPr lang="en-US" sz="700" dirty="0"/>
          </a:p>
        </p:txBody>
      </p:sp>
      <p:sp>
        <p:nvSpPr>
          <p:cNvPr id="18" name="Shape 16"/>
          <p:cNvSpPr/>
          <p:nvPr/>
        </p:nvSpPr>
        <p:spPr>
          <a:xfrm>
            <a:off x="4251960" y="1115568"/>
            <a:ext cx="658368" cy="365760"/>
          </a:xfrm>
          <a:prstGeom prst="rect">
            <a:avLst/>
          </a:prstGeom>
          <a:solidFill>
            <a:srgbClr val="C00707"/>
          </a:solidFill>
          <a:ln w="12700">
            <a:solidFill>
              <a:srgbClr val="C00707"/>
            </a:solidFill>
            <a:prstDash val="solid"/>
          </a:ln>
        </p:spPr>
      </p:sp>
      <p:sp>
        <p:nvSpPr>
          <p:cNvPr id="19" name="Text 17"/>
          <p:cNvSpPr/>
          <p:nvPr/>
        </p:nvSpPr>
        <p:spPr>
          <a:xfrm>
            <a:off x="4288536" y="1115568"/>
            <a:ext cx="585216" cy="36576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Score</a:t>
            </a:r>
            <a:endParaRPr lang="en-US" sz="700" dirty="0"/>
          </a:p>
        </p:txBody>
      </p:sp>
      <p:sp>
        <p:nvSpPr>
          <p:cNvPr id="20" name="Shape 18"/>
          <p:cNvSpPr/>
          <p:nvPr/>
        </p:nvSpPr>
        <p:spPr>
          <a:xfrm>
            <a:off x="137160" y="1481328"/>
            <a:ext cx="2029968" cy="556260"/>
          </a:xfrm>
          <a:prstGeom prst="rect">
            <a:avLst/>
          </a:prstGeom>
          <a:solidFill>
            <a:srgbClr val="F7F8F0"/>
          </a:solidFill>
          <a:ln w="12700">
            <a:solidFill>
              <a:srgbClr val="DDE6F0"/>
            </a:solidFill>
            <a:prstDash val="solid"/>
          </a:ln>
        </p:spPr>
      </p:sp>
      <p:sp>
        <p:nvSpPr>
          <p:cNvPr id="21" name="Shape 19"/>
          <p:cNvSpPr/>
          <p:nvPr/>
        </p:nvSpPr>
        <p:spPr>
          <a:xfrm>
            <a:off x="2167128" y="1481328"/>
            <a:ext cx="521208" cy="556260"/>
          </a:xfrm>
          <a:prstGeom prst="rect">
            <a:avLst/>
          </a:prstGeom>
          <a:solidFill>
            <a:srgbClr val="F7F8F0"/>
          </a:solidFill>
          <a:ln w="12700">
            <a:solidFill>
              <a:srgbClr val="DDE6F0"/>
            </a:solidFill>
            <a:prstDash val="solid"/>
          </a:ln>
        </p:spPr>
      </p:sp>
      <p:sp>
        <p:nvSpPr>
          <p:cNvPr id="22" name="Shape 20"/>
          <p:cNvSpPr/>
          <p:nvPr/>
        </p:nvSpPr>
        <p:spPr>
          <a:xfrm>
            <a:off x="2688336" y="1481328"/>
            <a:ext cx="521208" cy="556260"/>
          </a:xfrm>
          <a:prstGeom prst="rect">
            <a:avLst/>
          </a:prstGeom>
          <a:solidFill>
            <a:srgbClr val="F7F8F0"/>
          </a:solidFill>
          <a:ln w="12700">
            <a:solidFill>
              <a:srgbClr val="DDE6F0"/>
            </a:solidFill>
            <a:prstDash val="solid"/>
          </a:ln>
        </p:spPr>
      </p:sp>
      <p:sp>
        <p:nvSpPr>
          <p:cNvPr id="23" name="Shape 21"/>
          <p:cNvSpPr/>
          <p:nvPr/>
        </p:nvSpPr>
        <p:spPr>
          <a:xfrm>
            <a:off x="3209544" y="1481328"/>
            <a:ext cx="521208" cy="556260"/>
          </a:xfrm>
          <a:prstGeom prst="rect">
            <a:avLst/>
          </a:prstGeom>
          <a:solidFill>
            <a:srgbClr val="F7F8F0"/>
          </a:solidFill>
          <a:ln w="12700">
            <a:solidFill>
              <a:srgbClr val="DDE6F0"/>
            </a:solidFill>
            <a:prstDash val="solid"/>
          </a:ln>
        </p:spPr>
      </p:sp>
      <p:sp>
        <p:nvSpPr>
          <p:cNvPr id="24" name="Shape 22"/>
          <p:cNvSpPr/>
          <p:nvPr/>
        </p:nvSpPr>
        <p:spPr>
          <a:xfrm>
            <a:off x="3730752" y="1481328"/>
            <a:ext cx="521208" cy="556260"/>
          </a:xfrm>
          <a:prstGeom prst="rect">
            <a:avLst/>
          </a:prstGeom>
          <a:solidFill>
            <a:srgbClr val="F7F8F0"/>
          </a:solidFill>
          <a:ln w="12700">
            <a:solidFill>
              <a:srgbClr val="DDE6F0"/>
            </a:solidFill>
            <a:prstDash val="solid"/>
          </a:ln>
        </p:spPr>
      </p:sp>
      <p:sp>
        <p:nvSpPr>
          <p:cNvPr id="25" name="Shape 23"/>
          <p:cNvSpPr/>
          <p:nvPr/>
        </p:nvSpPr>
        <p:spPr>
          <a:xfrm>
            <a:off x="4251960" y="1481328"/>
            <a:ext cx="658368" cy="556260"/>
          </a:xfrm>
          <a:prstGeom prst="rect">
            <a:avLst/>
          </a:prstGeom>
          <a:solidFill>
            <a:srgbClr val="F7F8F0"/>
          </a:solidFill>
          <a:ln w="12700">
            <a:solidFill>
              <a:srgbClr val="DDE6F0"/>
            </a:solidFill>
            <a:prstDash val="solid"/>
          </a:ln>
        </p:spPr>
      </p:sp>
      <p:sp>
        <p:nvSpPr>
          <p:cNvPr id="26" name="Text 24"/>
          <p:cNvSpPr/>
          <p:nvPr/>
        </p:nvSpPr>
        <p:spPr>
          <a:xfrm>
            <a:off x="192024" y="1517904"/>
            <a:ext cx="1938528" cy="483108"/>
          </a:xfrm>
          <a:prstGeom prst="rect">
            <a:avLst/>
          </a:prstGeom>
          <a:noFill/>
          <a:ln/>
        </p:spPr>
        <p:txBody>
          <a:bodyPr wrap="square" lIns="0" tIns="0" rIns="0" bIns="0" rtlCol="0" anchor="ctr"/>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Segmentation ODD / Climat / Géographie précises</a:t>
            </a:r>
            <a:endParaRPr lang="en-US" sz="750" dirty="0"/>
          </a:p>
        </p:txBody>
      </p:sp>
      <p:sp>
        <p:nvSpPr>
          <p:cNvPr id="27" name="Shape 25"/>
          <p:cNvSpPr/>
          <p:nvPr/>
        </p:nvSpPr>
        <p:spPr>
          <a:xfrm>
            <a:off x="2299716" y="1640586"/>
            <a:ext cx="256032" cy="237744"/>
          </a:xfrm>
          <a:prstGeom prst="rect">
            <a:avLst/>
          </a:prstGeom>
          <a:solidFill>
            <a:srgbClr val="1A7A4A"/>
          </a:solidFill>
          <a:ln w="12700">
            <a:solidFill>
              <a:srgbClr val="1A7A4A"/>
            </a:solidFill>
            <a:prstDash val="solid"/>
          </a:ln>
        </p:spPr>
      </p:sp>
      <p:sp>
        <p:nvSpPr>
          <p:cNvPr id="28" name="Text 26"/>
          <p:cNvSpPr/>
          <p:nvPr/>
        </p:nvSpPr>
        <p:spPr>
          <a:xfrm>
            <a:off x="2299716" y="164058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9" name="Shape 27"/>
          <p:cNvSpPr/>
          <p:nvPr/>
        </p:nvSpPr>
        <p:spPr>
          <a:xfrm>
            <a:off x="2820924" y="1640586"/>
            <a:ext cx="256032" cy="237744"/>
          </a:xfrm>
          <a:prstGeom prst="rect">
            <a:avLst/>
          </a:prstGeom>
          <a:solidFill>
            <a:srgbClr val="1A7A4A"/>
          </a:solidFill>
          <a:ln w="12700">
            <a:solidFill>
              <a:srgbClr val="1A7A4A"/>
            </a:solidFill>
            <a:prstDash val="solid"/>
          </a:ln>
        </p:spPr>
      </p:sp>
      <p:sp>
        <p:nvSpPr>
          <p:cNvPr id="30" name="Text 28"/>
          <p:cNvSpPr/>
          <p:nvPr/>
        </p:nvSpPr>
        <p:spPr>
          <a:xfrm>
            <a:off x="2820924" y="164058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31" name="Shape 29"/>
          <p:cNvSpPr/>
          <p:nvPr/>
        </p:nvSpPr>
        <p:spPr>
          <a:xfrm>
            <a:off x="3342132" y="1640586"/>
            <a:ext cx="256032" cy="237744"/>
          </a:xfrm>
          <a:prstGeom prst="rect">
            <a:avLst/>
          </a:prstGeom>
          <a:solidFill>
            <a:srgbClr val="7AAACE"/>
          </a:solidFill>
          <a:ln w="12700">
            <a:solidFill>
              <a:srgbClr val="7AAACE"/>
            </a:solidFill>
            <a:prstDash val="solid"/>
          </a:ln>
        </p:spPr>
      </p:sp>
      <p:sp>
        <p:nvSpPr>
          <p:cNvPr id="32" name="Text 30"/>
          <p:cNvSpPr/>
          <p:nvPr/>
        </p:nvSpPr>
        <p:spPr>
          <a:xfrm>
            <a:off x="3342132" y="164058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33" name="Shape 31"/>
          <p:cNvSpPr/>
          <p:nvPr/>
        </p:nvSpPr>
        <p:spPr>
          <a:xfrm>
            <a:off x="3863340" y="1640586"/>
            <a:ext cx="256032" cy="237744"/>
          </a:xfrm>
          <a:prstGeom prst="rect">
            <a:avLst/>
          </a:prstGeom>
          <a:solidFill>
            <a:srgbClr val="1A7A4A"/>
          </a:solidFill>
          <a:ln w="12700">
            <a:solidFill>
              <a:srgbClr val="1A7A4A"/>
            </a:solidFill>
            <a:prstDash val="solid"/>
          </a:ln>
        </p:spPr>
      </p:sp>
      <p:sp>
        <p:nvSpPr>
          <p:cNvPr id="34" name="Text 32"/>
          <p:cNvSpPr/>
          <p:nvPr/>
        </p:nvSpPr>
        <p:spPr>
          <a:xfrm>
            <a:off x="3863340" y="164058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35" name="Shape 33"/>
          <p:cNvSpPr/>
          <p:nvPr/>
        </p:nvSpPr>
        <p:spPr>
          <a:xfrm>
            <a:off x="4251960" y="1481328"/>
            <a:ext cx="658368" cy="556260"/>
          </a:xfrm>
          <a:prstGeom prst="rect">
            <a:avLst/>
          </a:prstGeom>
          <a:solidFill>
            <a:srgbClr val="C00707"/>
          </a:solidFill>
          <a:ln w="12700">
            <a:solidFill>
              <a:srgbClr val="C00707"/>
            </a:solidFill>
            <a:prstDash val="solid"/>
          </a:ln>
        </p:spPr>
      </p:sp>
      <p:sp>
        <p:nvSpPr>
          <p:cNvPr id="36" name="Text 34"/>
          <p:cNvSpPr/>
          <p:nvPr/>
        </p:nvSpPr>
        <p:spPr>
          <a:xfrm>
            <a:off x="4251960" y="1481328"/>
            <a:ext cx="658368" cy="5562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11</a:t>
            </a:r>
            <a:endParaRPr lang="en-US" sz="1600" dirty="0"/>
          </a:p>
        </p:txBody>
      </p:sp>
      <p:sp>
        <p:nvSpPr>
          <p:cNvPr id="37" name="Shape 35"/>
          <p:cNvSpPr/>
          <p:nvPr/>
        </p:nvSpPr>
        <p:spPr>
          <a:xfrm>
            <a:off x="137160" y="2037588"/>
            <a:ext cx="2029968" cy="556260"/>
          </a:xfrm>
          <a:prstGeom prst="rect">
            <a:avLst/>
          </a:prstGeom>
          <a:solidFill>
            <a:srgbClr val="FFFFFF"/>
          </a:solidFill>
          <a:ln w="12700">
            <a:solidFill>
              <a:srgbClr val="DDE6F0"/>
            </a:solidFill>
            <a:prstDash val="solid"/>
          </a:ln>
        </p:spPr>
      </p:sp>
      <p:sp>
        <p:nvSpPr>
          <p:cNvPr id="38" name="Shape 36"/>
          <p:cNvSpPr/>
          <p:nvPr/>
        </p:nvSpPr>
        <p:spPr>
          <a:xfrm>
            <a:off x="2167128" y="2037588"/>
            <a:ext cx="521208" cy="556260"/>
          </a:xfrm>
          <a:prstGeom prst="rect">
            <a:avLst/>
          </a:prstGeom>
          <a:solidFill>
            <a:srgbClr val="FFFFFF"/>
          </a:solidFill>
          <a:ln w="12700">
            <a:solidFill>
              <a:srgbClr val="DDE6F0"/>
            </a:solidFill>
            <a:prstDash val="solid"/>
          </a:ln>
        </p:spPr>
      </p:sp>
      <p:sp>
        <p:nvSpPr>
          <p:cNvPr id="39" name="Shape 37"/>
          <p:cNvSpPr/>
          <p:nvPr/>
        </p:nvSpPr>
        <p:spPr>
          <a:xfrm>
            <a:off x="2688336" y="2037588"/>
            <a:ext cx="521208" cy="556260"/>
          </a:xfrm>
          <a:prstGeom prst="rect">
            <a:avLst/>
          </a:prstGeom>
          <a:solidFill>
            <a:srgbClr val="FFFFFF"/>
          </a:solidFill>
          <a:ln w="12700">
            <a:solidFill>
              <a:srgbClr val="DDE6F0"/>
            </a:solidFill>
            <a:prstDash val="solid"/>
          </a:ln>
        </p:spPr>
      </p:sp>
      <p:sp>
        <p:nvSpPr>
          <p:cNvPr id="40" name="Shape 38"/>
          <p:cNvSpPr/>
          <p:nvPr/>
        </p:nvSpPr>
        <p:spPr>
          <a:xfrm>
            <a:off x="3209544" y="2037588"/>
            <a:ext cx="521208" cy="556260"/>
          </a:xfrm>
          <a:prstGeom prst="rect">
            <a:avLst/>
          </a:prstGeom>
          <a:solidFill>
            <a:srgbClr val="FFFFFF"/>
          </a:solidFill>
          <a:ln w="12700">
            <a:solidFill>
              <a:srgbClr val="DDE6F0"/>
            </a:solidFill>
            <a:prstDash val="solid"/>
          </a:ln>
        </p:spPr>
      </p:sp>
      <p:sp>
        <p:nvSpPr>
          <p:cNvPr id="41" name="Shape 39"/>
          <p:cNvSpPr/>
          <p:nvPr/>
        </p:nvSpPr>
        <p:spPr>
          <a:xfrm>
            <a:off x="3730752" y="2037588"/>
            <a:ext cx="521208" cy="556260"/>
          </a:xfrm>
          <a:prstGeom prst="rect">
            <a:avLst/>
          </a:prstGeom>
          <a:solidFill>
            <a:srgbClr val="FFFFFF"/>
          </a:solidFill>
          <a:ln w="12700">
            <a:solidFill>
              <a:srgbClr val="DDE6F0"/>
            </a:solidFill>
            <a:prstDash val="solid"/>
          </a:ln>
        </p:spPr>
      </p:sp>
      <p:sp>
        <p:nvSpPr>
          <p:cNvPr id="42" name="Shape 40"/>
          <p:cNvSpPr/>
          <p:nvPr/>
        </p:nvSpPr>
        <p:spPr>
          <a:xfrm>
            <a:off x="4251960" y="2037588"/>
            <a:ext cx="658368" cy="556260"/>
          </a:xfrm>
          <a:prstGeom prst="rect">
            <a:avLst/>
          </a:prstGeom>
          <a:solidFill>
            <a:srgbClr val="FFFFFF"/>
          </a:solidFill>
          <a:ln w="12700">
            <a:solidFill>
              <a:srgbClr val="DDE6F0"/>
            </a:solidFill>
            <a:prstDash val="solid"/>
          </a:ln>
        </p:spPr>
      </p:sp>
      <p:sp>
        <p:nvSpPr>
          <p:cNvPr id="43" name="Text 41"/>
          <p:cNvSpPr/>
          <p:nvPr/>
        </p:nvSpPr>
        <p:spPr>
          <a:xfrm>
            <a:off x="192024" y="2074164"/>
            <a:ext cx="1938528" cy="483108"/>
          </a:xfrm>
          <a:prstGeom prst="rect">
            <a:avLst/>
          </a:prstGeom>
          <a:noFill/>
          <a:ln/>
        </p:spPr>
        <p:txBody>
          <a:bodyPr wrap="square" lIns="0" tIns="0" rIns="0" bIns="0" rtlCol="0" anchor="ctr"/>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Modèles prédictifs — simulation flux futurs</a:t>
            </a:r>
            <a:endParaRPr lang="en-US" sz="750" dirty="0"/>
          </a:p>
        </p:txBody>
      </p:sp>
      <p:sp>
        <p:nvSpPr>
          <p:cNvPr id="44" name="Shape 42"/>
          <p:cNvSpPr/>
          <p:nvPr/>
        </p:nvSpPr>
        <p:spPr>
          <a:xfrm>
            <a:off x="2299716" y="2196846"/>
            <a:ext cx="256032" cy="237744"/>
          </a:xfrm>
          <a:prstGeom prst="rect">
            <a:avLst/>
          </a:prstGeom>
          <a:solidFill>
            <a:srgbClr val="1A7A4A"/>
          </a:solidFill>
          <a:ln w="12700">
            <a:solidFill>
              <a:srgbClr val="1A7A4A"/>
            </a:solidFill>
            <a:prstDash val="solid"/>
          </a:ln>
        </p:spPr>
      </p:sp>
      <p:sp>
        <p:nvSpPr>
          <p:cNvPr id="45" name="Text 43"/>
          <p:cNvSpPr/>
          <p:nvPr/>
        </p:nvSpPr>
        <p:spPr>
          <a:xfrm>
            <a:off x="2299716" y="219684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46" name="Shape 44"/>
          <p:cNvSpPr/>
          <p:nvPr/>
        </p:nvSpPr>
        <p:spPr>
          <a:xfrm>
            <a:off x="2820924" y="2196846"/>
            <a:ext cx="256032" cy="237744"/>
          </a:xfrm>
          <a:prstGeom prst="rect">
            <a:avLst/>
          </a:prstGeom>
          <a:solidFill>
            <a:srgbClr val="1A7A4A"/>
          </a:solidFill>
          <a:ln w="12700">
            <a:solidFill>
              <a:srgbClr val="1A7A4A"/>
            </a:solidFill>
            <a:prstDash val="solid"/>
          </a:ln>
        </p:spPr>
      </p:sp>
      <p:sp>
        <p:nvSpPr>
          <p:cNvPr id="47" name="Text 45"/>
          <p:cNvSpPr/>
          <p:nvPr/>
        </p:nvSpPr>
        <p:spPr>
          <a:xfrm>
            <a:off x="2820924" y="219684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48" name="Shape 46"/>
          <p:cNvSpPr/>
          <p:nvPr/>
        </p:nvSpPr>
        <p:spPr>
          <a:xfrm>
            <a:off x="3342132" y="2196846"/>
            <a:ext cx="256032" cy="237744"/>
          </a:xfrm>
          <a:prstGeom prst="rect">
            <a:avLst/>
          </a:prstGeom>
          <a:solidFill>
            <a:srgbClr val="1A7A4A"/>
          </a:solidFill>
          <a:ln w="12700">
            <a:solidFill>
              <a:srgbClr val="1A7A4A"/>
            </a:solidFill>
            <a:prstDash val="solid"/>
          </a:ln>
        </p:spPr>
      </p:sp>
      <p:sp>
        <p:nvSpPr>
          <p:cNvPr id="49" name="Text 47"/>
          <p:cNvSpPr/>
          <p:nvPr/>
        </p:nvSpPr>
        <p:spPr>
          <a:xfrm>
            <a:off x="3342132" y="219684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50" name="Shape 48"/>
          <p:cNvSpPr/>
          <p:nvPr/>
        </p:nvSpPr>
        <p:spPr>
          <a:xfrm>
            <a:off x="3863340" y="2196846"/>
            <a:ext cx="256032" cy="237744"/>
          </a:xfrm>
          <a:prstGeom prst="rect">
            <a:avLst/>
          </a:prstGeom>
          <a:solidFill>
            <a:srgbClr val="7AAACE"/>
          </a:solidFill>
          <a:ln w="12700">
            <a:solidFill>
              <a:srgbClr val="7AAACE"/>
            </a:solidFill>
            <a:prstDash val="solid"/>
          </a:ln>
        </p:spPr>
      </p:sp>
      <p:sp>
        <p:nvSpPr>
          <p:cNvPr id="51" name="Text 49"/>
          <p:cNvSpPr/>
          <p:nvPr/>
        </p:nvSpPr>
        <p:spPr>
          <a:xfrm>
            <a:off x="3863340" y="219684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52" name="Shape 50"/>
          <p:cNvSpPr/>
          <p:nvPr/>
        </p:nvSpPr>
        <p:spPr>
          <a:xfrm>
            <a:off x="4251960" y="2037588"/>
            <a:ext cx="658368" cy="556260"/>
          </a:xfrm>
          <a:prstGeom prst="rect">
            <a:avLst/>
          </a:prstGeom>
          <a:solidFill>
            <a:srgbClr val="C00707"/>
          </a:solidFill>
          <a:ln w="12700">
            <a:solidFill>
              <a:srgbClr val="C00707"/>
            </a:solidFill>
            <a:prstDash val="solid"/>
          </a:ln>
        </p:spPr>
      </p:sp>
      <p:sp>
        <p:nvSpPr>
          <p:cNvPr id="53" name="Text 51"/>
          <p:cNvSpPr/>
          <p:nvPr/>
        </p:nvSpPr>
        <p:spPr>
          <a:xfrm>
            <a:off x="4251960" y="2037588"/>
            <a:ext cx="658368" cy="5562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11</a:t>
            </a:r>
            <a:endParaRPr lang="en-US" sz="1600" dirty="0"/>
          </a:p>
        </p:txBody>
      </p:sp>
      <p:sp>
        <p:nvSpPr>
          <p:cNvPr id="54" name="Shape 52"/>
          <p:cNvSpPr/>
          <p:nvPr/>
        </p:nvSpPr>
        <p:spPr>
          <a:xfrm>
            <a:off x="137160" y="2593848"/>
            <a:ext cx="2029968" cy="556260"/>
          </a:xfrm>
          <a:prstGeom prst="rect">
            <a:avLst/>
          </a:prstGeom>
          <a:solidFill>
            <a:srgbClr val="F7F8F0"/>
          </a:solidFill>
          <a:ln w="12700">
            <a:solidFill>
              <a:srgbClr val="DDE6F0"/>
            </a:solidFill>
            <a:prstDash val="solid"/>
          </a:ln>
        </p:spPr>
      </p:sp>
      <p:sp>
        <p:nvSpPr>
          <p:cNvPr id="55" name="Shape 53"/>
          <p:cNvSpPr/>
          <p:nvPr/>
        </p:nvSpPr>
        <p:spPr>
          <a:xfrm>
            <a:off x="2167128" y="2593848"/>
            <a:ext cx="521208" cy="556260"/>
          </a:xfrm>
          <a:prstGeom prst="rect">
            <a:avLst/>
          </a:prstGeom>
          <a:solidFill>
            <a:srgbClr val="F7F8F0"/>
          </a:solidFill>
          <a:ln w="12700">
            <a:solidFill>
              <a:srgbClr val="DDE6F0"/>
            </a:solidFill>
            <a:prstDash val="solid"/>
          </a:ln>
        </p:spPr>
      </p:sp>
      <p:sp>
        <p:nvSpPr>
          <p:cNvPr id="56" name="Shape 54"/>
          <p:cNvSpPr/>
          <p:nvPr/>
        </p:nvSpPr>
        <p:spPr>
          <a:xfrm>
            <a:off x="2688336" y="2593848"/>
            <a:ext cx="521208" cy="556260"/>
          </a:xfrm>
          <a:prstGeom prst="rect">
            <a:avLst/>
          </a:prstGeom>
          <a:solidFill>
            <a:srgbClr val="F7F8F0"/>
          </a:solidFill>
          <a:ln w="12700">
            <a:solidFill>
              <a:srgbClr val="DDE6F0"/>
            </a:solidFill>
            <a:prstDash val="solid"/>
          </a:ln>
        </p:spPr>
      </p:sp>
      <p:sp>
        <p:nvSpPr>
          <p:cNvPr id="57" name="Shape 55"/>
          <p:cNvSpPr/>
          <p:nvPr/>
        </p:nvSpPr>
        <p:spPr>
          <a:xfrm>
            <a:off x="3209544" y="2593848"/>
            <a:ext cx="521208" cy="556260"/>
          </a:xfrm>
          <a:prstGeom prst="rect">
            <a:avLst/>
          </a:prstGeom>
          <a:solidFill>
            <a:srgbClr val="F7F8F0"/>
          </a:solidFill>
          <a:ln w="12700">
            <a:solidFill>
              <a:srgbClr val="DDE6F0"/>
            </a:solidFill>
            <a:prstDash val="solid"/>
          </a:ln>
        </p:spPr>
      </p:sp>
      <p:sp>
        <p:nvSpPr>
          <p:cNvPr id="58" name="Shape 56"/>
          <p:cNvSpPr/>
          <p:nvPr/>
        </p:nvSpPr>
        <p:spPr>
          <a:xfrm>
            <a:off x="3730752" y="2593848"/>
            <a:ext cx="521208" cy="556260"/>
          </a:xfrm>
          <a:prstGeom prst="rect">
            <a:avLst/>
          </a:prstGeom>
          <a:solidFill>
            <a:srgbClr val="F7F8F0"/>
          </a:solidFill>
          <a:ln w="12700">
            <a:solidFill>
              <a:srgbClr val="DDE6F0"/>
            </a:solidFill>
            <a:prstDash val="solid"/>
          </a:ln>
        </p:spPr>
      </p:sp>
      <p:sp>
        <p:nvSpPr>
          <p:cNvPr id="59" name="Shape 57"/>
          <p:cNvSpPr/>
          <p:nvPr/>
        </p:nvSpPr>
        <p:spPr>
          <a:xfrm>
            <a:off x="4251960" y="2593848"/>
            <a:ext cx="658368" cy="556260"/>
          </a:xfrm>
          <a:prstGeom prst="rect">
            <a:avLst/>
          </a:prstGeom>
          <a:solidFill>
            <a:srgbClr val="F7F8F0"/>
          </a:solidFill>
          <a:ln w="12700">
            <a:solidFill>
              <a:srgbClr val="DDE6F0"/>
            </a:solidFill>
            <a:prstDash val="solid"/>
          </a:ln>
        </p:spPr>
      </p:sp>
      <p:sp>
        <p:nvSpPr>
          <p:cNvPr id="60" name="Text 58"/>
          <p:cNvSpPr/>
          <p:nvPr/>
        </p:nvSpPr>
        <p:spPr>
          <a:xfrm>
            <a:off x="192024" y="2630424"/>
            <a:ext cx="1938528" cy="483108"/>
          </a:xfrm>
          <a:prstGeom prst="rect">
            <a:avLst/>
          </a:prstGeom>
          <a:noFill/>
          <a:ln/>
        </p:spPr>
        <p:txBody>
          <a:bodyPr wrap="square" lIns="0" tIns="0" rIns="0" bIns="0" rtlCol="0" anchor="ctr"/>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Génération de rapports automatisés</a:t>
            </a:r>
            <a:endParaRPr lang="en-US" sz="750" dirty="0"/>
          </a:p>
        </p:txBody>
      </p:sp>
      <p:sp>
        <p:nvSpPr>
          <p:cNvPr id="61" name="Shape 59"/>
          <p:cNvSpPr/>
          <p:nvPr/>
        </p:nvSpPr>
        <p:spPr>
          <a:xfrm>
            <a:off x="2299716" y="2753106"/>
            <a:ext cx="256032" cy="237744"/>
          </a:xfrm>
          <a:prstGeom prst="rect">
            <a:avLst/>
          </a:prstGeom>
          <a:solidFill>
            <a:srgbClr val="1A7A4A"/>
          </a:solidFill>
          <a:ln w="12700">
            <a:solidFill>
              <a:srgbClr val="1A7A4A"/>
            </a:solidFill>
            <a:prstDash val="solid"/>
          </a:ln>
        </p:spPr>
      </p:sp>
      <p:sp>
        <p:nvSpPr>
          <p:cNvPr id="62" name="Text 60"/>
          <p:cNvSpPr/>
          <p:nvPr/>
        </p:nvSpPr>
        <p:spPr>
          <a:xfrm>
            <a:off x="2299716" y="275310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63" name="Shape 61"/>
          <p:cNvSpPr/>
          <p:nvPr/>
        </p:nvSpPr>
        <p:spPr>
          <a:xfrm>
            <a:off x="2820924" y="2753106"/>
            <a:ext cx="256032" cy="237744"/>
          </a:xfrm>
          <a:prstGeom prst="rect">
            <a:avLst/>
          </a:prstGeom>
          <a:solidFill>
            <a:srgbClr val="E07B3A"/>
          </a:solidFill>
          <a:ln w="12700">
            <a:solidFill>
              <a:srgbClr val="E07B3A"/>
            </a:solidFill>
            <a:prstDash val="solid"/>
          </a:ln>
        </p:spPr>
      </p:sp>
      <p:sp>
        <p:nvSpPr>
          <p:cNvPr id="64" name="Text 62"/>
          <p:cNvSpPr/>
          <p:nvPr/>
        </p:nvSpPr>
        <p:spPr>
          <a:xfrm>
            <a:off x="2820924" y="275310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5" name="Shape 63"/>
          <p:cNvSpPr/>
          <p:nvPr/>
        </p:nvSpPr>
        <p:spPr>
          <a:xfrm>
            <a:off x="3342132" y="2753106"/>
            <a:ext cx="256032" cy="237744"/>
          </a:xfrm>
          <a:prstGeom prst="rect">
            <a:avLst/>
          </a:prstGeom>
          <a:solidFill>
            <a:srgbClr val="1A7A4A"/>
          </a:solidFill>
          <a:ln w="12700">
            <a:solidFill>
              <a:srgbClr val="1A7A4A"/>
            </a:solidFill>
            <a:prstDash val="solid"/>
          </a:ln>
        </p:spPr>
      </p:sp>
      <p:sp>
        <p:nvSpPr>
          <p:cNvPr id="66" name="Text 64"/>
          <p:cNvSpPr/>
          <p:nvPr/>
        </p:nvSpPr>
        <p:spPr>
          <a:xfrm>
            <a:off x="3342132" y="275310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67" name="Shape 65"/>
          <p:cNvSpPr/>
          <p:nvPr/>
        </p:nvSpPr>
        <p:spPr>
          <a:xfrm>
            <a:off x="3863340" y="2753106"/>
            <a:ext cx="256032" cy="237744"/>
          </a:xfrm>
          <a:prstGeom prst="rect">
            <a:avLst/>
          </a:prstGeom>
          <a:solidFill>
            <a:srgbClr val="7AAACE"/>
          </a:solidFill>
          <a:ln w="12700">
            <a:solidFill>
              <a:srgbClr val="7AAACE"/>
            </a:solidFill>
            <a:prstDash val="solid"/>
          </a:ln>
        </p:spPr>
      </p:sp>
      <p:sp>
        <p:nvSpPr>
          <p:cNvPr id="68" name="Text 66"/>
          <p:cNvSpPr/>
          <p:nvPr/>
        </p:nvSpPr>
        <p:spPr>
          <a:xfrm>
            <a:off x="3863340" y="275310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69" name="Shape 67"/>
          <p:cNvSpPr/>
          <p:nvPr/>
        </p:nvSpPr>
        <p:spPr>
          <a:xfrm>
            <a:off x="4251960" y="2593848"/>
            <a:ext cx="658368" cy="556260"/>
          </a:xfrm>
          <a:prstGeom prst="rect">
            <a:avLst/>
          </a:prstGeom>
          <a:solidFill>
            <a:srgbClr val="134E8E"/>
          </a:solidFill>
          <a:ln w="12700">
            <a:solidFill>
              <a:srgbClr val="134E8E"/>
            </a:solidFill>
            <a:prstDash val="solid"/>
          </a:ln>
        </p:spPr>
      </p:sp>
      <p:sp>
        <p:nvSpPr>
          <p:cNvPr id="70" name="Text 68"/>
          <p:cNvSpPr/>
          <p:nvPr/>
        </p:nvSpPr>
        <p:spPr>
          <a:xfrm>
            <a:off x="4251960" y="2593848"/>
            <a:ext cx="658368" cy="5562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9</a:t>
            </a:r>
            <a:endParaRPr lang="en-US" sz="1600" dirty="0"/>
          </a:p>
        </p:txBody>
      </p:sp>
      <p:sp>
        <p:nvSpPr>
          <p:cNvPr id="71" name="Shape 69"/>
          <p:cNvSpPr/>
          <p:nvPr/>
        </p:nvSpPr>
        <p:spPr>
          <a:xfrm>
            <a:off x="137160" y="3150108"/>
            <a:ext cx="2029968" cy="556260"/>
          </a:xfrm>
          <a:prstGeom prst="rect">
            <a:avLst/>
          </a:prstGeom>
          <a:solidFill>
            <a:srgbClr val="FFFFFF"/>
          </a:solidFill>
          <a:ln w="12700">
            <a:solidFill>
              <a:srgbClr val="DDE6F0"/>
            </a:solidFill>
            <a:prstDash val="solid"/>
          </a:ln>
        </p:spPr>
      </p:sp>
      <p:sp>
        <p:nvSpPr>
          <p:cNvPr id="72" name="Shape 70"/>
          <p:cNvSpPr/>
          <p:nvPr/>
        </p:nvSpPr>
        <p:spPr>
          <a:xfrm>
            <a:off x="2167128" y="3150108"/>
            <a:ext cx="521208" cy="556260"/>
          </a:xfrm>
          <a:prstGeom prst="rect">
            <a:avLst/>
          </a:prstGeom>
          <a:solidFill>
            <a:srgbClr val="FFFFFF"/>
          </a:solidFill>
          <a:ln w="12700">
            <a:solidFill>
              <a:srgbClr val="DDE6F0"/>
            </a:solidFill>
            <a:prstDash val="solid"/>
          </a:ln>
        </p:spPr>
      </p:sp>
      <p:sp>
        <p:nvSpPr>
          <p:cNvPr id="73" name="Shape 71"/>
          <p:cNvSpPr/>
          <p:nvPr/>
        </p:nvSpPr>
        <p:spPr>
          <a:xfrm>
            <a:off x="2688336" y="3150108"/>
            <a:ext cx="521208" cy="556260"/>
          </a:xfrm>
          <a:prstGeom prst="rect">
            <a:avLst/>
          </a:prstGeom>
          <a:solidFill>
            <a:srgbClr val="FFFFFF"/>
          </a:solidFill>
          <a:ln w="12700">
            <a:solidFill>
              <a:srgbClr val="DDE6F0"/>
            </a:solidFill>
            <a:prstDash val="solid"/>
          </a:ln>
        </p:spPr>
      </p:sp>
      <p:sp>
        <p:nvSpPr>
          <p:cNvPr id="74" name="Shape 72"/>
          <p:cNvSpPr/>
          <p:nvPr/>
        </p:nvSpPr>
        <p:spPr>
          <a:xfrm>
            <a:off x="3209544" y="3150108"/>
            <a:ext cx="521208" cy="556260"/>
          </a:xfrm>
          <a:prstGeom prst="rect">
            <a:avLst/>
          </a:prstGeom>
          <a:solidFill>
            <a:srgbClr val="FFFFFF"/>
          </a:solidFill>
          <a:ln w="12700">
            <a:solidFill>
              <a:srgbClr val="DDE6F0"/>
            </a:solidFill>
            <a:prstDash val="solid"/>
          </a:ln>
        </p:spPr>
      </p:sp>
      <p:sp>
        <p:nvSpPr>
          <p:cNvPr id="75" name="Shape 73"/>
          <p:cNvSpPr/>
          <p:nvPr/>
        </p:nvSpPr>
        <p:spPr>
          <a:xfrm>
            <a:off x="3730752" y="3150108"/>
            <a:ext cx="521208" cy="556260"/>
          </a:xfrm>
          <a:prstGeom prst="rect">
            <a:avLst/>
          </a:prstGeom>
          <a:solidFill>
            <a:srgbClr val="FFFFFF"/>
          </a:solidFill>
          <a:ln w="12700">
            <a:solidFill>
              <a:srgbClr val="DDE6F0"/>
            </a:solidFill>
            <a:prstDash val="solid"/>
          </a:ln>
        </p:spPr>
      </p:sp>
      <p:sp>
        <p:nvSpPr>
          <p:cNvPr id="76" name="Shape 74"/>
          <p:cNvSpPr/>
          <p:nvPr/>
        </p:nvSpPr>
        <p:spPr>
          <a:xfrm>
            <a:off x="4251960" y="3150108"/>
            <a:ext cx="658368" cy="556260"/>
          </a:xfrm>
          <a:prstGeom prst="rect">
            <a:avLst/>
          </a:prstGeom>
          <a:solidFill>
            <a:srgbClr val="FFFFFF"/>
          </a:solidFill>
          <a:ln w="12700">
            <a:solidFill>
              <a:srgbClr val="DDE6F0"/>
            </a:solidFill>
            <a:prstDash val="solid"/>
          </a:ln>
        </p:spPr>
      </p:sp>
      <p:sp>
        <p:nvSpPr>
          <p:cNvPr id="77" name="Text 75"/>
          <p:cNvSpPr/>
          <p:nvPr/>
        </p:nvSpPr>
        <p:spPr>
          <a:xfrm>
            <a:off x="192024" y="3186684"/>
            <a:ext cx="1938528" cy="483108"/>
          </a:xfrm>
          <a:prstGeom prst="rect">
            <a:avLst/>
          </a:prstGeom>
          <a:noFill/>
          <a:ln/>
        </p:spPr>
        <p:txBody>
          <a:bodyPr wrap="square" lIns="0" tIns="0" rIns="0" bIns="0" rtlCol="0" anchor="ctr"/>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Visualisation graphique engagements 5–10 ans</a:t>
            </a:r>
            <a:endParaRPr lang="en-US" sz="750" dirty="0"/>
          </a:p>
        </p:txBody>
      </p:sp>
      <p:sp>
        <p:nvSpPr>
          <p:cNvPr id="78" name="Shape 76"/>
          <p:cNvSpPr/>
          <p:nvPr/>
        </p:nvSpPr>
        <p:spPr>
          <a:xfrm>
            <a:off x="2299716" y="3309366"/>
            <a:ext cx="256032" cy="237744"/>
          </a:xfrm>
          <a:prstGeom prst="rect">
            <a:avLst/>
          </a:prstGeom>
          <a:solidFill>
            <a:srgbClr val="1A7A4A"/>
          </a:solidFill>
          <a:ln w="12700">
            <a:solidFill>
              <a:srgbClr val="1A7A4A"/>
            </a:solidFill>
            <a:prstDash val="solid"/>
          </a:ln>
        </p:spPr>
      </p:sp>
      <p:sp>
        <p:nvSpPr>
          <p:cNvPr id="79" name="Text 77"/>
          <p:cNvSpPr/>
          <p:nvPr/>
        </p:nvSpPr>
        <p:spPr>
          <a:xfrm>
            <a:off x="2299716" y="330936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80" name="Shape 78"/>
          <p:cNvSpPr/>
          <p:nvPr/>
        </p:nvSpPr>
        <p:spPr>
          <a:xfrm>
            <a:off x="2820924" y="3309366"/>
            <a:ext cx="256032" cy="237744"/>
          </a:xfrm>
          <a:prstGeom prst="rect">
            <a:avLst/>
          </a:prstGeom>
          <a:solidFill>
            <a:srgbClr val="E07B3A"/>
          </a:solidFill>
          <a:ln w="12700">
            <a:solidFill>
              <a:srgbClr val="E07B3A"/>
            </a:solidFill>
            <a:prstDash val="solid"/>
          </a:ln>
        </p:spPr>
      </p:sp>
      <p:sp>
        <p:nvSpPr>
          <p:cNvPr id="81" name="Text 79"/>
          <p:cNvSpPr/>
          <p:nvPr/>
        </p:nvSpPr>
        <p:spPr>
          <a:xfrm>
            <a:off x="2820924" y="330936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2" name="Shape 80"/>
          <p:cNvSpPr/>
          <p:nvPr/>
        </p:nvSpPr>
        <p:spPr>
          <a:xfrm>
            <a:off x="3342132" y="3309366"/>
            <a:ext cx="256032" cy="237744"/>
          </a:xfrm>
          <a:prstGeom prst="rect">
            <a:avLst/>
          </a:prstGeom>
          <a:solidFill>
            <a:srgbClr val="7AAACE"/>
          </a:solidFill>
          <a:ln w="12700">
            <a:solidFill>
              <a:srgbClr val="7AAACE"/>
            </a:solidFill>
            <a:prstDash val="solid"/>
          </a:ln>
        </p:spPr>
      </p:sp>
      <p:sp>
        <p:nvSpPr>
          <p:cNvPr id="83" name="Text 81"/>
          <p:cNvSpPr/>
          <p:nvPr/>
        </p:nvSpPr>
        <p:spPr>
          <a:xfrm>
            <a:off x="3342132" y="330936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84" name="Shape 82"/>
          <p:cNvSpPr/>
          <p:nvPr/>
        </p:nvSpPr>
        <p:spPr>
          <a:xfrm>
            <a:off x="3863340" y="3309366"/>
            <a:ext cx="256032" cy="237744"/>
          </a:xfrm>
          <a:prstGeom prst="rect">
            <a:avLst/>
          </a:prstGeom>
          <a:solidFill>
            <a:srgbClr val="7AAACE"/>
          </a:solidFill>
          <a:ln w="12700">
            <a:solidFill>
              <a:srgbClr val="7AAACE"/>
            </a:solidFill>
            <a:prstDash val="solid"/>
          </a:ln>
        </p:spPr>
      </p:sp>
      <p:sp>
        <p:nvSpPr>
          <p:cNvPr id="85" name="Text 83"/>
          <p:cNvSpPr/>
          <p:nvPr/>
        </p:nvSpPr>
        <p:spPr>
          <a:xfrm>
            <a:off x="3863340" y="330936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86" name="Shape 84"/>
          <p:cNvSpPr/>
          <p:nvPr/>
        </p:nvSpPr>
        <p:spPr>
          <a:xfrm>
            <a:off x="4251960" y="3150108"/>
            <a:ext cx="658368" cy="556260"/>
          </a:xfrm>
          <a:prstGeom prst="rect">
            <a:avLst/>
          </a:prstGeom>
          <a:solidFill>
            <a:srgbClr val="7AAACE"/>
          </a:solidFill>
          <a:ln w="12700">
            <a:solidFill>
              <a:srgbClr val="7AAACE"/>
            </a:solidFill>
            <a:prstDash val="solid"/>
          </a:ln>
        </p:spPr>
      </p:sp>
      <p:sp>
        <p:nvSpPr>
          <p:cNvPr id="87" name="Text 85"/>
          <p:cNvSpPr/>
          <p:nvPr/>
        </p:nvSpPr>
        <p:spPr>
          <a:xfrm>
            <a:off x="4251960" y="3150108"/>
            <a:ext cx="658368" cy="5562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88" name="Shape 86"/>
          <p:cNvSpPr/>
          <p:nvPr/>
        </p:nvSpPr>
        <p:spPr>
          <a:xfrm>
            <a:off x="137160" y="3706368"/>
            <a:ext cx="2029968" cy="556260"/>
          </a:xfrm>
          <a:prstGeom prst="rect">
            <a:avLst/>
          </a:prstGeom>
          <a:solidFill>
            <a:srgbClr val="F7F8F0"/>
          </a:solidFill>
          <a:ln w="12700">
            <a:solidFill>
              <a:srgbClr val="DDE6F0"/>
            </a:solidFill>
            <a:prstDash val="solid"/>
          </a:ln>
        </p:spPr>
      </p:sp>
      <p:sp>
        <p:nvSpPr>
          <p:cNvPr id="89" name="Shape 87"/>
          <p:cNvSpPr/>
          <p:nvPr/>
        </p:nvSpPr>
        <p:spPr>
          <a:xfrm>
            <a:off x="2167128" y="3706368"/>
            <a:ext cx="521208" cy="556260"/>
          </a:xfrm>
          <a:prstGeom prst="rect">
            <a:avLst/>
          </a:prstGeom>
          <a:solidFill>
            <a:srgbClr val="F7F8F0"/>
          </a:solidFill>
          <a:ln w="12700">
            <a:solidFill>
              <a:srgbClr val="DDE6F0"/>
            </a:solidFill>
            <a:prstDash val="solid"/>
          </a:ln>
        </p:spPr>
      </p:sp>
      <p:sp>
        <p:nvSpPr>
          <p:cNvPr id="90" name="Shape 88"/>
          <p:cNvSpPr/>
          <p:nvPr/>
        </p:nvSpPr>
        <p:spPr>
          <a:xfrm>
            <a:off x="2688336" y="3706368"/>
            <a:ext cx="521208" cy="556260"/>
          </a:xfrm>
          <a:prstGeom prst="rect">
            <a:avLst/>
          </a:prstGeom>
          <a:solidFill>
            <a:srgbClr val="F7F8F0"/>
          </a:solidFill>
          <a:ln w="12700">
            <a:solidFill>
              <a:srgbClr val="DDE6F0"/>
            </a:solidFill>
            <a:prstDash val="solid"/>
          </a:ln>
        </p:spPr>
      </p:sp>
      <p:sp>
        <p:nvSpPr>
          <p:cNvPr id="91" name="Shape 89"/>
          <p:cNvSpPr/>
          <p:nvPr/>
        </p:nvSpPr>
        <p:spPr>
          <a:xfrm>
            <a:off x="3209544" y="3706368"/>
            <a:ext cx="521208" cy="556260"/>
          </a:xfrm>
          <a:prstGeom prst="rect">
            <a:avLst/>
          </a:prstGeom>
          <a:solidFill>
            <a:srgbClr val="F7F8F0"/>
          </a:solidFill>
          <a:ln w="12700">
            <a:solidFill>
              <a:srgbClr val="DDE6F0"/>
            </a:solidFill>
            <a:prstDash val="solid"/>
          </a:ln>
        </p:spPr>
      </p:sp>
      <p:sp>
        <p:nvSpPr>
          <p:cNvPr id="92" name="Shape 90"/>
          <p:cNvSpPr/>
          <p:nvPr/>
        </p:nvSpPr>
        <p:spPr>
          <a:xfrm>
            <a:off x="3730752" y="3706368"/>
            <a:ext cx="521208" cy="556260"/>
          </a:xfrm>
          <a:prstGeom prst="rect">
            <a:avLst/>
          </a:prstGeom>
          <a:solidFill>
            <a:srgbClr val="F7F8F0"/>
          </a:solidFill>
          <a:ln w="12700">
            <a:solidFill>
              <a:srgbClr val="DDE6F0"/>
            </a:solidFill>
            <a:prstDash val="solid"/>
          </a:ln>
        </p:spPr>
      </p:sp>
      <p:sp>
        <p:nvSpPr>
          <p:cNvPr id="93" name="Shape 91"/>
          <p:cNvSpPr/>
          <p:nvPr/>
        </p:nvSpPr>
        <p:spPr>
          <a:xfrm>
            <a:off x="4251960" y="3706368"/>
            <a:ext cx="658368" cy="556260"/>
          </a:xfrm>
          <a:prstGeom prst="rect">
            <a:avLst/>
          </a:prstGeom>
          <a:solidFill>
            <a:srgbClr val="F7F8F0"/>
          </a:solidFill>
          <a:ln w="12700">
            <a:solidFill>
              <a:srgbClr val="DDE6F0"/>
            </a:solidFill>
            <a:prstDash val="solid"/>
          </a:ln>
        </p:spPr>
      </p:sp>
      <p:sp>
        <p:nvSpPr>
          <p:cNvPr id="94" name="Text 92"/>
          <p:cNvSpPr/>
          <p:nvPr/>
        </p:nvSpPr>
        <p:spPr>
          <a:xfrm>
            <a:off x="192024" y="3742944"/>
            <a:ext cx="1938528" cy="483108"/>
          </a:xfrm>
          <a:prstGeom prst="rect">
            <a:avLst/>
          </a:prstGeom>
          <a:noFill/>
          <a:ln/>
        </p:spPr>
        <p:txBody>
          <a:bodyPr wrap="square" lIns="0" tIns="0" rIns="0" bIns="0" rtlCol="0" anchor="ctr"/>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Intégration données OCDE/CAD — comparaisons</a:t>
            </a:r>
            <a:endParaRPr lang="en-US" sz="750" dirty="0"/>
          </a:p>
        </p:txBody>
      </p:sp>
      <p:sp>
        <p:nvSpPr>
          <p:cNvPr id="95" name="Shape 93"/>
          <p:cNvSpPr/>
          <p:nvPr/>
        </p:nvSpPr>
        <p:spPr>
          <a:xfrm>
            <a:off x="2299716" y="3865626"/>
            <a:ext cx="256032" cy="237744"/>
          </a:xfrm>
          <a:prstGeom prst="rect">
            <a:avLst/>
          </a:prstGeom>
          <a:solidFill>
            <a:srgbClr val="7AAACE"/>
          </a:solidFill>
          <a:ln w="12700">
            <a:solidFill>
              <a:srgbClr val="7AAACE"/>
            </a:solidFill>
            <a:prstDash val="solid"/>
          </a:ln>
        </p:spPr>
      </p:sp>
      <p:sp>
        <p:nvSpPr>
          <p:cNvPr id="96" name="Text 94"/>
          <p:cNvSpPr/>
          <p:nvPr/>
        </p:nvSpPr>
        <p:spPr>
          <a:xfrm>
            <a:off x="2299716" y="386562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7" name="Shape 95"/>
          <p:cNvSpPr/>
          <p:nvPr/>
        </p:nvSpPr>
        <p:spPr>
          <a:xfrm>
            <a:off x="2820924" y="3865626"/>
            <a:ext cx="256032" cy="237744"/>
          </a:xfrm>
          <a:prstGeom prst="rect">
            <a:avLst/>
          </a:prstGeom>
          <a:solidFill>
            <a:srgbClr val="7AAACE"/>
          </a:solidFill>
          <a:ln w="12700">
            <a:solidFill>
              <a:srgbClr val="7AAACE"/>
            </a:solidFill>
            <a:prstDash val="solid"/>
          </a:ln>
        </p:spPr>
      </p:sp>
      <p:sp>
        <p:nvSpPr>
          <p:cNvPr id="98" name="Text 96"/>
          <p:cNvSpPr/>
          <p:nvPr/>
        </p:nvSpPr>
        <p:spPr>
          <a:xfrm>
            <a:off x="2820924" y="386562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9" name="Shape 97"/>
          <p:cNvSpPr/>
          <p:nvPr/>
        </p:nvSpPr>
        <p:spPr>
          <a:xfrm>
            <a:off x="3342132" y="3865626"/>
            <a:ext cx="256032" cy="237744"/>
          </a:xfrm>
          <a:prstGeom prst="rect">
            <a:avLst/>
          </a:prstGeom>
          <a:solidFill>
            <a:srgbClr val="1A7A4A"/>
          </a:solidFill>
          <a:ln w="12700">
            <a:solidFill>
              <a:srgbClr val="1A7A4A"/>
            </a:solidFill>
            <a:prstDash val="solid"/>
          </a:ln>
        </p:spPr>
      </p:sp>
      <p:sp>
        <p:nvSpPr>
          <p:cNvPr id="100" name="Text 98"/>
          <p:cNvSpPr/>
          <p:nvPr/>
        </p:nvSpPr>
        <p:spPr>
          <a:xfrm>
            <a:off x="3342132" y="386562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1" name="Shape 99"/>
          <p:cNvSpPr/>
          <p:nvPr/>
        </p:nvSpPr>
        <p:spPr>
          <a:xfrm>
            <a:off x="3863340" y="3865626"/>
            <a:ext cx="256032" cy="237744"/>
          </a:xfrm>
          <a:prstGeom prst="rect">
            <a:avLst/>
          </a:prstGeom>
          <a:solidFill>
            <a:srgbClr val="E07B3A"/>
          </a:solidFill>
          <a:ln w="12700">
            <a:solidFill>
              <a:srgbClr val="E07B3A"/>
            </a:solidFill>
            <a:prstDash val="solid"/>
          </a:ln>
        </p:spPr>
      </p:sp>
      <p:sp>
        <p:nvSpPr>
          <p:cNvPr id="102" name="Text 100"/>
          <p:cNvSpPr/>
          <p:nvPr/>
        </p:nvSpPr>
        <p:spPr>
          <a:xfrm>
            <a:off x="3863340" y="386562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03" name="Shape 101"/>
          <p:cNvSpPr/>
          <p:nvPr/>
        </p:nvSpPr>
        <p:spPr>
          <a:xfrm>
            <a:off x="4251960" y="3706368"/>
            <a:ext cx="658368" cy="556260"/>
          </a:xfrm>
          <a:prstGeom prst="rect">
            <a:avLst/>
          </a:prstGeom>
          <a:solidFill>
            <a:srgbClr val="7AAACE"/>
          </a:solidFill>
          <a:ln w="12700">
            <a:solidFill>
              <a:srgbClr val="7AAACE"/>
            </a:solidFill>
            <a:prstDash val="solid"/>
          </a:ln>
        </p:spPr>
      </p:sp>
      <p:sp>
        <p:nvSpPr>
          <p:cNvPr id="104" name="Text 102"/>
          <p:cNvSpPr/>
          <p:nvPr/>
        </p:nvSpPr>
        <p:spPr>
          <a:xfrm>
            <a:off x="4251960" y="3706368"/>
            <a:ext cx="658368" cy="5562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105" name="Shape 103"/>
          <p:cNvSpPr/>
          <p:nvPr/>
        </p:nvSpPr>
        <p:spPr>
          <a:xfrm>
            <a:off x="137160" y="4262628"/>
            <a:ext cx="2029968" cy="556260"/>
          </a:xfrm>
          <a:prstGeom prst="rect">
            <a:avLst/>
          </a:prstGeom>
          <a:solidFill>
            <a:srgbClr val="FFFFFF"/>
          </a:solidFill>
          <a:ln w="12700">
            <a:solidFill>
              <a:srgbClr val="DDE6F0"/>
            </a:solidFill>
            <a:prstDash val="solid"/>
          </a:ln>
        </p:spPr>
      </p:sp>
      <p:sp>
        <p:nvSpPr>
          <p:cNvPr id="106" name="Shape 104"/>
          <p:cNvSpPr/>
          <p:nvPr/>
        </p:nvSpPr>
        <p:spPr>
          <a:xfrm>
            <a:off x="2167128" y="4262628"/>
            <a:ext cx="521208" cy="556260"/>
          </a:xfrm>
          <a:prstGeom prst="rect">
            <a:avLst/>
          </a:prstGeom>
          <a:solidFill>
            <a:srgbClr val="FFFFFF"/>
          </a:solidFill>
          <a:ln w="12700">
            <a:solidFill>
              <a:srgbClr val="DDE6F0"/>
            </a:solidFill>
            <a:prstDash val="solid"/>
          </a:ln>
        </p:spPr>
      </p:sp>
      <p:sp>
        <p:nvSpPr>
          <p:cNvPr id="107" name="Shape 105"/>
          <p:cNvSpPr/>
          <p:nvPr/>
        </p:nvSpPr>
        <p:spPr>
          <a:xfrm>
            <a:off x="2688336" y="4262628"/>
            <a:ext cx="521208" cy="556260"/>
          </a:xfrm>
          <a:prstGeom prst="rect">
            <a:avLst/>
          </a:prstGeom>
          <a:solidFill>
            <a:srgbClr val="FFFFFF"/>
          </a:solidFill>
          <a:ln w="12700">
            <a:solidFill>
              <a:srgbClr val="DDE6F0"/>
            </a:solidFill>
            <a:prstDash val="solid"/>
          </a:ln>
        </p:spPr>
      </p:sp>
      <p:sp>
        <p:nvSpPr>
          <p:cNvPr id="108" name="Shape 106"/>
          <p:cNvSpPr/>
          <p:nvPr/>
        </p:nvSpPr>
        <p:spPr>
          <a:xfrm>
            <a:off x="3209544" y="4262628"/>
            <a:ext cx="521208" cy="556260"/>
          </a:xfrm>
          <a:prstGeom prst="rect">
            <a:avLst/>
          </a:prstGeom>
          <a:solidFill>
            <a:srgbClr val="FFFFFF"/>
          </a:solidFill>
          <a:ln w="12700">
            <a:solidFill>
              <a:srgbClr val="DDE6F0"/>
            </a:solidFill>
            <a:prstDash val="solid"/>
          </a:ln>
        </p:spPr>
      </p:sp>
      <p:sp>
        <p:nvSpPr>
          <p:cNvPr id="109" name="Shape 107"/>
          <p:cNvSpPr/>
          <p:nvPr/>
        </p:nvSpPr>
        <p:spPr>
          <a:xfrm>
            <a:off x="3730752" y="4262628"/>
            <a:ext cx="521208" cy="556260"/>
          </a:xfrm>
          <a:prstGeom prst="rect">
            <a:avLst/>
          </a:prstGeom>
          <a:solidFill>
            <a:srgbClr val="FFFFFF"/>
          </a:solidFill>
          <a:ln w="12700">
            <a:solidFill>
              <a:srgbClr val="DDE6F0"/>
            </a:solidFill>
            <a:prstDash val="solid"/>
          </a:ln>
        </p:spPr>
      </p:sp>
      <p:sp>
        <p:nvSpPr>
          <p:cNvPr id="110" name="Shape 108"/>
          <p:cNvSpPr/>
          <p:nvPr/>
        </p:nvSpPr>
        <p:spPr>
          <a:xfrm>
            <a:off x="4251960" y="4262628"/>
            <a:ext cx="658368" cy="556260"/>
          </a:xfrm>
          <a:prstGeom prst="rect">
            <a:avLst/>
          </a:prstGeom>
          <a:solidFill>
            <a:srgbClr val="FFFFFF"/>
          </a:solidFill>
          <a:ln w="12700">
            <a:solidFill>
              <a:srgbClr val="DDE6F0"/>
            </a:solidFill>
            <a:prstDash val="solid"/>
          </a:ln>
        </p:spPr>
      </p:sp>
      <p:sp>
        <p:nvSpPr>
          <p:cNvPr id="111" name="Text 109"/>
          <p:cNvSpPr/>
          <p:nvPr/>
        </p:nvSpPr>
        <p:spPr>
          <a:xfrm>
            <a:off x="192024" y="4299204"/>
            <a:ext cx="1938528" cy="483108"/>
          </a:xfrm>
          <a:prstGeom prst="rect">
            <a:avLst/>
          </a:prstGeom>
          <a:noFill/>
          <a:ln/>
        </p:spPr>
        <p:txBody>
          <a:bodyPr wrap="square" lIns="0" tIns="0" rIns="0" bIns="0" rtlCol="0" anchor="ctr"/>
          <a:lstStyle/>
          <a:p>
            <a:pPr indent="0" marL="0">
              <a:lnSpc>
                <a:spcPct val="110000"/>
              </a:lnSpc>
              <a:buNone/>
            </a:pPr>
            <a:r>
              <a:rPr lang="en-US" sz="750" dirty="0">
                <a:solidFill>
                  <a:srgbClr val="1A2E4A"/>
                </a:solidFill>
                <a:latin typeface="Calibri" pitchFamily="34" charset="0"/>
                <a:ea typeface="Calibri" pitchFamily="34" charset="-122"/>
                <a:cs typeface="Calibri" pitchFamily="34" charset="-120"/>
              </a:rPr>
              <a:t>Optimisation mobile + notifications nouveautés</a:t>
            </a:r>
            <a:endParaRPr lang="en-US" sz="750" dirty="0"/>
          </a:p>
        </p:txBody>
      </p:sp>
      <p:sp>
        <p:nvSpPr>
          <p:cNvPr id="112" name="Shape 110"/>
          <p:cNvSpPr/>
          <p:nvPr/>
        </p:nvSpPr>
        <p:spPr>
          <a:xfrm>
            <a:off x="2299716" y="4421886"/>
            <a:ext cx="256032" cy="237744"/>
          </a:xfrm>
          <a:prstGeom prst="rect">
            <a:avLst/>
          </a:prstGeom>
          <a:solidFill>
            <a:srgbClr val="7AAACE"/>
          </a:solidFill>
          <a:ln w="12700">
            <a:solidFill>
              <a:srgbClr val="7AAACE"/>
            </a:solidFill>
            <a:prstDash val="solid"/>
          </a:ln>
        </p:spPr>
      </p:sp>
      <p:sp>
        <p:nvSpPr>
          <p:cNvPr id="113" name="Text 111"/>
          <p:cNvSpPr/>
          <p:nvPr/>
        </p:nvSpPr>
        <p:spPr>
          <a:xfrm>
            <a:off x="2299716" y="442188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14" name="Shape 112"/>
          <p:cNvSpPr/>
          <p:nvPr/>
        </p:nvSpPr>
        <p:spPr>
          <a:xfrm>
            <a:off x="2820924" y="4421886"/>
            <a:ext cx="256032" cy="237744"/>
          </a:xfrm>
          <a:prstGeom prst="rect">
            <a:avLst/>
          </a:prstGeom>
          <a:solidFill>
            <a:srgbClr val="E07B3A"/>
          </a:solidFill>
          <a:ln w="12700">
            <a:solidFill>
              <a:srgbClr val="E07B3A"/>
            </a:solidFill>
            <a:prstDash val="solid"/>
          </a:ln>
        </p:spPr>
      </p:sp>
      <p:sp>
        <p:nvSpPr>
          <p:cNvPr id="115" name="Text 113"/>
          <p:cNvSpPr/>
          <p:nvPr/>
        </p:nvSpPr>
        <p:spPr>
          <a:xfrm>
            <a:off x="2820924" y="442188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6" name="Shape 114"/>
          <p:cNvSpPr/>
          <p:nvPr/>
        </p:nvSpPr>
        <p:spPr>
          <a:xfrm>
            <a:off x="3342132" y="4421886"/>
            <a:ext cx="256032" cy="237744"/>
          </a:xfrm>
          <a:prstGeom prst="rect">
            <a:avLst/>
          </a:prstGeom>
          <a:solidFill>
            <a:srgbClr val="E07B3A"/>
          </a:solidFill>
          <a:ln w="12700">
            <a:solidFill>
              <a:srgbClr val="E07B3A"/>
            </a:solidFill>
            <a:prstDash val="solid"/>
          </a:ln>
        </p:spPr>
      </p:sp>
      <p:sp>
        <p:nvSpPr>
          <p:cNvPr id="117" name="Text 115"/>
          <p:cNvSpPr/>
          <p:nvPr/>
        </p:nvSpPr>
        <p:spPr>
          <a:xfrm>
            <a:off x="3342132" y="442188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8" name="Shape 116"/>
          <p:cNvSpPr/>
          <p:nvPr/>
        </p:nvSpPr>
        <p:spPr>
          <a:xfrm>
            <a:off x="3863340" y="4421886"/>
            <a:ext cx="256032" cy="237744"/>
          </a:xfrm>
          <a:prstGeom prst="rect">
            <a:avLst/>
          </a:prstGeom>
          <a:solidFill>
            <a:srgbClr val="E07B3A"/>
          </a:solidFill>
          <a:ln w="12700">
            <a:solidFill>
              <a:srgbClr val="E07B3A"/>
            </a:solidFill>
            <a:prstDash val="solid"/>
          </a:ln>
        </p:spPr>
      </p:sp>
      <p:sp>
        <p:nvSpPr>
          <p:cNvPr id="119" name="Text 117"/>
          <p:cNvSpPr/>
          <p:nvPr/>
        </p:nvSpPr>
        <p:spPr>
          <a:xfrm>
            <a:off x="3863340" y="4421886"/>
            <a:ext cx="2560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20" name="Shape 118"/>
          <p:cNvSpPr/>
          <p:nvPr/>
        </p:nvSpPr>
        <p:spPr>
          <a:xfrm>
            <a:off x="4251960" y="4262628"/>
            <a:ext cx="658368" cy="556260"/>
          </a:xfrm>
          <a:prstGeom prst="rect">
            <a:avLst/>
          </a:prstGeom>
          <a:solidFill>
            <a:srgbClr val="E07B3A"/>
          </a:solidFill>
          <a:ln w="12700">
            <a:solidFill>
              <a:srgbClr val="E07B3A"/>
            </a:solidFill>
            <a:prstDash val="solid"/>
          </a:ln>
        </p:spPr>
      </p:sp>
      <p:sp>
        <p:nvSpPr>
          <p:cNvPr id="121" name="Text 119"/>
          <p:cNvSpPr/>
          <p:nvPr/>
        </p:nvSpPr>
        <p:spPr>
          <a:xfrm>
            <a:off x="4251960" y="4262628"/>
            <a:ext cx="658368" cy="5562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122" name="Shape 120"/>
          <p:cNvSpPr/>
          <p:nvPr/>
        </p:nvSpPr>
        <p:spPr>
          <a:xfrm>
            <a:off x="137160" y="4846320"/>
            <a:ext cx="164592" cy="118872"/>
          </a:xfrm>
          <a:prstGeom prst="rect">
            <a:avLst/>
          </a:prstGeom>
          <a:solidFill>
            <a:srgbClr val="1A7A4A"/>
          </a:solidFill>
          <a:ln w="12700">
            <a:solidFill>
              <a:srgbClr val="1A7A4A"/>
            </a:solidFill>
            <a:prstDash val="solid"/>
          </a:ln>
        </p:spPr>
      </p:sp>
      <p:sp>
        <p:nvSpPr>
          <p:cNvPr id="123" name="Text 121"/>
          <p:cNvSpPr/>
          <p:nvPr/>
        </p:nvSpPr>
        <p:spPr>
          <a:xfrm>
            <a:off x="329184" y="4846320"/>
            <a:ext cx="960120" cy="118872"/>
          </a:xfrm>
          <a:prstGeom prst="rect">
            <a:avLst/>
          </a:prstGeom>
          <a:noFill/>
          <a:ln/>
        </p:spPr>
        <p:txBody>
          <a:bodyPr wrap="square" lIns="0" tIns="0" rIns="0" bIns="0" rtlCol="0" anchor="ctr"/>
          <a:lstStyle/>
          <a:p>
            <a:pPr indent="0" marL="0">
              <a:buNone/>
            </a:pPr>
            <a:r>
              <a:rPr lang="en-US" sz="600" dirty="0">
                <a:solidFill>
                  <a:srgbClr val="6B7A8D"/>
                </a:solidFill>
                <a:latin typeface="Calibri" pitchFamily="34" charset="0"/>
                <a:ea typeface="Calibri" pitchFamily="34" charset="-122"/>
                <a:cs typeface="Calibri" pitchFamily="34" charset="-120"/>
              </a:rPr>
              <a:t>3 = Fort</a:t>
            </a:r>
            <a:endParaRPr lang="en-US" sz="600" dirty="0"/>
          </a:p>
        </p:txBody>
      </p:sp>
      <p:sp>
        <p:nvSpPr>
          <p:cNvPr id="124" name="Shape 122"/>
          <p:cNvSpPr/>
          <p:nvPr/>
        </p:nvSpPr>
        <p:spPr>
          <a:xfrm>
            <a:off x="1307592" y="4846320"/>
            <a:ext cx="164592" cy="118872"/>
          </a:xfrm>
          <a:prstGeom prst="rect">
            <a:avLst/>
          </a:prstGeom>
          <a:solidFill>
            <a:srgbClr val="7AAACE"/>
          </a:solidFill>
          <a:ln w="12700">
            <a:solidFill>
              <a:srgbClr val="7AAACE"/>
            </a:solidFill>
            <a:prstDash val="solid"/>
          </a:ln>
        </p:spPr>
      </p:sp>
      <p:sp>
        <p:nvSpPr>
          <p:cNvPr id="125" name="Text 123"/>
          <p:cNvSpPr/>
          <p:nvPr/>
        </p:nvSpPr>
        <p:spPr>
          <a:xfrm>
            <a:off x="1499616" y="4846320"/>
            <a:ext cx="960120" cy="118872"/>
          </a:xfrm>
          <a:prstGeom prst="rect">
            <a:avLst/>
          </a:prstGeom>
          <a:noFill/>
          <a:ln/>
        </p:spPr>
        <p:txBody>
          <a:bodyPr wrap="square" lIns="0" tIns="0" rIns="0" bIns="0" rtlCol="0" anchor="ctr"/>
          <a:lstStyle/>
          <a:p>
            <a:pPr indent="0" marL="0">
              <a:buNone/>
            </a:pPr>
            <a:r>
              <a:rPr lang="en-US" sz="600" dirty="0">
                <a:solidFill>
                  <a:srgbClr val="6B7A8D"/>
                </a:solidFill>
                <a:latin typeface="Calibri" pitchFamily="34" charset="0"/>
                <a:ea typeface="Calibri" pitchFamily="34" charset="-122"/>
                <a:cs typeface="Calibri" pitchFamily="34" charset="-120"/>
              </a:rPr>
              <a:t>2 = Modéré</a:t>
            </a:r>
            <a:endParaRPr lang="en-US" sz="600" dirty="0"/>
          </a:p>
        </p:txBody>
      </p:sp>
      <p:sp>
        <p:nvSpPr>
          <p:cNvPr id="126" name="Shape 124"/>
          <p:cNvSpPr/>
          <p:nvPr/>
        </p:nvSpPr>
        <p:spPr>
          <a:xfrm>
            <a:off x="2478024" y="4846320"/>
            <a:ext cx="164592" cy="118872"/>
          </a:xfrm>
          <a:prstGeom prst="rect">
            <a:avLst/>
          </a:prstGeom>
          <a:solidFill>
            <a:srgbClr val="E07B3A"/>
          </a:solidFill>
          <a:ln w="12700">
            <a:solidFill>
              <a:srgbClr val="E07B3A"/>
            </a:solidFill>
            <a:prstDash val="solid"/>
          </a:ln>
        </p:spPr>
      </p:sp>
      <p:sp>
        <p:nvSpPr>
          <p:cNvPr id="127" name="Text 125"/>
          <p:cNvSpPr/>
          <p:nvPr/>
        </p:nvSpPr>
        <p:spPr>
          <a:xfrm>
            <a:off x="2670048" y="4846320"/>
            <a:ext cx="960120" cy="118872"/>
          </a:xfrm>
          <a:prstGeom prst="rect">
            <a:avLst/>
          </a:prstGeom>
          <a:noFill/>
          <a:ln/>
        </p:spPr>
        <p:txBody>
          <a:bodyPr wrap="square" lIns="0" tIns="0" rIns="0" bIns="0" rtlCol="0" anchor="ctr"/>
          <a:lstStyle/>
          <a:p>
            <a:pPr indent="0" marL="0">
              <a:buNone/>
            </a:pPr>
            <a:r>
              <a:rPr lang="en-US" sz="600" dirty="0">
                <a:solidFill>
                  <a:srgbClr val="6B7A8D"/>
                </a:solidFill>
                <a:latin typeface="Calibri" pitchFamily="34" charset="0"/>
                <a:ea typeface="Calibri" pitchFamily="34" charset="-122"/>
                <a:cs typeface="Calibri" pitchFamily="34" charset="-120"/>
              </a:rPr>
              <a:t>1 = Faible</a:t>
            </a:r>
            <a:endParaRPr lang="en-US" sz="600" dirty="0"/>
          </a:p>
        </p:txBody>
      </p:sp>
      <p:sp>
        <p:nvSpPr>
          <p:cNvPr id="128" name="Shape 126"/>
          <p:cNvSpPr/>
          <p:nvPr/>
        </p:nvSpPr>
        <p:spPr>
          <a:xfrm>
            <a:off x="3648456" y="4846320"/>
            <a:ext cx="164592" cy="118872"/>
          </a:xfrm>
          <a:prstGeom prst="rect">
            <a:avLst/>
          </a:prstGeom>
          <a:solidFill>
            <a:srgbClr val="AAAAAA"/>
          </a:solidFill>
          <a:ln w="12700">
            <a:solidFill>
              <a:srgbClr val="AAAAAA"/>
            </a:solidFill>
            <a:prstDash val="solid"/>
          </a:ln>
        </p:spPr>
      </p:sp>
      <p:sp>
        <p:nvSpPr>
          <p:cNvPr id="129" name="Text 127"/>
          <p:cNvSpPr/>
          <p:nvPr/>
        </p:nvSpPr>
        <p:spPr>
          <a:xfrm>
            <a:off x="3840480" y="4846320"/>
            <a:ext cx="960120" cy="118872"/>
          </a:xfrm>
          <a:prstGeom prst="rect">
            <a:avLst/>
          </a:prstGeom>
          <a:noFill/>
          <a:ln/>
        </p:spPr>
        <p:txBody>
          <a:bodyPr wrap="square" lIns="0" tIns="0" rIns="0" bIns="0" rtlCol="0" anchor="ctr"/>
          <a:lstStyle/>
          <a:p>
            <a:pPr indent="0" marL="0">
              <a:buNone/>
            </a:pPr>
            <a:r>
              <a:rPr lang="en-US" sz="600" dirty="0">
                <a:solidFill>
                  <a:srgbClr val="6B7A8D"/>
                </a:solidFill>
                <a:latin typeface="Calibri" pitchFamily="34" charset="0"/>
                <a:ea typeface="Calibri" pitchFamily="34" charset="-122"/>
                <a:cs typeface="Calibri" pitchFamily="34" charset="-120"/>
              </a:rPr>
              <a:t>0 = Aucun</a:t>
            </a:r>
            <a:endParaRPr lang="en-US" sz="600" dirty="0"/>
          </a:p>
        </p:txBody>
      </p:sp>
      <p:sp>
        <p:nvSpPr>
          <p:cNvPr id="130" name="Shape 128"/>
          <p:cNvSpPr/>
          <p:nvPr/>
        </p:nvSpPr>
        <p:spPr>
          <a:xfrm>
            <a:off x="5029200" y="1115568"/>
            <a:ext cx="3977640" cy="70043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131" name="Shape 129"/>
          <p:cNvSpPr/>
          <p:nvPr/>
        </p:nvSpPr>
        <p:spPr>
          <a:xfrm>
            <a:off x="5029200" y="1115568"/>
            <a:ext cx="64008" cy="700430"/>
          </a:xfrm>
          <a:prstGeom prst="rect">
            <a:avLst/>
          </a:prstGeom>
          <a:solidFill>
            <a:srgbClr val="134E8E"/>
          </a:solidFill>
          <a:ln w="12700">
            <a:solidFill>
              <a:srgbClr val="134E8E"/>
            </a:solidFill>
            <a:prstDash val="solid"/>
          </a:ln>
        </p:spPr>
      </p:sp>
      <p:sp>
        <p:nvSpPr>
          <p:cNvPr id="132" name="Shape 130"/>
          <p:cNvSpPr/>
          <p:nvPr/>
        </p:nvSpPr>
        <p:spPr>
          <a:xfrm>
            <a:off x="5148072" y="1161288"/>
            <a:ext cx="457200" cy="182880"/>
          </a:xfrm>
          <a:prstGeom prst="rect">
            <a:avLst/>
          </a:prstGeom>
          <a:solidFill>
            <a:srgbClr val="134E8E"/>
          </a:solidFill>
          <a:ln w="12700">
            <a:solidFill>
              <a:srgbClr val="134E8E"/>
            </a:solidFill>
            <a:prstDash val="solid"/>
          </a:ln>
        </p:spPr>
      </p:sp>
      <p:sp>
        <p:nvSpPr>
          <p:cNvPr id="133" name="Text 131"/>
          <p:cNvSpPr/>
          <p:nvPr/>
        </p:nvSpPr>
        <p:spPr>
          <a:xfrm>
            <a:off x="5148072" y="1161288"/>
            <a:ext cx="45720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KPI 01</a:t>
            </a:r>
            <a:endParaRPr lang="en-US" sz="750" dirty="0"/>
          </a:p>
        </p:txBody>
      </p:sp>
      <p:sp>
        <p:nvSpPr>
          <p:cNvPr id="134" name="Shape 132"/>
          <p:cNvSpPr/>
          <p:nvPr/>
        </p:nvSpPr>
        <p:spPr>
          <a:xfrm>
            <a:off x="5641848" y="1161288"/>
            <a:ext cx="402336" cy="182880"/>
          </a:xfrm>
          <a:prstGeom prst="rect">
            <a:avLst/>
          </a:prstGeom>
          <a:solidFill>
            <a:srgbClr val="F0F4FA"/>
          </a:solidFill>
          <a:ln w="12700">
            <a:solidFill>
              <a:srgbClr val="DDE6F0"/>
            </a:solidFill>
            <a:prstDash val="solid"/>
          </a:ln>
        </p:spPr>
      </p:sp>
      <p:sp>
        <p:nvSpPr>
          <p:cNvPr id="135" name="Text 133"/>
          <p:cNvSpPr/>
          <p:nvPr/>
        </p:nvSpPr>
        <p:spPr>
          <a:xfrm>
            <a:off x="5641848" y="1161288"/>
            <a:ext cx="402336" cy="182880"/>
          </a:xfrm>
          <a:prstGeom prst="rect">
            <a:avLst/>
          </a:prstGeom>
          <a:noFill/>
          <a:ln/>
        </p:spPr>
        <p:txBody>
          <a:bodyPr wrap="square" lIns="0" tIns="0" rIns="0" bIns="0" rtlCol="0" anchor="ctr"/>
          <a:lstStyle/>
          <a:p>
            <a:pPr algn="ctr" indent="0" marL="0">
              <a:buNone/>
            </a:pPr>
            <a:r>
              <a:rPr lang="en-US" sz="700" b="1" dirty="0">
                <a:solidFill>
                  <a:srgbClr val="134E8E"/>
                </a:solidFill>
                <a:latin typeface="Calibri" pitchFamily="34" charset="0"/>
                <a:ea typeface="Calibri" pitchFamily="34" charset="-122"/>
                <a:cs typeface="Calibri" pitchFamily="34" charset="-120"/>
              </a:rPr>
              <a:t>Score 11</a:t>
            </a:r>
            <a:endParaRPr lang="en-US" sz="700" dirty="0"/>
          </a:p>
        </p:txBody>
      </p:sp>
      <p:sp>
        <p:nvSpPr>
          <p:cNvPr id="136" name="Text 134"/>
          <p:cNvSpPr/>
          <p:nvPr/>
        </p:nvSpPr>
        <p:spPr>
          <a:xfrm>
            <a:off x="5148072" y="1362456"/>
            <a:ext cx="3794760" cy="164592"/>
          </a:xfrm>
          <a:prstGeom prst="rect">
            <a:avLst/>
          </a:prstGeom>
          <a:noFill/>
          <a:ln/>
        </p:spPr>
        <p:txBody>
          <a:bodyPr wrap="square" lIns="0" tIns="0" rIns="0" bIns="0" rtlCol="0" anchor="ctr"/>
          <a:lstStyle/>
          <a:p>
            <a:pPr indent="0" marL="0">
              <a:lnSpc>
                <a:spcPct val="100000"/>
              </a:lnSpc>
              <a:buNone/>
            </a:pPr>
            <a:r>
              <a:rPr lang="en-US" sz="750" b="1" dirty="0">
                <a:solidFill>
                  <a:srgbClr val="1A2E4A"/>
                </a:solidFill>
                <a:latin typeface="Calibri" pitchFamily="34" charset="0"/>
                <a:ea typeface="Calibri" pitchFamily="34" charset="-122"/>
                <a:cs typeface="Calibri" pitchFamily="34" charset="-120"/>
              </a:rPr>
              <a:t>Taux de précision — segmentation automatique des données</a:t>
            </a:r>
            <a:endParaRPr lang="en-US" sz="750" dirty="0"/>
          </a:p>
        </p:txBody>
      </p:sp>
      <p:sp>
        <p:nvSpPr>
          <p:cNvPr id="137" name="Text 135"/>
          <p:cNvSpPr/>
          <p:nvPr/>
        </p:nvSpPr>
        <p:spPr>
          <a:xfrm>
            <a:off x="5148072" y="1536192"/>
            <a:ext cx="3794760" cy="137160"/>
          </a:xfrm>
          <a:prstGeom prst="rect">
            <a:avLst/>
          </a:prstGeom>
          <a:noFill/>
          <a:ln/>
        </p:spPr>
        <p:txBody>
          <a:bodyPr wrap="square" lIns="0" tIns="0" rIns="0" bIns="0" rtlCol="0" anchor="t"/>
          <a:lstStyle/>
          <a:p>
            <a:pPr indent="0" marL="0">
              <a:lnSpc>
                <a:spcPct val="100000"/>
              </a:lnSpc>
              <a:buNone/>
            </a:pPr>
            <a:r>
              <a:rPr lang="en-US" sz="600" i="1" dirty="0">
                <a:solidFill>
                  <a:srgbClr val="6B7A8D"/>
                </a:solidFill>
                <a:latin typeface="Calibri" pitchFamily="34" charset="0"/>
                <a:ea typeface="Calibri" pitchFamily="34" charset="-122"/>
                <a:cs typeface="Calibri" pitchFamily="34" charset="-120"/>
              </a:rPr>
              <a:t>Objectif : Valider la fiabilité des données de reporting dès la saisie initiale.</a:t>
            </a:r>
            <a:endParaRPr lang="en-US" sz="600" dirty="0"/>
          </a:p>
        </p:txBody>
      </p:sp>
      <p:sp>
        <p:nvSpPr>
          <p:cNvPr id="138" name="Text 136"/>
          <p:cNvSpPr/>
          <p:nvPr/>
        </p:nvSpPr>
        <p:spPr>
          <a:xfrm>
            <a:off x="5148072" y="1664208"/>
            <a:ext cx="3794760" cy="124358"/>
          </a:xfrm>
          <a:prstGeom prst="rect">
            <a:avLst/>
          </a:prstGeom>
          <a:noFill/>
          <a:ln/>
        </p:spPr>
        <p:txBody>
          <a:bodyPr wrap="square" lIns="0" tIns="0" rIns="0" bIns="0" rtlCol="0" anchor="t"/>
          <a:lstStyle/>
          <a:p>
            <a:pPr indent="0" marL="0">
              <a:lnSpc>
                <a:spcPct val="105000"/>
              </a:lnSpc>
              <a:buNone/>
            </a:pPr>
            <a:r>
              <a:rPr lang="en-US" sz="600" dirty="0">
                <a:solidFill>
                  <a:srgbClr val="1A2E4A"/>
                </a:solidFill>
                <a:latin typeface="Calibri" pitchFamily="34" charset="0"/>
                <a:ea typeface="Calibri" pitchFamily="34" charset="-122"/>
                <a:cs typeface="Calibri" pitchFamily="34" charset="-120"/>
              </a:rPr>
              <a:t>Mesure : % de dossiers dont la segmentation suggérée par l'outil est validée sans modification par l'expert métier.</a:t>
            </a:r>
            <a:endParaRPr lang="en-US" sz="600" dirty="0"/>
          </a:p>
        </p:txBody>
      </p:sp>
      <p:sp>
        <p:nvSpPr>
          <p:cNvPr id="139" name="Shape 137"/>
          <p:cNvSpPr/>
          <p:nvPr/>
        </p:nvSpPr>
        <p:spPr>
          <a:xfrm>
            <a:off x="5029200" y="1866290"/>
            <a:ext cx="3977640" cy="70043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140" name="Shape 138"/>
          <p:cNvSpPr/>
          <p:nvPr/>
        </p:nvSpPr>
        <p:spPr>
          <a:xfrm>
            <a:off x="5029200" y="1866290"/>
            <a:ext cx="64008" cy="700430"/>
          </a:xfrm>
          <a:prstGeom prst="rect">
            <a:avLst/>
          </a:prstGeom>
          <a:solidFill>
            <a:srgbClr val="C00707"/>
          </a:solidFill>
          <a:ln w="12700">
            <a:solidFill>
              <a:srgbClr val="C00707"/>
            </a:solidFill>
            <a:prstDash val="solid"/>
          </a:ln>
        </p:spPr>
      </p:sp>
      <p:sp>
        <p:nvSpPr>
          <p:cNvPr id="141" name="Shape 139"/>
          <p:cNvSpPr/>
          <p:nvPr/>
        </p:nvSpPr>
        <p:spPr>
          <a:xfrm>
            <a:off x="5148072" y="1912010"/>
            <a:ext cx="457200" cy="182880"/>
          </a:xfrm>
          <a:prstGeom prst="rect">
            <a:avLst/>
          </a:prstGeom>
          <a:solidFill>
            <a:srgbClr val="C00707"/>
          </a:solidFill>
          <a:ln w="12700">
            <a:solidFill>
              <a:srgbClr val="C00707"/>
            </a:solidFill>
            <a:prstDash val="solid"/>
          </a:ln>
        </p:spPr>
      </p:sp>
      <p:sp>
        <p:nvSpPr>
          <p:cNvPr id="142" name="Text 140"/>
          <p:cNvSpPr/>
          <p:nvPr/>
        </p:nvSpPr>
        <p:spPr>
          <a:xfrm>
            <a:off x="5148072" y="1912010"/>
            <a:ext cx="45720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KPI 02</a:t>
            </a:r>
            <a:endParaRPr lang="en-US" sz="750" dirty="0"/>
          </a:p>
        </p:txBody>
      </p:sp>
      <p:sp>
        <p:nvSpPr>
          <p:cNvPr id="143" name="Shape 141"/>
          <p:cNvSpPr/>
          <p:nvPr/>
        </p:nvSpPr>
        <p:spPr>
          <a:xfrm>
            <a:off x="5641848" y="1912010"/>
            <a:ext cx="402336" cy="182880"/>
          </a:xfrm>
          <a:prstGeom prst="rect">
            <a:avLst/>
          </a:prstGeom>
          <a:solidFill>
            <a:srgbClr val="F0F4FA"/>
          </a:solidFill>
          <a:ln w="12700">
            <a:solidFill>
              <a:srgbClr val="DDE6F0"/>
            </a:solidFill>
            <a:prstDash val="solid"/>
          </a:ln>
        </p:spPr>
      </p:sp>
      <p:sp>
        <p:nvSpPr>
          <p:cNvPr id="144" name="Text 142"/>
          <p:cNvSpPr/>
          <p:nvPr/>
        </p:nvSpPr>
        <p:spPr>
          <a:xfrm>
            <a:off x="5641848" y="1912010"/>
            <a:ext cx="402336" cy="182880"/>
          </a:xfrm>
          <a:prstGeom prst="rect">
            <a:avLst/>
          </a:prstGeom>
          <a:noFill/>
          <a:ln/>
        </p:spPr>
        <p:txBody>
          <a:bodyPr wrap="square" lIns="0" tIns="0" rIns="0" bIns="0" rtlCol="0" anchor="ctr"/>
          <a:lstStyle/>
          <a:p>
            <a:pPr algn="ctr" indent="0" marL="0">
              <a:buNone/>
            </a:pPr>
            <a:r>
              <a:rPr lang="en-US" sz="700" b="1" dirty="0">
                <a:solidFill>
                  <a:srgbClr val="C00707"/>
                </a:solidFill>
                <a:latin typeface="Calibri" pitchFamily="34" charset="0"/>
                <a:ea typeface="Calibri" pitchFamily="34" charset="-122"/>
                <a:cs typeface="Calibri" pitchFamily="34" charset="-120"/>
              </a:rPr>
              <a:t>Score 11</a:t>
            </a:r>
            <a:endParaRPr lang="en-US" sz="700" dirty="0"/>
          </a:p>
        </p:txBody>
      </p:sp>
      <p:sp>
        <p:nvSpPr>
          <p:cNvPr id="145" name="Text 143"/>
          <p:cNvSpPr/>
          <p:nvPr/>
        </p:nvSpPr>
        <p:spPr>
          <a:xfrm>
            <a:off x="5148072" y="2113178"/>
            <a:ext cx="3794760" cy="164592"/>
          </a:xfrm>
          <a:prstGeom prst="rect">
            <a:avLst/>
          </a:prstGeom>
          <a:noFill/>
          <a:ln/>
        </p:spPr>
        <p:txBody>
          <a:bodyPr wrap="square" lIns="0" tIns="0" rIns="0" bIns="0" rtlCol="0" anchor="ctr"/>
          <a:lstStyle/>
          <a:p>
            <a:pPr indent="0" marL="0">
              <a:lnSpc>
                <a:spcPct val="100000"/>
              </a:lnSpc>
              <a:buNone/>
            </a:pPr>
            <a:r>
              <a:rPr lang="en-US" sz="750" b="1" dirty="0">
                <a:solidFill>
                  <a:srgbClr val="1A2E4A"/>
                </a:solidFill>
                <a:latin typeface="Calibri" pitchFamily="34" charset="0"/>
                <a:ea typeface="Calibri" pitchFamily="34" charset="-122"/>
                <a:cs typeface="Calibri" pitchFamily="34" charset="-120"/>
              </a:rPr>
              <a:t>Écart moyen de prévision budgétaire</a:t>
            </a:r>
            <a:endParaRPr lang="en-US" sz="750" dirty="0"/>
          </a:p>
        </p:txBody>
      </p:sp>
      <p:sp>
        <p:nvSpPr>
          <p:cNvPr id="146" name="Text 144"/>
          <p:cNvSpPr/>
          <p:nvPr/>
        </p:nvSpPr>
        <p:spPr>
          <a:xfrm>
            <a:off x="5148072" y="2286914"/>
            <a:ext cx="3794760" cy="137160"/>
          </a:xfrm>
          <a:prstGeom prst="rect">
            <a:avLst/>
          </a:prstGeom>
          <a:noFill/>
          <a:ln/>
        </p:spPr>
        <p:txBody>
          <a:bodyPr wrap="square" lIns="0" tIns="0" rIns="0" bIns="0" rtlCol="0" anchor="t"/>
          <a:lstStyle/>
          <a:p>
            <a:pPr indent="0" marL="0">
              <a:lnSpc>
                <a:spcPct val="100000"/>
              </a:lnSpc>
              <a:buNone/>
            </a:pPr>
            <a:r>
              <a:rPr lang="en-US" sz="600" i="1" dirty="0">
                <a:solidFill>
                  <a:srgbClr val="6B7A8D"/>
                </a:solidFill>
                <a:latin typeface="Calibri" pitchFamily="34" charset="0"/>
                <a:ea typeface="Calibri" pitchFamily="34" charset="-122"/>
                <a:cs typeface="Calibri" pitchFamily="34" charset="-120"/>
              </a:rPr>
              <a:t>Objectif : Réduire l'incertitude dans la planification budgétaire.</a:t>
            </a:r>
            <a:endParaRPr lang="en-US" sz="600" dirty="0"/>
          </a:p>
        </p:txBody>
      </p:sp>
      <p:sp>
        <p:nvSpPr>
          <p:cNvPr id="147" name="Text 145"/>
          <p:cNvSpPr/>
          <p:nvPr/>
        </p:nvSpPr>
        <p:spPr>
          <a:xfrm>
            <a:off x="5148072" y="2414930"/>
            <a:ext cx="3794760" cy="124358"/>
          </a:xfrm>
          <a:prstGeom prst="rect">
            <a:avLst/>
          </a:prstGeom>
          <a:noFill/>
          <a:ln/>
        </p:spPr>
        <p:txBody>
          <a:bodyPr wrap="square" lIns="0" tIns="0" rIns="0" bIns="0" rtlCol="0" anchor="t"/>
          <a:lstStyle/>
          <a:p>
            <a:pPr indent="0" marL="0">
              <a:lnSpc>
                <a:spcPct val="105000"/>
              </a:lnSpc>
              <a:buNone/>
            </a:pPr>
            <a:r>
              <a:rPr lang="en-US" sz="600" dirty="0">
                <a:solidFill>
                  <a:srgbClr val="1A2E4A"/>
                </a:solidFill>
                <a:latin typeface="Calibri" pitchFamily="34" charset="0"/>
                <a:ea typeface="Calibri" pitchFamily="34" charset="-122"/>
                <a:cs typeface="Calibri" pitchFamily="34" charset="-120"/>
              </a:rPr>
              <a:t>Mesure : % d'écart entre flux financiers simulés par l'outil et versements réels constatés en fin d'exercice.</a:t>
            </a:r>
            <a:endParaRPr lang="en-US" sz="600" dirty="0"/>
          </a:p>
        </p:txBody>
      </p:sp>
      <p:sp>
        <p:nvSpPr>
          <p:cNvPr id="148" name="Shape 146"/>
          <p:cNvSpPr/>
          <p:nvPr/>
        </p:nvSpPr>
        <p:spPr>
          <a:xfrm>
            <a:off x="5029200" y="2617013"/>
            <a:ext cx="3977640" cy="70043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149" name="Shape 147"/>
          <p:cNvSpPr/>
          <p:nvPr/>
        </p:nvSpPr>
        <p:spPr>
          <a:xfrm>
            <a:off x="5029200" y="2617013"/>
            <a:ext cx="64008" cy="700430"/>
          </a:xfrm>
          <a:prstGeom prst="rect">
            <a:avLst/>
          </a:prstGeom>
          <a:solidFill>
            <a:srgbClr val="1A7A4A"/>
          </a:solidFill>
          <a:ln w="12700">
            <a:solidFill>
              <a:srgbClr val="1A7A4A"/>
            </a:solidFill>
            <a:prstDash val="solid"/>
          </a:ln>
        </p:spPr>
      </p:sp>
      <p:sp>
        <p:nvSpPr>
          <p:cNvPr id="150" name="Shape 148"/>
          <p:cNvSpPr/>
          <p:nvPr/>
        </p:nvSpPr>
        <p:spPr>
          <a:xfrm>
            <a:off x="5148072" y="2662733"/>
            <a:ext cx="457200" cy="182880"/>
          </a:xfrm>
          <a:prstGeom prst="rect">
            <a:avLst/>
          </a:prstGeom>
          <a:solidFill>
            <a:srgbClr val="1A7A4A"/>
          </a:solidFill>
          <a:ln w="12700">
            <a:solidFill>
              <a:srgbClr val="1A7A4A"/>
            </a:solidFill>
            <a:prstDash val="solid"/>
          </a:ln>
        </p:spPr>
      </p:sp>
      <p:sp>
        <p:nvSpPr>
          <p:cNvPr id="151" name="Text 149"/>
          <p:cNvSpPr/>
          <p:nvPr/>
        </p:nvSpPr>
        <p:spPr>
          <a:xfrm>
            <a:off x="5148072" y="2662733"/>
            <a:ext cx="45720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KPI 03</a:t>
            </a:r>
            <a:endParaRPr lang="en-US" sz="750" dirty="0"/>
          </a:p>
        </p:txBody>
      </p:sp>
      <p:sp>
        <p:nvSpPr>
          <p:cNvPr id="152" name="Shape 150"/>
          <p:cNvSpPr/>
          <p:nvPr/>
        </p:nvSpPr>
        <p:spPr>
          <a:xfrm>
            <a:off x="5641848" y="2662733"/>
            <a:ext cx="402336" cy="182880"/>
          </a:xfrm>
          <a:prstGeom prst="rect">
            <a:avLst/>
          </a:prstGeom>
          <a:solidFill>
            <a:srgbClr val="F0F4FA"/>
          </a:solidFill>
          <a:ln w="12700">
            <a:solidFill>
              <a:srgbClr val="DDE6F0"/>
            </a:solidFill>
            <a:prstDash val="solid"/>
          </a:ln>
        </p:spPr>
      </p:sp>
      <p:sp>
        <p:nvSpPr>
          <p:cNvPr id="153" name="Text 151"/>
          <p:cNvSpPr/>
          <p:nvPr/>
        </p:nvSpPr>
        <p:spPr>
          <a:xfrm>
            <a:off x="5641848" y="2662733"/>
            <a:ext cx="402336" cy="182880"/>
          </a:xfrm>
          <a:prstGeom prst="rect">
            <a:avLst/>
          </a:prstGeom>
          <a:noFill/>
          <a:ln/>
        </p:spPr>
        <p:txBody>
          <a:bodyPr wrap="square" lIns="0" tIns="0" rIns="0" bIns="0" rtlCol="0" anchor="ctr"/>
          <a:lstStyle/>
          <a:p>
            <a:pPr algn="ctr" indent="0" marL="0">
              <a:buNone/>
            </a:pPr>
            <a:r>
              <a:rPr lang="en-US" sz="700" b="1" dirty="0">
                <a:solidFill>
                  <a:srgbClr val="1A7A4A"/>
                </a:solidFill>
                <a:latin typeface="Calibri" pitchFamily="34" charset="0"/>
                <a:ea typeface="Calibri" pitchFamily="34" charset="-122"/>
                <a:cs typeface="Calibri" pitchFamily="34" charset="-120"/>
              </a:rPr>
              <a:t>Score 9</a:t>
            </a:r>
            <a:endParaRPr lang="en-US" sz="700" dirty="0"/>
          </a:p>
        </p:txBody>
      </p:sp>
      <p:sp>
        <p:nvSpPr>
          <p:cNvPr id="154" name="Text 152"/>
          <p:cNvSpPr/>
          <p:nvPr/>
        </p:nvSpPr>
        <p:spPr>
          <a:xfrm>
            <a:off x="5148072" y="2863901"/>
            <a:ext cx="3794760" cy="164592"/>
          </a:xfrm>
          <a:prstGeom prst="rect">
            <a:avLst/>
          </a:prstGeom>
          <a:noFill/>
          <a:ln/>
        </p:spPr>
        <p:txBody>
          <a:bodyPr wrap="square" lIns="0" tIns="0" rIns="0" bIns="0" rtlCol="0" anchor="ctr"/>
          <a:lstStyle/>
          <a:p>
            <a:pPr indent="0" marL="0">
              <a:lnSpc>
                <a:spcPct val="100000"/>
              </a:lnSpc>
              <a:buNone/>
            </a:pPr>
            <a:r>
              <a:rPr lang="en-US" sz="750" b="1" dirty="0">
                <a:solidFill>
                  <a:srgbClr val="1A2E4A"/>
                </a:solidFill>
                <a:latin typeface="Calibri" pitchFamily="34" charset="0"/>
                <a:ea typeface="Calibri" pitchFamily="34" charset="-122"/>
                <a:cs typeface="Calibri" pitchFamily="34" charset="-120"/>
              </a:rPr>
              <a:t>Temps de production d'un rapport standard</a:t>
            </a:r>
            <a:endParaRPr lang="en-US" sz="750" dirty="0"/>
          </a:p>
        </p:txBody>
      </p:sp>
      <p:sp>
        <p:nvSpPr>
          <p:cNvPr id="155" name="Text 153"/>
          <p:cNvSpPr/>
          <p:nvPr/>
        </p:nvSpPr>
        <p:spPr>
          <a:xfrm>
            <a:off x="5148072" y="3037637"/>
            <a:ext cx="3794760" cy="137160"/>
          </a:xfrm>
          <a:prstGeom prst="rect">
            <a:avLst/>
          </a:prstGeom>
          <a:noFill/>
          <a:ln/>
        </p:spPr>
        <p:txBody>
          <a:bodyPr wrap="square" lIns="0" tIns="0" rIns="0" bIns="0" rtlCol="0" anchor="t"/>
          <a:lstStyle/>
          <a:p>
            <a:pPr indent="0" marL="0">
              <a:lnSpc>
                <a:spcPct val="100000"/>
              </a:lnSpc>
              <a:buNone/>
            </a:pPr>
            <a:r>
              <a:rPr lang="en-US" sz="600" i="1" dirty="0">
                <a:solidFill>
                  <a:srgbClr val="6B7A8D"/>
                </a:solidFill>
                <a:latin typeface="Calibri" pitchFamily="34" charset="0"/>
                <a:ea typeface="Calibri" pitchFamily="34" charset="-122"/>
                <a:cs typeface="Calibri" pitchFamily="34" charset="-120"/>
              </a:rPr>
              <a:t>Objectif : Libérer du temps pour l'analyse en réduisant les tâches de mise en forme manuelle.</a:t>
            </a:r>
            <a:endParaRPr lang="en-US" sz="600" dirty="0"/>
          </a:p>
        </p:txBody>
      </p:sp>
      <p:sp>
        <p:nvSpPr>
          <p:cNvPr id="156" name="Text 154"/>
          <p:cNvSpPr/>
          <p:nvPr/>
        </p:nvSpPr>
        <p:spPr>
          <a:xfrm>
            <a:off x="5148072" y="3165653"/>
            <a:ext cx="3794760" cy="124358"/>
          </a:xfrm>
          <a:prstGeom prst="rect">
            <a:avLst/>
          </a:prstGeom>
          <a:noFill/>
          <a:ln/>
        </p:spPr>
        <p:txBody>
          <a:bodyPr wrap="square" lIns="0" tIns="0" rIns="0" bIns="0" rtlCol="0" anchor="t"/>
          <a:lstStyle/>
          <a:p>
            <a:pPr indent="0" marL="0">
              <a:lnSpc>
                <a:spcPct val="105000"/>
              </a:lnSpc>
              <a:buNone/>
            </a:pPr>
            <a:r>
              <a:rPr lang="en-US" sz="600" dirty="0">
                <a:solidFill>
                  <a:srgbClr val="1A2E4A"/>
                </a:solidFill>
                <a:latin typeface="Calibri" pitchFamily="34" charset="0"/>
                <a:ea typeface="Calibri" pitchFamily="34" charset="-122"/>
                <a:cs typeface="Calibri" pitchFamily="34" charset="-120"/>
              </a:rPr>
              <a:t>Mesure : Temps (min) entre extraction des données et finalisation du rapport, comparé au processus actuel.</a:t>
            </a:r>
            <a:endParaRPr lang="en-US" sz="600" dirty="0"/>
          </a:p>
        </p:txBody>
      </p:sp>
      <p:sp>
        <p:nvSpPr>
          <p:cNvPr id="157" name="Shape 155"/>
          <p:cNvSpPr/>
          <p:nvPr/>
        </p:nvSpPr>
        <p:spPr>
          <a:xfrm>
            <a:off x="5029200" y="3367735"/>
            <a:ext cx="3977640" cy="70043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158" name="Shape 156"/>
          <p:cNvSpPr/>
          <p:nvPr/>
        </p:nvSpPr>
        <p:spPr>
          <a:xfrm>
            <a:off x="5029200" y="3367735"/>
            <a:ext cx="64008" cy="700430"/>
          </a:xfrm>
          <a:prstGeom prst="rect">
            <a:avLst/>
          </a:prstGeom>
          <a:solidFill>
            <a:srgbClr val="7AAACE"/>
          </a:solidFill>
          <a:ln w="12700">
            <a:solidFill>
              <a:srgbClr val="7AAACE"/>
            </a:solidFill>
            <a:prstDash val="solid"/>
          </a:ln>
        </p:spPr>
      </p:sp>
      <p:sp>
        <p:nvSpPr>
          <p:cNvPr id="159" name="Shape 157"/>
          <p:cNvSpPr/>
          <p:nvPr/>
        </p:nvSpPr>
        <p:spPr>
          <a:xfrm>
            <a:off x="5148072" y="3413455"/>
            <a:ext cx="457200" cy="182880"/>
          </a:xfrm>
          <a:prstGeom prst="rect">
            <a:avLst/>
          </a:prstGeom>
          <a:solidFill>
            <a:srgbClr val="7AAACE"/>
          </a:solidFill>
          <a:ln w="12700">
            <a:solidFill>
              <a:srgbClr val="7AAACE"/>
            </a:solidFill>
            <a:prstDash val="solid"/>
          </a:ln>
        </p:spPr>
      </p:sp>
      <p:sp>
        <p:nvSpPr>
          <p:cNvPr id="160" name="Text 158"/>
          <p:cNvSpPr/>
          <p:nvPr/>
        </p:nvSpPr>
        <p:spPr>
          <a:xfrm>
            <a:off x="5148072" y="3413455"/>
            <a:ext cx="45720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KPI 04</a:t>
            </a:r>
            <a:endParaRPr lang="en-US" sz="750" dirty="0"/>
          </a:p>
        </p:txBody>
      </p:sp>
      <p:sp>
        <p:nvSpPr>
          <p:cNvPr id="161" name="Shape 159"/>
          <p:cNvSpPr/>
          <p:nvPr/>
        </p:nvSpPr>
        <p:spPr>
          <a:xfrm>
            <a:off x="5641848" y="3413455"/>
            <a:ext cx="402336" cy="182880"/>
          </a:xfrm>
          <a:prstGeom prst="rect">
            <a:avLst/>
          </a:prstGeom>
          <a:solidFill>
            <a:srgbClr val="F0F4FA"/>
          </a:solidFill>
          <a:ln w="12700">
            <a:solidFill>
              <a:srgbClr val="DDE6F0"/>
            </a:solidFill>
            <a:prstDash val="solid"/>
          </a:ln>
        </p:spPr>
      </p:sp>
      <p:sp>
        <p:nvSpPr>
          <p:cNvPr id="162" name="Text 160"/>
          <p:cNvSpPr/>
          <p:nvPr/>
        </p:nvSpPr>
        <p:spPr>
          <a:xfrm>
            <a:off x="5641848" y="3413455"/>
            <a:ext cx="402336" cy="182880"/>
          </a:xfrm>
          <a:prstGeom prst="rect">
            <a:avLst/>
          </a:prstGeom>
          <a:noFill/>
          <a:ln/>
        </p:spPr>
        <p:txBody>
          <a:bodyPr wrap="square" lIns="0" tIns="0" rIns="0" bIns="0" rtlCol="0" anchor="ctr"/>
          <a:lstStyle/>
          <a:p>
            <a:pPr algn="ctr" indent="0" marL="0">
              <a:buNone/>
            </a:pPr>
            <a:r>
              <a:rPr lang="en-US" sz="700" b="1" dirty="0">
                <a:solidFill>
                  <a:srgbClr val="7AAACE"/>
                </a:solidFill>
                <a:latin typeface="Calibri" pitchFamily="34" charset="0"/>
                <a:ea typeface="Calibri" pitchFamily="34" charset="-122"/>
                <a:cs typeface="Calibri" pitchFamily="34" charset="-120"/>
              </a:rPr>
              <a:t>Score 8</a:t>
            </a:r>
            <a:endParaRPr lang="en-US" sz="700" dirty="0"/>
          </a:p>
        </p:txBody>
      </p:sp>
      <p:sp>
        <p:nvSpPr>
          <p:cNvPr id="163" name="Text 161"/>
          <p:cNvSpPr/>
          <p:nvPr/>
        </p:nvSpPr>
        <p:spPr>
          <a:xfrm>
            <a:off x="5148072" y="3614623"/>
            <a:ext cx="3794760" cy="164592"/>
          </a:xfrm>
          <a:prstGeom prst="rect">
            <a:avLst/>
          </a:prstGeom>
          <a:noFill/>
          <a:ln/>
        </p:spPr>
        <p:txBody>
          <a:bodyPr wrap="square" lIns="0" tIns="0" rIns="0" bIns="0" rtlCol="0" anchor="ctr"/>
          <a:lstStyle/>
          <a:p>
            <a:pPr indent="0" marL="0">
              <a:lnSpc>
                <a:spcPct val="100000"/>
              </a:lnSpc>
              <a:buNone/>
            </a:pPr>
            <a:r>
              <a:rPr lang="en-US" sz="750" b="1" dirty="0">
                <a:solidFill>
                  <a:srgbClr val="1A2E4A"/>
                </a:solidFill>
                <a:latin typeface="Calibri" pitchFamily="34" charset="0"/>
                <a:ea typeface="Calibri" pitchFamily="34" charset="-122"/>
                <a:cs typeface="Calibri" pitchFamily="34" charset="-120"/>
              </a:rPr>
              <a:t>Taux d'utilisation de la visualisation graphique</a:t>
            </a:r>
            <a:endParaRPr lang="en-US" sz="750" dirty="0"/>
          </a:p>
        </p:txBody>
      </p:sp>
      <p:sp>
        <p:nvSpPr>
          <p:cNvPr id="164" name="Text 162"/>
          <p:cNvSpPr/>
          <p:nvPr/>
        </p:nvSpPr>
        <p:spPr>
          <a:xfrm>
            <a:off x="5148072" y="3788359"/>
            <a:ext cx="3794760" cy="137160"/>
          </a:xfrm>
          <a:prstGeom prst="rect">
            <a:avLst/>
          </a:prstGeom>
          <a:noFill/>
          <a:ln/>
        </p:spPr>
        <p:txBody>
          <a:bodyPr wrap="square" lIns="0" tIns="0" rIns="0" bIns="0" rtlCol="0" anchor="t"/>
          <a:lstStyle/>
          <a:p>
            <a:pPr indent="0" marL="0">
              <a:lnSpc>
                <a:spcPct val="100000"/>
              </a:lnSpc>
              <a:buNone/>
            </a:pPr>
            <a:r>
              <a:rPr lang="en-US" sz="600" i="1" dirty="0">
                <a:solidFill>
                  <a:srgbClr val="6B7A8D"/>
                </a:solidFill>
                <a:latin typeface="Calibri" pitchFamily="34" charset="0"/>
                <a:ea typeface="Calibri" pitchFamily="34" charset="-122"/>
                <a:cs typeface="Calibri" pitchFamily="34" charset="-120"/>
              </a:rPr>
              <a:t>Objectif : Transformer l'outil en support d'aide à la décision stratégique.</a:t>
            </a:r>
            <a:endParaRPr lang="en-US" sz="600" dirty="0"/>
          </a:p>
        </p:txBody>
      </p:sp>
      <p:sp>
        <p:nvSpPr>
          <p:cNvPr id="165" name="Text 163"/>
          <p:cNvSpPr/>
          <p:nvPr/>
        </p:nvSpPr>
        <p:spPr>
          <a:xfrm>
            <a:off x="5148072" y="3916375"/>
            <a:ext cx="3794760" cy="124358"/>
          </a:xfrm>
          <a:prstGeom prst="rect">
            <a:avLst/>
          </a:prstGeom>
          <a:noFill/>
          <a:ln/>
        </p:spPr>
        <p:txBody>
          <a:bodyPr wrap="square" lIns="0" tIns="0" rIns="0" bIns="0" rtlCol="0" anchor="t"/>
          <a:lstStyle/>
          <a:p>
            <a:pPr indent="0" marL="0">
              <a:lnSpc>
                <a:spcPct val="105000"/>
              </a:lnSpc>
              <a:buNone/>
            </a:pPr>
            <a:r>
              <a:rPr lang="en-US" sz="600" dirty="0">
                <a:solidFill>
                  <a:srgbClr val="1A2E4A"/>
                </a:solidFill>
                <a:latin typeface="Calibri" pitchFamily="34" charset="0"/>
                <a:ea typeface="Calibri" pitchFamily="34" charset="-122"/>
                <a:cs typeface="Calibri" pitchFamily="34" charset="-120"/>
              </a:rPr>
              <a:t>Mesure : % de revues de direction ou comités budgétaires utilisant les vues interactives vs. fichiers Excel.</a:t>
            </a:r>
            <a:endParaRPr lang="en-US" sz="600" dirty="0"/>
          </a:p>
        </p:txBody>
      </p:sp>
      <p:sp>
        <p:nvSpPr>
          <p:cNvPr id="166" name="Shape 164"/>
          <p:cNvSpPr/>
          <p:nvPr/>
        </p:nvSpPr>
        <p:spPr>
          <a:xfrm>
            <a:off x="5029200" y="4118458"/>
            <a:ext cx="3977640" cy="700430"/>
          </a:xfrm>
          <a:prstGeom prst="rect">
            <a:avLst/>
          </a:prstGeom>
          <a:solidFill>
            <a:srgbClr val="FFFFFF"/>
          </a:solidFill>
          <a:ln w="12700">
            <a:solidFill>
              <a:srgbClr val="DDE6F0"/>
            </a:solidFill>
            <a:prstDash val="solid"/>
          </a:ln>
          <a:effectLst>
            <a:outerShdw sx="100000" sy="100000" kx="0" ky="0" algn="bl" rotWithShape="0" blurRad="101600" dist="38100" dir="8100000">
              <a:srgbClr val="000000">
                <a:alpha val="10000"/>
              </a:srgbClr>
            </a:outerShdw>
          </a:effectLst>
        </p:spPr>
      </p:sp>
      <p:sp>
        <p:nvSpPr>
          <p:cNvPr id="167" name="Shape 165"/>
          <p:cNvSpPr/>
          <p:nvPr/>
        </p:nvSpPr>
        <p:spPr>
          <a:xfrm>
            <a:off x="5029200" y="4118458"/>
            <a:ext cx="64008" cy="700430"/>
          </a:xfrm>
          <a:prstGeom prst="rect">
            <a:avLst/>
          </a:prstGeom>
          <a:solidFill>
            <a:srgbClr val="7090BB"/>
          </a:solidFill>
          <a:ln w="12700">
            <a:solidFill>
              <a:srgbClr val="7090BB"/>
            </a:solidFill>
            <a:prstDash val="solid"/>
          </a:ln>
        </p:spPr>
      </p:sp>
      <p:sp>
        <p:nvSpPr>
          <p:cNvPr id="168" name="Shape 166"/>
          <p:cNvSpPr/>
          <p:nvPr/>
        </p:nvSpPr>
        <p:spPr>
          <a:xfrm>
            <a:off x="5148072" y="4164178"/>
            <a:ext cx="457200" cy="182880"/>
          </a:xfrm>
          <a:prstGeom prst="rect">
            <a:avLst/>
          </a:prstGeom>
          <a:solidFill>
            <a:srgbClr val="7090BB"/>
          </a:solidFill>
          <a:ln w="12700">
            <a:solidFill>
              <a:srgbClr val="7090BB"/>
            </a:solidFill>
            <a:prstDash val="solid"/>
          </a:ln>
        </p:spPr>
      </p:sp>
      <p:sp>
        <p:nvSpPr>
          <p:cNvPr id="169" name="Text 167"/>
          <p:cNvSpPr/>
          <p:nvPr/>
        </p:nvSpPr>
        <p:spPr>
          <a:xfrm>
            <a:off x="5148072" y="4164178"/>
            <a:ext cx="45720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KPI 05</a:t>
            </a:r>
            <a:endParaRPr lang="en-US" sz="750" dirty="0"/>
          </a:p>
        </p:txBody>
      </p:sp>
      <p:sp>
        <p:nvSpPr>
          <p:cNvPr id="170" name="Shape 168"/>
          <p:cNvSpPr/>
          <p:nvPr/>
        </p:nvSpPr>
        <p:spPr>
          <a:xfrm>
            <a:off x="5641848" y="4164178"/>
            <a:ext cx="402336" cy="182880"/>
          </a:xfrm>
          <a:prstGeom prst="rect">
            <a:avLst/>
          </a:prstGeom>
          <a:solidFill>
            <a:srgbClr val="F0F4FA"/>
          </a:solidFill>
          <a:ln w="12700">
            <a:solidFill>
              <a:srgbClr val="DDE6F0"/>
            </a:solidFill>
            <a:prstDash val="solid"/>
          </a:ln>
        </p:spPr>
      </p:sp>
      <p:sp>
        <p:nvSpPr>
          <p:cNvPr id="171" name="Text 169"/>
          <p:cNvSpPr/>
          <p:nvPr/>
        </p:nvSpPr>
        <p:spPr>
          <a:xfrm>
            <a:off x="5641848" y="4164178"/>
            <a:ext cx="402336" cy="182880"/>
          </a:xfrm>
          <a:prstGeom prst="rect">
            <a:avLst/>
          </a:prstGeom>
          <a:noFill/>
          <a:ln/>
        </p:spPr>
        <p:txBody>
          <a:bodyPr wrap="square" lIns="0" tIns="0" rIns="0" bIns="0" rtlCol="0" anchor="ctr"/>
          <a:lstStyle/>
          <a:p>
            <a:pPr algn="ctr" indent="0" marL="0">
              <a:buNone/>
            </a:pPr>
            <a:r>
              <a:rPr lang="en-US" sz="700" b="1" dirty="0">
                <a:solidFill>
                  <a:srgbClr val="7090BB"/>
                </a:solidFill>
                <a:latin typeface="Calibri" pitchFamily="34" charset="0"/>
                <a:ea typeface="Calibri" pitchFamily="34" charset="-122"/>
                <a:cs typeface="Calibri" pitchFamily="34" charset="-120"/>
              </a:rPr>
              <a:t>Score 8</a:t>
            </a:r>
            <a:endParaRPr lang="en-US" sz="700" dirty="0"/>
          </a:p>
        </p:txBody>
      </p:sp>
      <p:sp>
        <p:nvSpPr>
          <p:cNvPr id="172" name="Text 170"/>
          <p:cNvSpPr/>
          <p:nvPr/>
        </p:nvSpPr>
        <p:spPr>
          <a:xfrm>
            <a:off x="5148072" y="4365346"/>
            <a:ext cx="3794760" cy="164592"/>
          </a:xfrm>
          <a:prstGeom prst="rect">
            <a:avLst/>
          </a:prstGeom>
          <a:noFill/>
          <a:ln/>
        </p:spPr>
        <p:txBody>
          <a:bodyPr wrap="square" lIns="0" tIns="0" rIns="0" bIns="0" rtlCol="0" anchor="ctr"/>
          <a:lstStyle/>
          <a:p>
            <a:pPr indent="0" marL="0">
              <a:lnSpc>
                <a:spcPct val="100000"/>
              </a:lnSpc>
              <a:buNone/>
            </a:pPr>
            <a:r>
              <a:rPr lang="en-US" sz="750" b="1" dirty="0">
                <a:solidFill>
                  <a:srgbClr val="1A2E4A"/>
                </a:solidFill>
                <a:latin typeface="Calibri" pitchFamily="34" charset="0"/>
                <a:ea typeface="Calibri" pitchFamily="34" charset="-122"/>
                <a:cs typeface="Calibri" pitchFamily="34" charset="-120"/>
              </a:rPr>
              <a:t>Fraîcheur des données OCDE/CAD</a:t>
            </a:r>
            <a:endParaRPr lang="en-US" sz="750" dirty="0"/>
          </a:p>
        </p:txBody>
      </p:sp>
      <p:sp>
        <p:nvSpPr>
          <p:cNvPr id="173" name="Text 171"/>
          <p:cNvSpPr/>
          <p:nvPr/>
        </p:nvSpPr>
        <p:spPr>
          <a:xfrm>
            <a:off x="5148072" y="4539082"/>
            <a:ext cx="3794760" cy="137160"/>
          </a:xfrm>
          <a:prstGeom prst="rect">
            <a:avLst/>
          </a:prstGeom>
          <a:noFill/>
          <a:ln/>
        </p:spPr>
        <p:txBody>
          <a:bodyPr wrap="square" lIns="0" tIns="0" rIns="0" bIns="0" rtlCol="0" anchor="t"/>
          <a:lstStyle/>
          <a:p>
            <a:pPr indent="0" marL="0">
              <a:lnSpc>
                <a:spcPct val="100000"/>
              </a:lnSpc>
              <a:buNone/>
            </a:pPr>
            <a:r>
              <a:rPr lang="en-US" sz="600" i="1" dirty="0">
                <a:solidFill>
                  <a:srgbClr val="6B7A8D"/>
                </a:solidFill>
                <a:latin typeface="Calibri" pitchFamily="34" charset="0"/>
                <a:ea typeface="Calibri" pitchFamily="34" charset="-122"/>
                <a:cs typeface="Calibri" pitchFamily="34" charset="-120"/>
              </a:rPr>
              <a:t>Objectif : Garantir que l'AFD compare toujours aux données internationales les plus récentes.</a:t>
            </a:r>
            <a:endParaRPr lang="en-US" sz="600" dirty="0"/>
          </a:p>
        </p:txBody>
      </p:sp>
      <p:sp>
        <p:nvSpPr>
          <p:cNvPr id="174" name="Text 172"/>
          <p:cNvSpPr/>
          <p:nvPr/>
        </p:nvSpPr>
        <p:spPr>
          <a:xfrm>
            <a:off x="5148072" y="4667098"/>
            <a:ext cx="3794760" cy="124358"/>
          </a:xfrm>
          <a:prstGeom prst="rect">
            <a:avLst/>
          </a:prstGeom>
          <a:noFill/>
          <a:ln/>
        </p:spPr>
        <p:txBody>
          <a:bodyPr wrap="square" lIns="0" tIns="0" rIns="0" bIns="0" rtlCol="0" anchor="t"/>
          <a:lstStyle/>
          <a:p>
            <a:pPr indent="0" marL="0">
              <a:lnSpc>
                <a:spcPct val="105000"/>
              </a:lnSpc>
              <a:buNone/>
            </a:pPr>
            <a:r>
              <a:rPr lang="en-US" sz="600" dirty="0">
                <a:solidFill>
                  <a:srgbClr val="1A2E4A"/>
                </a:solidFill>
                <a:latin typeface="Calibri" pitchFamily="34" charset="0"/>
                <a:ea typeface="Calibri" pitchFamily="34" charset="-122"/>
                <a:cs typeface="Calibri" pitchFamily="34" charset="-120"/>
              </a:rPr>
              <a:t>Mesure : Délai (jours) entre la mise à jour officielle OCDE et sa disponibilité effective dans les dashboards.</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4E8E"/>
        </a:solidFill>
      </p:bgPr>
    </p:bg>
    <p:spTree>
      <p:nvGrpSpPr>
        <p:cNvPr id="1" name=""/>
        <p:cNvGrpSpPr/>
        <p:nvPr/>
      </p:nvGrpSpPr>
      <p:grpSpPr>
        <a:xfrm>
          <a:off x="0" y="0"/>
          <a:ext cx="0" cy="0"/>
          <a:chOff x="0" y="0"/>
          <a:chExt cx="0" cy="0"/>
        </a:xfrm>
      </p:grpSpPr>
      <p:sp>
        <p:nvSpPr>
          <p:cNvPr id="2" name="Shape 0"/>
          <p:cNvSpPr/>
          <p:nvPr/>
        </p:nvSpPr>
        <p:spPr>
          <a:xfrm>
            <a:off x="6217920" y="0"/>
            <a:ext cx="2926080" cy="5143500"/>
          </a:xfrm>
          <a:prstGeom prst="rect">
            <a:avLst/>
          </a:prstGeom>
          <a:solidFill>
            <a:srgbClr val="0D3F75"/>
          </a:solidFill>
          <a:ln w="12700">
            <a:solidFill>
              <a:srgbClr val="0D3F75"/>
            </a:solidFill>
            <a:prstDash val="solid"/>
          </a:ln>
        </p:spPr>
      </p:sp>
      <p:sp>
        <p:nvSpPr>
          <p:cNvPr id="3" name="Shape 1"/>
          <p:cNvSpPr/>
          <p:nvPr/>
        </p:nvSpPr>
        <p:spPr>
          <a:xfrm>
            <a:off x="6217920" y="0"/>
            <a:ext cx="164592" cy="5143500"/>
          </a:xfrm>
          <a:prstGeom prst="rect">
            <a:avLst/>
          </a:prstGeom>
          <a:solidFill>
            <a:srgbClr val="C00707"/>
          </a:solidFill>
          <a:ln w="12700">
            <a:solidFill>
              <a:srgbClr val="C00707"/>
            </a:solidFill>
            <a:prstDash val="solid"/>
          </a:ln>
        </p:spPr>
      </p:sp>
      <p:sp>
        <p:nvSpPr>
          <p:cNvPr id="4" name="Shape 2"/>
          <p:cNvSpPr/>
          <p:nvPr/>
        </p:nvSpPr>
        <p:spPr>
          <a:xfrm>
            <a:off x="6675120" y="2011680"/>
            <a:ext cx="2194560" cy="54864"/>
          </a:xfrm>
          <a:prstGeom prst="rect">
            <a:avLst/>
          </a:prstGeom>
          <a:solidFill>
            <a:srgbClr val="7AAACE"/>
          </a:solidFill>
          <a:ln w="12700">
            <a:solidFill>
              <a:srgbClr val="7AAACE"/>
            </a:solidFill>
            <a:prstDash val="solid"/>
          </a:ln>
        </p:spPr>
      </p:sp>
      <p:sp>
        <p:nvSpPr>
          <p:cNvPr id="5" name="Shape 3"/>
          <p:cNvSpPr/>
          <p:nvPr/>
        </p:nvSpPr>
        <p:spPr>
          <a:xfrm>
            <a:off x="6675120" y="2194560"/>
            <a:ext cx="1463040" cy="54864"/>
          </a:xfrm>
          <a:prstGeom prst="rect">
            <a:avLst/>
          </a:prstGeom>
          <a:solidFill>
            <a:srgbClr val="7AAACE"/>
          </a:solidFill>
          <a:ln w="12700">
            <a:solidFill>
              <a:srgbClr val="7AAACE"/>
            </a:solidFill>
            <a:prstDash val="solid"/>
          </a:ln>
        </p:spPr>
      </p:sp>
      <p:sp>
        <p:nvSpPr>
          <p:cNvPr id="6" name="Text 4"/>
          <p:cNvSpPr/>
          <p:nvPr/>
        </p:nvSpPr>
        <p:spPr>
          <a:xfrm>
            <a:off x="502920" y="1188720"/>
            <a:ext cx="5394960" cy="320040"/>
          </a:xfrm>
          <a:prstGeom prst="rect">
            <a:avLst/>
          </a:prstGeom>
          <a:noFill/>
          <a:ln/>
        </p:spPr>
        <p:txBody>
          <a:bodyPr wrap="square" lIns="0" tIns="0" rIns="0" bIns="0" rtlCol="0" anchor="ctr"/>
          <a:lstStyle/>
          <a:p>
            <a:pPr indent="0" marL="0">
              <a:buNone/>
            </a:pPr>
            <a:r>
              <a:rPr lang="en-US" sz="1000" b="1" spc="300" kern="0" dirty="0">
                <a:solidFill>
                  <a:srgbClr val="7AAACE"/>
                </a:solidFill>
                <a:latin typeface="Calibri" pitchFamily="34" charset="0"/>
                <a:ea typeface="Calibri" pitchFamily="34" charset="-122"/>
                <a:cs typeface="Calibri" pitchFamily="34" charset="-120"/>
              </a:rPr>
              <a:t>PROCHAINES ÉTAPES</a:t>
            </a:r>
            <a:endParaRPr lang="en-US" sz="1000" dirty="0"/>
          </a:p>
        </p:txBody>
      </p:sp>
      <p:sp>
        <p:nvSpPr>
          <p:cNvPr id="7" name="Text 5"/>
          <p:cNvSpPr/>
          <p:nvPr/>
        </p:nvSpPr>
        <p:spPr>
          <a:xfrm>
            <a:off x="502920" y="1600200"/>
            <a:ext cx="5394960" cy="137160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Vers la conception</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de la solution</a:t>
            </a:r>
            <a:endParaRPr lang="en-US" sz="3600" dirty="0"/>
          </a:p>
        </p:txBody>
      </p:sp>
      <p:sp>
        <p:nvSpPr>
          <p:cNvPr id="8" name="Shape 6"/>
          <p:cNvSpPr/>
          <p:nvPr/>
        </p:nvSpPr>
        <p:spPr>
          <a:xfrm>
            <a:off x="502920" y="3063240"/>
            <a:ext cx="548640" cy="64008"/>
          </a:xfrm>
          <a:prstGeom prst="rect">
            <a:avLst/>
          </a:prstGeom>
          <a:solidFill>
            <a:srgbClr val="C00707"/>
          </a:solidFill>
          <a:ln w="12700">
            <a:solidFill>
              <a:srgbClr val="C00707"/>
            </a:solidFill>
            <a:prstDash val="solid"/>
          </a:ln>
        </p:spPr>
      </p:sp>
      <p:sp>
        <p:nvSpPr>
          <p:cNvPr id="9" name="Shape 7"/>
          <p:cNvSpPr/>
          <p:nvPr/>
        </p:nvSpPr>
        <p:spPr>
          <a:xfrm>
            <a:off x="502920" y="3273552"/>
            <a:ext cx="201168" cy="201168"/>
          </a:xfrm>
          <a:prstGeom prst="ellipse">
            <a:avLst/>
          </a:prstGeom>
          <a:solidFill>
            <a:srgbClr val="C00707"/>
          </a:solidFill>
          <a:ln w="12700">
            <a:solidFill>
              <a:srgbClr val="C00707"/>
            </a:solidFill>
            <a:prstDash val="solid"/>
          </a:ln>
        </p:spPr>
      </p:sp>
      <p:sp>
        <p:nvSpPr>
          <p:cNvPr id="10" name="Text 8"/>
          <p:cNvSpPr/>
          <p:nvPr/>
        </p:nvSpPr>
        <p:spPr>
          <a:xfrm>
            <a:off x="822960" y="3227832"/>
            <a:ext cx="4846320" cy="320040"/>
          </a:xfrm>
          <a:prstGeom prst="rect">
            <a:avLst/>
          </a:prstGeom>
          <a:noFill/>
          <a:ln/>
        </p:spPr>
        <p:txBody>
          <a:bodyPr wrap="square" lIns="0" tIns="0" rIns="0" bIns="0" rtlCol="0" anchor="ctr"/>
          <a:lstStyle/>
          <a:p>
            <a:pPr indent="0" marL="0">
              <a:buNone/>
            </a:pPr>
            <a:r>
              <a:rPr lang="en-US" sz="1200" dirty="0">
                <a:solidFill>
                  <a:srgbClr val="7AAACE"/>
                </a:solidFill>
                <a:latin typeface="Calibri" pitchFamily="34" charset="0"/>
                <a:ea typeface="Calibri" pitchFamily="34" charset="-122"/>
                <a:cs typeface="Calibri" pitchFamily="34" charset="-120"/>
              </a:rPr>
              <a:t>Prototypage des wireframes</a:t>
            </a:r>
            <a:endParaRPr lang="en-US" sz="1200" dirty="0"/>
          </a:p>
        </p:txBody>
      </p:sp>
      <p:sp>
        <p:nvSpPr>
          <p:cNvPr id="11" name="Shape 9"/>
          <p:cNvSpPr/>
          <p:nvPr/>
        </p:nvSpPr>
        <p:spPr>
          <a:xfrm>
            <a:off x="502920" y="3685032"/>
            <a:ext cx="201168" cy="201168"/>
          </a:xfrm>
          <a:prstGeom prst="ellipse">
            <a:avLst/>
          </a:prstGeom>
          <a:solidFill>
            <a:srgbClr val="C00707"/>
          </a:solidFill>
          <a:ln w="12700">
            <a:solidFill>
              <a:srgbClr val="C00707"/>
            </a:solidFill>
            <a:prstDash val="solid"/>
          </a:ln>
        </p:spPr>
      </p:sp>
      <p:sp>
        <p:nvSpPr>
          <p:cNvPr id="12" name="Text 10"/>
          <p:cNvSpPr/>
          <p:nvPr/>
        </p:nvSpPr>
        <p:spPr>
          <a:xfrm>
            <a:off x="822960" y="3639312"/>
            <a:ext cx="4846320" cy="320040"/>
          </a:xfrm>
          <a:prstGeom prst="rect">
            <a:avLst/>
          </a:prstGeom>
          <a:noFill/>
          <a:ln/>
        </p:spPr>
        <p:txBody>
          <a:bodyPr wrap="square" lIns="0" tIns="0" rIns="0" bIns="0" rtlCol="0" anchor="ctr"/>
          <a:lstStyle/>
          <a:p>
            <a:pPr indent="0" marL="0">
              <a:buNone/>
            </a:pPr>
            <a:r>
              <a:rPr lang="en-US" sz="1200" dirty="0">
                <a:solidFill>
                  <a:srgbClr val="7AAACE"/>
                </a:solidFill>
                <a:latin typeface="Calibri" pitchFamily="34" charset="0"/>
                <a:ea typeface="Calibri" pitchFamily="34" charset="-122"/>
                <a:cs typeface="Calibri" pitchFamily="34" charset="-120"/>
              </a:rPr>
              <a:t>Tests utilisateurs (Sophie, Arnaud, Mariam)</a:t>
            </a:r>
            <a:endParaRPr lang="en-US" sz="1200" dirty="0"/>
          </a:p>
        </p:txBody>
      </p:sp>
      <p:sp>
        <p:nvSpPr>
          <p:cNvPr id="13" name="Shape 11"/>
          <p:cNvSpPr/>
          <p:nvPr/>
        </p:nvSpPr>
        <p:spPr>
          <a:xfrm>
            <a:off x="502920" y="4096512"/>
            <a:ext cx="201168" cy="201168"/>
          </a:xfrm>
          <a:prstGeom prst="ellipse">
            <a:avLst/>
          </a:prstGeom>
          <a:solidFill>
            <a:srgbClr val="C00707"/>
          </a:solidFill>
          <a:ln w="12700">
            <a:solidFill>
              <a:srgbClr val="C00707"/>
            </a:solidFill>
            <a:prstDash val="solid"/>
          </a:ln>
        </p:spPr>
      </p:sp>
      <p:sp>
        <p:nvSpPr>
          <p:cNvPr id="14" name="Text 12"/>
          <p:cNvSpPr/>
          <p:nvPr/>
        </p:nvSpPr>
        <p:spPr>
          <a:xfrm>
            <a:off x="822960" y="4050792"/>
            <a:ext cx="4846320" cy="320040"/>
          </a:xfrm>
          <a:prstGeom prst="rect">
            <a:avLst/>
          </a:prstGeom>
          <a:noFill/>
          <a:ln/>
        </p:spPr>
        <p:txBody>
          <a:bodyPr wrap="square" lIns="0" tIns="0" rIns="0" bIns="0" rtlCol="0" anchor="ctr"/>
          <a:lstStyle/>
          <a:p>
            <a:pPr indent="0" marL="0">
              <a:buNone/>
            </a:pPr>
            <a:r>
              <a:rPr lang="en-US" sz="1200" dirty="0">
                <a:solidFill>
                  <a:srgbClr val="7AAACE"/>
                </a:solidFill>
                <a:latin typeface="Calibri" pitchFamily="34" charset="0"/>
                <a:ea typeface="Calibri" pitchFamily="34" charset="-122"/>
                <a:cs typeface="Calibri" pitchFamily="34" charset="-120"/>
              </a:rPr>
              <a:t>Itération sur les 2 fonctionnalités prioritaires</a:t>
            </a:r>
            <a:endParaRPr lang="en-US" sz="1200" dirty="0"/>
          </a:p>
        </p:txBody>
      </p:sp>
      <p:sp>
        <p:nvSpPr>
          <p:cNvPr id="15" name="Shape 13"/>
          <p:cNvSpPr/>
          <p:nvPr/>
        </p:nvSpPr>
        <p:spPr>
          <a:xfrm>
            <a:off x="0" y="4956048"/>
            <a:ext cx="9144000" cy="182880"/>
          </a:xfrm>
          <a:prstGeom prst="rect">
            <a:avLst/>
          </a:prstGeom>
          <a:solidFill>
            <a:srgbClr val="C00707"/>
          </a:solidFill>
          <a:ln w="12700">
            <a:solidFill>
              <a:srgbClr val="C00707"/>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APD – AFD</dc:title>
  <dc:subject>PptxGenJS Presentation</dc:subject>
  <dc:creator>PptxGenJS</dc:creator>
  <cp:lastModifiedBy>PptxGenJS</cp:lastModifiedBy>
  <cp:revision>1</cp:revision>
  <dcterms:created xsi:type="dcterms:W3CDTF">2026-02-23T17:03:42Z</dcterms:created>
  <dcterms:modified xsi:type="dcterms:W3CDTF">2026-02-23T17:03:42Z</dcterms:modified>
</cp:coreProperties>
</file>