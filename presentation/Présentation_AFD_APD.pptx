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34E8E"/>
        </a:solidFill>
      </p:bgPr>
    </p:bg>
    <p:spTree>
      <p:nvGrpSpPr>
        <p:cNvPr id="1" name=""/>
        <p:cNvGrpSpPr/>
        <p:nvPr/>
      </p:nvGrpSpPr>
      <p:grpSpPr>
        <a:xfrm>
          <a:off x="0" y="0"/>
          <a:ext cx="0" cy="0"/>
          <a:chOff x="0" y="0"/>
          <a:chExt cx="0" cy="0"/>
        </a:xfrm>
      </p:grpSpPr>
      <p:sp>
        <p:nvSpPr>
          <p:cNvPr id="2" name="Shape 0"/>
          <p:cNvSpPr/>
          <p:nvPr/>
        </p:nvSpPr>
        <p:spPr>
          <a:xfrm>
            <a:off x="6217920" y="0"/>
            <a:ext cx="2926080" cy="5143500"/>
          </a:xfrm>
          <a:prstGeom prst="rect">
            <a:avLst/>
          </a:prstGeom>
          <a:solidFill>
            <a:srgbClr val="0D3F75"/>
          </a:solidFill>
          <a:ln w="12700">
            <a:solidFill>
              <a:srgbClr val="0D3F75"/>
            </a:solidFill>
            <a:prstDash val="solid"/>
          </a:ln>
        </p:spPr>
      </p:sp>
      <p:sp>
        <p:nvSpPr>
          <p:cNvPr id="3" name="Shape 1"/>
          <p:cNvSpPr/>
          <p:nvPr/>
        </p:nvSpPr>
        <p:spPr>
          <a:xfrm>
            <a:off x="6217920" y="0"/>
            <a:ext cx="164592" cy="5143500"/>
          </a:xfrm>
          <a:prstGeom prst="rect">
            <a:avLst/>
          </a:prstGeom>
          <a:solidFill>
            <a:srgbClr val="C00707"/>
          </a:solidFill>
          <a:ln w="12700">
            <a:solidFill>
              <a:srgbClr val="C00707"/>
            </a:solidFill>
            <a:prstDash val="solid"/>
          </a:ln>
        </p:spPr>
      </p:sp>
      <p:sp>
        <p:nvSpPr>
          <p:cNvPr id="4" name="Shape 2"/>
          <p:cNvSpPr/>
          <p:nvPr/>
        </p:nvSpPr>
        <p:spPr>
          <a:xfrm>
            <a:off x="6675120" y="731520"/>
            <a:ext cx="2194560" cy="54864"/>
          </a:xfrm>
          <a:prstGeom prst="rect">
            <a:avLst/>
          </a:prstGeom>
          <a:solidFill>
            <a:srgbClr val="7AAACE"/>
          </a:solidFill>
          <a:ln w="12700">
            <a:solidFill>
              <a:srgbClr val="7AAACE"/>
            </a:solidFill>
            <a:prstDash val="solid"/>
          </a:ln>
        </p:spPr>
      </p:sp>
      <p:sp>
        <p:nvSpPr>
          <p:cNvPr id="5" name="Shape 3"/>
          <p:cNvSpPr/>
          <p:nvPr/>
        </p:nvSpPr>
        <p:spPr>
          <a:xfrm>
            <a:off x="6675120" y="914400"/>
            <a:ext cx="1463040" cy="54864"/>
          </a:xfrm>
          <a:prstGeom prst="rect">
            <a:avLst/>
          </a:prstGeom>
          <a:solidFill>
            <a:srgbClr val="7AAACE"/>
          </a:solidFill>
          <a:ln w="12700">
            <a:solidFill>
              <a:srgbClr val="7AAACE"/>
            </a:solidFill>
            <a:prstDash val="solid"/>
          </a:ln>
        </p:spPr>
      </p:sp>
      <p:sp>
        <p:nvSpPr>
          <p:cNvPr id="6" name="Shape 4"/>
          <p:cNvSpPr/>
          <p:nvPr/>
        </p:nvSpPr>
        <p:spPr>
          <a:xfrm>
            <a:off x="6675120" y="1097280"/>
            <a:ext cx="1828800" cy="54864"/>
          </a:xfrm>
          <a:prstGeom prst="rect">
            <a:avLst/>
          </a:prstGeom>
          <a:solidFill>
            <a:srgbClr val="7AAACE"/>
          </a:solidFill>
          <a:ln w="12700">
            <a:solidFill>
              <a:srgbClr val="7AAACE"/>
            </a:solidFill>
            <a:prstDash val="solid"/>
          </a:ln>
        </p:spPr>
      </p:sp>
      <p:sp>
        <p:nvSpPr>
          <p:cNvPr id="7" name="Text 5"/>
          <p:cNvSpPr/>
          <p:nvPr/>
        </p:nvSpPr>
        <p:spPr>
          <a:xfrm>
            <a:off x="502920" y="1188720"/>
            <a:ext cx="5394960" cy="365760"/>
          </a:xfrm>
          <a:prstGeom prst="rect">
            <a:avLst/>
          </a:prstGeom>
          <a:noFill/>
          <a:ln/>
        </p:spPr>
        <p:txBody>
          <a:bodyPr wrap="square" lIns="0" tIns="0" rIns="0" bIns="0" rtlCol="0" anchor="ctr"/>
          <a:lstStyle/>
          <a:p>
            <a:pPr indent="0" marL="0">
              <a:buNone/>
            </a:pPr>
            <a:r>
              <a:rPr lang="en-US" sz="1000" b="1" spc="300" kern="0" dirty="0">
                <a:solidFill>
                  <a:srgbClr val="7AAACE"/>
                </a:solidFill>
                <a:latin typeface="Calibri" pitchFamily="34" charset="0"/>
                <a:ea typeface="Calibri" pitchFamily="34" charset="-122"/>
                <a:cs typeface="Calibri" pitchFamily="34" charset="-120"/>
              </a:rPr>
              <a:t>AGENCE FRANÇAISE DE DÉVELOPPEMENT</a:t>
            </a:r>
            <a:endParaRPr lang="en-US" sz="1000" dirty="0"/>
          </a:p>
        </p:txBody>
      </p:sp>
      <p:sp>
        <p:nvSpPr>
          <p:cNvPr id="8" name="Text 6"/>
          <p:cNvSpPr/>
          <p:nvPr/>
        </p:nvSpPr>
        <p:spPr>
          <a:xfrm>
            <a:off x="502920" y="1645920"/>
            <a:ext cx="5394960" cy="1188720"/>
          </a:xfrm>
          <a:prstGeom prst="rect">
            <a:avLst/>
          </a:prstGeom>
          <a:noFill/>
          <a:ln/>
        </p:spPr>
        <p:txBody>
          <a:bodyPr wrap="square" lIns="0" tIns="0" rIns="0" bIns="0" rtlCol="0" anchor="ctr"/>
          <a:lstStyle/>
          <a:p>
            <a:pPr indent="0" marL="0">
              <a:buNone/>
            </a:pPr>
            <a:r>
              <a:rPr lang="en-US" sz="4200" b="1" dirty="0">
                <a:solidFill>
                  <a:srgbClr val="FFFFFF"/>
                </a:solidFill>
                <a:latin typeface="Georgia" pitchFamily="34" charset="0"/>
                <a:ea typeface="Georgia" pitchFamily="34" charset="-122"/>
                <a:cs typeface="Georgia" pitchFamily="34" charset="-120"/>
              </a:rPr>
              <a:t>Application Data APD</a:t>
            </a:r>
            <a:endParaRPr lang="en-US" sz="4200" dirty="0"/>
          </a:p>
        </p:txBody>
      </p:sp>
      <p:sp>
        <p:nvSpPr>
          <p:cNvPr id="9" name="Shape 7"/>
          <p:cNvSpPr/>
          <p:nvPr/>
        </p:nvSpPr>
        <p:spPr>
          <a:xfrm>
            <a:off x="502920" y="2880360"/>
            <a:ext cx="548640" cy="64008"/>
          </a:xfrm>
          <a:prstGeom prst="rect">
            <a:avLst/>
          </a:prstGeom>
          <a:solidFill>
            <a:srgbClr val="C00707"/>
          </a:solidFill>
          <a:ln w="12700">
            <a:solidFill>
              <a:srgbClr val="C00707"/>
            </a:solidFill>
            <a:prstDash val="solid"/>
          </a:ln>
        </p:spPr>
      </p:sp>
      <p:sp>
        <p:nvSpPr>
          <p:cNvPr id="10" name="Text 8"/>
          <p:cNvSpPr/>
          <p:nvPr/>
        </p:nvSpPr>
        <p:spPr>
          <a:xfrm>
            <a:off x="502920" y="3017520"/>
            <a:ext cx="5394960" cy="777240"/>
          </a:xfrm>
          <a:prstGeom prst="rect">
            <a:avLst/>
          </a:prstGeom>
          <a:noFill/>
          <a:ln/>
        </p:spPr>
        <p:txBody>
          <a:bodyPr wrap="square" lIns="0" tIns="0" rIns="0" bIns="0" rtlCol="0" anchor="ctr"/>
          <a:lstStyle/>
          <a:p>
            <a:pPr indent="0" marL="0">
              <a:lnSpc>
                <a:spcPct val="140000"/>
              </a:lnSpc>
              <a:buNone/>
            </a:pPr>
            <a:r>
              <a:rPr lang="en-US" sz="1400" dirty="0">
                <a:solidFill>
                  <a:srgbClr val="7AAACE"/>
                </a:solidFill>
                <a:latin typeface="Calibri" pitchFamily="34" charset="0"/>
                <a:ea typeface="Calibri" pitchFamily="34" charset="-122"/>
                <a:cs typeface="Calibri" pitchFamily="34" charset="-120"/>
              </a:rPr>
              <a:t>Analyse des besoins utilisateurs</a:t>
            </a:r>
            <a:endParaRPr lang="en-US" sz="1400" dirty="0"/>
          </a:p>
          <a:p>
            <a:pPr indent="0" marL="0">
              <a:lnSpc>
                <a:spcPct val="140000"/>
              </a:lnSpc>
              <a:buNone/>
            </a:pPr>
            <a:r>
              <a:rPr lang="en-US" sz="1400" dirty="0">
                <a:solidFill>
                  <a:srgbClr val="7AAACE"/>
                </a:solidFill>
                <a:latin typeface="Calibri" pitchFamily="34" charset="0"/>
                <a:ea typeface="Calibri" pitchFamily="34" charset="-122"/>
                <a:cs typeface="Calibri" pitchFamily="34" charset="-120"/>
              </a:rPr>
              <a:t>Stratégie produit &amp; feuille de route</a:t>
            </a:r>
            <a:endParaRPr lang="en-US" sz="1400" dirty="0"/>
          </a:p>
        </p:txBody>
      </p:sp>
      <p:sp>
        <p:nvSpPr>
          <p:cNvPr id="11" name="Text 9"/>
          <p:cNvSpPr/>
          <p:nvPr/>
        </p:nvSpPr>
        <p:spPr>
          <a:xfrm>
            <a:off x="502920" y="3931920"/>
            <a:ext cx="3657600" cy="320040"/>
          </a:xfrm>
          <a:prstGeom prst="rect">
            <a:avLst/>
          </a:prstGeom>
          <a:noFill/>
          <a:ln/>
        </p:spPr>
        <p:txBody>
          <a:bodyPr wrap="square" lIns="0" tIns="0" rIns="0" bIns="0" rtlCol="0" anchor="ctr"/>
          <a:lstStyle/>
          <a:p>
            <a:pPr indent="0" marL="0">
              <a:buNone/>
            </a:pPr>
            <a:r>
              <a:rPr lang="en-US" sz="1100" i="1" dirty="0">
                <a:solidFill>
                  <a:srgbClr val="8AAFC8"/>
                </a:solidFill>
                <a:latin typeface="Calibri" pitchFamily="34" charset="0"/>
                <a:ea typeface="Calibri" pitchFamily="34" charset="-122"/>
                <a:cs typeface="Calibri" pitchFamily="34" charset="-120"/>
              </a:rPr>
              <a:t>7 livrables · DPM Project 2025</a:t>
            </a:r>
            <a:endParaRPr lang="en-US" sz="1100" dirty="0"/>
          </a:p>
        </p:txBody>
      </p:sp>
      <p:sp>
        <p:nvSpPr>
          <p:cNvPr id="12" name="Shape 10"/>
          <p:cNvSpPr/>
          <p:nvPr/>
        </p:nvSpPr>
        <p:spPr>
          <a:xfrm>
            <a:off x="0" y="4956048"/>
            <a:ext cx="9144000" cy="182880"/>
          </a:xfrm>
          <a:prstGeom prst="rect">
            <a:avLst/>
          </a:prstGeom>
          <a:solidFill>
            <a:srgbClr val="C00707"/>
          </a:solidFill>
          <a:ln w="12700">
            <a:solidFill>
              <a:srgbClr val="C00707"/>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8F0"/>
        </a:solidFill>
      </p:bgPr>
    </p:bg>
    <p:spTree>
      <p:nvGrpSpPr>
        <p:cNvPr id="1" name=""/>
        <p:cNvGrpSpPr/>
        <p:nvPr/>
      </p:nvGrpSpPr>
      <p:grpSpPr>
        <a:xfrm>
          <a:off x="0" y="0"/>
          <a:ext cx="0" cy="0"/>
          <a:chOff x="0" y="0"/>
          <a:chExt cx="0" cy="0"/>
        </a:xfrm>
      </p:grpSpPr>
      <p:sp>
        <p:nvSpPr>
          <p:cNvPr id="2" name="Shape 0"/>
          <p:cNvSpPr/>
          <p:nvPr/>
        </p:nvSpPr>
        <p:spPr>
          <a:xfrm>
            <a:off x="0" y="0"/>
            <a:ext cx="9144000" cy="960120"/>
          </a:xfrm>
          <a:prstGeom prst="rect">
            <a:avLst/>
          </a:prstGeom>
          <a:solidFill>
            <a:srgbClr val="134E8E"/>
          </a:solidFill>
          <a:ln w="12700">
            <a:solidFill>
              <a:srgbClr val="134E8E"/>
            </a:solidFill>
            <a:prstDash val="solid"/>
          </a:ln>
        </p:spPr>
      </p:sp>
      <p:sp>
        <p:nvSpPr>
          <p:cNvPr id="3" name="Shape 1"/>
          <p:cNvSpPr/>
          <p:nvPr/>
        </p:nvSpPr>
        <p:spPr>
          <a:xfrm>
            <a:off x="0" y="0"/>
            <a:ext cx="137160" cy="960120"/>
          </a:xfrm>
          <a:prstGeom prst="rect">
            <a:avLst/>
          </a:prstGeom>
          <a:solidFill>
            <a:srgbClr val="C00707"/>
          </a:solidFill>
          <a:ln w="12700">
            <a:solidFill>
              <a:srgbClr val="C00707"/>
            </a:solidFill>
            <a:prstDash val="solid"/>
          </a:ln>
        </p:spPr>
      </p:sp>
      <p:sp>
        <p:nvSpPr>
          <p:cNvPr id="4" name="Text 2"/>
          <p:cNvSpPr/>
          <p:nvPr/>
        </p:nvSpPr>
        <p:spPr>
          <a:xfrm>
            <a:off x="320040" y="0"/>
            <a:ext cx="7772400" cy="594360"/>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Sommaire des livrables</a:t>
            </a:r>
            <a:endParaRPr lang="en-US" sz="2200" dirty="0"/>
          </a:p>
        </p:txBody>
      </p:sp>
      <p:sp>
        <p:nvSpPr>
          <p:cNvPr id="5" name="Text 3"/>
          <p:cNvSpPr/>
          <p:nvPr/>
        </p:nvSpPr>
        <p:spPr>
          <a:xfrm>
            <a:off x="320040" y="594360"/>
            <a:ext cx="8503920" cy="320040"/>
          </a:xfrm>
          <a:prstGeom prst="rect">
            <a:avLst/>
          </a:prstGeom>
          <a:noFill/>
          <a:ln/>
        </p:spPr>
        <p:txBody>
          <a:bodyPr wrap="square" lIns="0" tIns="0" rIns="0" bIns="0" rtlCol="0" anchor="ctr"/>
          <a:lstStyle/>
          <a:p>
            <a:pPr indent="0" marL="0">
              <a:buNone/>
            </a:pPr>
            <a:r>
              <a:rPr lang="en-US" sz="1050" i="1" dirty="0">
                <a:solidFill>
                  <a:srgbClr val="8AAFC8"/>
                </a:solidFill>
                <a:latin typeface="Calibri" pitchFamily="34" charset="0"/>
                <a:ea typeface="Calibri" pitchFamily="34" charset="-122"/>
                <a:cs typeface="Calibri" pitchFamily="34" charset="-120"/>
              </a:rPr>
              <a:t>Vue d'ensemble des 7 documents du projet</a:t>
            </a:r>
            <a:endParaRPr lang="en-US" sz="1050" dirty="0"/>
          </a:p>
        </p:txBody>
      </p:sp>
      <p:sp>
        <p:nvSpPr>
          <p:cNvPr id="6" name="Shape 4"/>
          <p:cNvSpPr/>
          <p:nvPr/>
        </p:nvSpPr>
        <p:spPr>
          <a:xfrm>
            <a:off x="0" y="4956048"/>
            <a:ext cx="9144000" cy="182880"/>
          </a:xfrm>
          <a:prstGeom prst="rect">
            <a:avLst/>
          </a:prstGeom>
          <a:solidFill>
            <a:srgbClr val="134E8E"/>
          </a:solidFill>
          <a:ln w="12700">
            <a:solidFill>
              <a:srgbClr val="134E8E"/>
            </a:solidFill>
            <a:prstDash val="solid"/>
          </a:ln>
        </p:spPr>
      </p:sp>
      <p:sp>
        <p:nvSpPr>
          <p:cNvPr id="7" name="Text 5"/>
          <p:cNvSpPr/>
          <p:nvPr/>
        </p:nvSpPr>
        <p:spPr>
          <a:xfrm>
            <a:off x="182880" y="4919472"/>
            <a:ext cx="8778240" cy="219456"/>
          </a:xfrm>
          <a:prstGeom prst="rect">
            <a:avLst/>
          </a:prstGeom>
          <a:noFill/>
          <a:ln/>
        </p:spPr>
        <p:txBody>
          <a:bodyPr wrap="square" lIns="0" tIns="0" rIns="0" bIns="0" rtlCol="0" anchor="ctr"/>
          <a:lstStyle/>
          <a:p>
            <a:pPr algn="r" indent="0" marL="0">
              <a:buNone/>
            </a:pPr>
            <a:r>
              <a:rPr lang="en-US" sz="850" dirty="0">
                <a:solidFill>
                  <a:srgbClr val="FFFFFF"/>
                </a:solidFill>
                <a:latin typeface="Calibri" pitchFamily="34" charset="0"/>
                <a:ea typeface="Calibri" pitchFamily="34" charset="-122"/>
                <a:cs typeface="Calibri" pitchFamily="34" charset="-120"/>
              </a:rPr>
              <a:t>Application Data APD  ·  AFD  ·  DPM Project 2025</a:t>
            </a:r>
            <a:endParaRPr lang="en-US" sz="850" dirty="0"/>
          </a:p>
        </p:txBody>
      </p:sp>
      <p:sp>
        <p:nvSpPr>
          <p:cNvPr id="8" name="Shape 6"/>
          <p:cNvSpPr/>
          <p:nvPr/>
        </p:nvSpPr>
        <p:spPr>
          <a:xfrm>
            <a:off x="274320" y="1115568"/>
            <a:ext cx="3931920" cy="777240"/>
          </a:xfrm>
          <a:prstGeom prst="rect">
            <a:avLst/>
          </a:prstGeom>
          <a:solidFill>
            <a:srgbClr val="FFFFFF"/>
          </a:solidFill>
          <a:ln w="12700">
            <a:solidFill>
              <a:srgbClr val="DDE6F0"/>
            </a:solidFill>
            <a:prstDash val="solid"/>
          </a:ln>
          <a:effectLst>
            <a:outerShdw sx="100000" sy="100000" kx="0" ky="0" algn="bl" rotWithShape="0" blurRad="101600" dist="38100" dir="8100000">
              <a:srgbClr val="000000">
                <a:alpha val="10000"/>
              </a:srgbClr>
            </a:outerShdw>
          </a:effectLst>
        </p:spPr>
      </p:sp>
      <p:sp>
        <p:nvSpPr>
          <p:cNvPr id="9" name="Shape 7"/>
          <p:cNvSpPr/>
          <p:nvPr/>
        </p:nvSpPr>
        <p:spPr>
          <a:xfrm>
            <a:off x="274320" y="1115568"/>
            <a:ext cx="109728" cy="777240"/>
          </a:xfrm>
          <a:prstGeom prst="rect">
            <a:avLst/>
          </a:prstGeom>
          <a:solidFill>
            <a:srgbClr val="134E8E"/>
          </a:solidFill>
          <a:ln w="12700">
            <a:solidFill>
              <a:srgbClr val="134E8E"/>
            </a:solidFill>
            <a:prstDash val="solid"/>
          </a:ln>
        </p:spPr>
      </p:sp>
      <p:sp>
        <p:nvSpPr>
          <p:cNvPr id="10" name="Text 8"/>
          <p:cNvSpPr/>
          <p:nvPr/>
        </p:nvSpPr>
        <p:spPr>
          <a:xfrm>
            <a:off x="457200" y="1161288"/>
            <a:ext cx="411480" cy="301752"/>
          </a:xfrm>
          <a:prstGeom prst="rect">
            <a:avLst/>
          </a:prstGeom>
          <a:noFill/>
          <a:ln/>
        </p:spPr>
        <p:txBody>
          <a:bodyPr wrap="square" lIns="0" tIns="0" rIns="0" bIns="0" rtlCol="0" anchor="ctr"/>
          <a:lstStyle/>
          <a:p>
            <a:pPr indent="0" marL="0">
              <a:buNone/>
            </a:pPr>
            <a:r>
              <a:rPr lang="en-US" sz="1800" b="1" dirty="0">
                <a:solidFill>
                  <a:srgbClr val="134E8E"/>
                </a:solidFill>
                <a:latin typeface="Georgia" pitchFamily="34" charset="0"/>
                <a:ea typeface="Georgia" pitchFamily="34" charset="-122"/>
                <a:cs typeface="Georgia" pitchFamily="34" charset="-120"/>
              </a:rPr>
              <a:t>01</a:t>
            </a:r>
            <a:endParaRPr lang="en-US" sz="1800" dirty="0"/>
          </a:p>
        </p:txBody>
      </p:sp>
      <p:sp>
        <p:nvSpPr>
          <p:cNvPr id="11" name="Text 9"/>
          <p:cNvSpPr/>
          <p:nvPr/>
        </p:nvSpPr>
        <p:spPr>
          <a:xfrm>
            <a:off x="932688" y="1161288"/>
            <a:ext cx="3063240" cy="274320"/>
          </a:xfrm>
          <a:prstGeom prst="rect">
            <a:avLst/>
          </a:prstGeom>
          <a:noFill/>
          <a:ln/>
        </p:spPr>
        <p:txBody>
          <a:bodyPr wrap="square" lIns="0" tIns="0" rIns="0" bIns="0" rtlCol="0" anchor="ctr"/>
          <a:lstStyle/>
          <a:p>
            <a:pPr indent="0" marL="0">
              <a:buNone/>
            </a:pPr>
            <a:r>
              <a:rPr lang="en-US" sz="1300" b="1" dirty="0">
                <a:solidFill>
                  <a:srgbClr val="1A2E4A"/>
                </a:solidFill>
                <a:latin typeface="Calibri" pitchFamily="34" charset="0"/>
                <a:ea typeface="Calibri" pitchFamily="34" charset="-122"/>
                <a:cs typeface="Calibri" pitchFamily="34" charset="-120"/>
              </a:rPr>
              <a:t>Synthèse</a:t>
            </a:r>
            <a:endParaRPr lang="en-US" sz="1300" dirty="0"/>
          </a:p>
        </p:txBody>
      </p:sp>
      <p:sp>
        <p:nvSpPr>
          <p:cNvPr id="12" name="Text 10"/>
          <p:cNvSpPr/>
          <p:nvPr/>
        </p:nvSpPr>
        <p:spPr>
          <a:xfrm>
            <a:off x="932688" y="1499616"/>
            <a:ext cx="3063240" cy="320040"/>
          </a:xfrm>
          <a:prstGeom prst="rect">
            <a:avLst/>
          </a:prstGeom>
          <a:noFill/>
          <a:ln/>
        </p:spPr>
        <p:txBody>
          <a:bodyPr wrap="square" lIns="0" tIns="0" rIns="0" bIns="0" rtlCol="0" anchor="ctr"/>
          <a:lstStyle/>
          <a:p>
            <a:pPr indent="0" marL="0">
              <a:buNone/>
            </a:pPr>
            <a:r>
              <a:rPr lang="en-US" sz="1000" dirty="0">
                <a:solidFill>
                  <a:srgbClr val="6B7A8D"/>
                </a:solidFill>
                <a:latin typeface="Calibri" pitchFamily="34" charset="0"/>
                <a:ea typeface="Calibri" pitchFamily="34" charset="-122"/>
                <a:cs typeface="Calibri" pitchFamily="34" charset="-120"/>
              </a:rPr>
              <a:t>Vue d'ensemble — problèmes, impacts, solutions</a:t>
            </a:r>
            <a:endParaRPr lang="en-US" sz="1000" dirty="0"/>
          </a:p>
        </p:txBody>
      </p:sp>
      <p:sp>
        <p:nvSpPr>
          <p:cNvPr id="13" name="Shape 11"/>
          <p:cNvSpPr/>
          <p:nvPr/>
        </p:nvSpPr>
        <p:spPr>
          <a:xfrm>
            <a:off x="274320" y="2020824"/>
            <a:ext cx="3931920" cy="777240"/>
          </a:xfrm>
          <a:prstGeom prst="rect">
            <a:avLst/>
          </a:prstGeom>
          <a:solidFill>
            <a:srgbClr val="FFFFFF"/>
          </a:solidFill>
          <a:ln w="12700">
            <a:solidFill>
              <a:srgbClr val="DDE6F0"/>
            </a:solidFill>
            <a:prstDash val="solid"/>
          </a:ln>
          <a:effectLst>
            <a:outerShdw sx="100000" sy="100000" kx="0" ky="0" algn="bl" rotWithShape="0" blurRad="101600" dist="38100" dir="8100000">
              <a:srgbClr val="000000">
                <a:alpha val="10000"/>
              </a:srgbClr>
            </a:outerShdw>
          </a:effectLst>
        </p:spPr>
      </p:sp>
      <p:sp>
        <p:nvSpPr>
          <p:cNvPr id="14" name="Shape 12"/>
          <p:cNvSpPr/>
          <p:nvPr/>
        </p:nvSpPr>
        <p:spPr>
          <a:xfrm>
            <a:off x="274320" y="2020824"/>
            <a:ext cx="109728" cy="777240"/>
          </a:xfrm>
          <a:prstGeom prst="rect">
            <a:avLst/>
          </a:prstGeom>
          <a:solidFill>
            <a:srgbClr val="C00707"/>
          </a:solidFill>
          <a:ln w="12700">
            <a:solidFill>
              <a:srgbClr val="C00707"/>
            </a:solidFill>
            <a:prstDash val="solid"/>
          </a:ln>
        </p:spPr>
      </p:sp>
      <p:sp>
        <p:nvSpPr>
          <p:cNvPr id="15" name="Text 13"/>
          <p:cNvSpPr/>
          <p:nvPr/>
        </p:nvSpPr>
        <p:spPr>
          <a:xfrm>
            <a:off x="457200" y="2066544"/>
            <a:ext cx="411480" cy="301752"/>
          </a:xfrm>
          <a:prstGeom prst="rect">
            <a:avLst/>
          </a:prstGeom>
          <a:noFill/>
          <a:ln/>
        </p:spPr>
        <p:txBody>
          <a:bodyPr wrap="square" lIns="0" tIns="0" rIns="0" bIns="0" rtlCol="0" anchor="ctr"/>
          <a:lstStyle/>
          <a:p>
            <a:pPr indent="0" marL="0">
              <a:buNone/>
            </a:pPr>
            <a:r>
              <a:rPr lang="en-US" sz="1800" b="1" dirty="0">
                <a:solidFill>
                  <a:srgbClr val="C00707"/>
                </a:solidFill>
                <a:latin typeface="Georgia" pitchFamily="34" charset="0"/>
                <a:ea typeface="Georgia" pitchFamily="34" charset="-122"/>
                <a:cs typeface="Georgia" pitchFamily="34" charset="-120"/>
              </a:rPr>
              <a:t>02</a:t>
            </a:r>
            <a:endParaRPr lang="en-US" sz="1800" dirty="0"/>
          </a:p>
        </p:txBody>
      </p:sp>
      <p:sp>
        <p:nvSpPr>
          <p:cNvPr id="16" name="Text 14"/>
          <p:cNvSpPr/>
          <p:nvPr/>
        </p:nvSpPr>
        <p:spPr>
          <a:xfrm>
            <a:off x="932688" y="2066544"/>
            <a:ext cx="3063240" cy="274320"/>
          </a:xfrm>
          <a:prstGeom prst="rect">
            <a:avLst/>
          </a:prstGeom>
          <a:noFill/>
          <a:ln/>
        </p:spPr>
        <p:txBody>
          <a:bodyPr wrap="square" lIns="0" tIns="0" rIns="0" bIns="0" rtlCol="0" anchor="ctr"/>
          <a:lstStyle/>
          <a:p>
            <a:pPr indent="0" marL="0">
              <a:buNone/>
            </a:pPr>
            <a:r>
              <a:rPr lang="en-US" sz="1300" b="1" dirty="0">
                <a:solidFill>
                  <a:srgbClr val="1A2E4A"/>
                </a:solidFill>
                <a:latin typeface="Calibri" pitchFamily="34" charset="0"/>
                <a:ea typeface="Calibri" pitchFamily="34" charset="-122"/>
                <a:cs typeface="Calibri" pitchFamily="34" charset="-120"/>
              </a:rPr>
              <a:t>Pain Points</a:t>
            </a:r>
            <a:endParaRPr lang="en-US" sz="1300" dirty="0"/>
          </a:p>
        </p:txBody>
      </p:sp>
      <p:sp>
        <p:nvSpPr>
          <p:cNvPr id="17" name="Text 15"/>
          <p:cNvSpPr/>
          <p:nvPr/>
        </p:nvSpPr>
        <p:spPr>
          <a:xfrm>
            <a:off x="932688" y="2404872"/>
            <a:ext cx="3063240" cy="320040"/>
          </a:xfrm>
          <a:prstGeom prst="rect">
            <a:avLst/>
          </a:prstGeom>
          <a:noFill/>
          <a:ln/>
        </p:spPr>
        <p:txBody>
          <a:bodyPr wrap="square" lIns="0" tIns="0" rIns="0" bIns="0" rtlCol="0" anchor="ctr"/>
          <a:lstStyle/>
          <a:p>
            <a:pPr indent="0" marL="0">
              <a:buNone/>
            </a:pPr>
            <a:r>
              <a:rPr lang="en-US" sz="1000" dirty="0">
                <a:solidFill>
                  <a:srgbClr val="6B7A8D"/>
                </a:solidFill>
                <a:latin typeface="Calibri" pitchFamily="34" charset="0"/>
                <a:ea typeface="Calibri" pitchFamily="34" charset="-122"/>
                <a:cs typeface="Calibri" pitchFamily="34" charset="-120"/>
              </a:rPr>
              <a:t>3 problèmes utilisateurs identifiés</a:t>
            </a:r>
            <a:endParaRPr lang="en-US" sz="1000" dirty="0"/>
          </a:p>
        </p:txBody>
      </p:sp>
      <p:sp>
        <p:nvSpPr>
          <p:cNvPr id="18" name="Shape 16"/>
          <p:cNvSpPr/>
          <p:nvPr/>
        </p:nvSpPr>
        <p:spPr>
          <a:xfrm>
            <a:off x="274320" y="2926080"/>
            <a:ext cx="3931920" cy="777240"/>
          </a:xfrm>
          <a:prstGeom prst="rect">
            <a:avLst/>
          </a:prstGeom>
          <a:solidFill>
            <a:srgbClr val="FFFFFF"/>
          </a:solidFill>
          <a:ln w="12700">
            <a:solidFill>
              <a:srgbClr val="DDE6F0"/>
            </a:solidFill>
            <a:prstDash val="solid"/>
          </a:ln>
          <a:effectLst>
            <a:outerShdw sx="100000" sy="100000" kx="0" ky="0" algn="bl" rotWithShape="0" blurRad="101600" dist="38100" dir="8100000">
              <a:srgbClr val="000000">
                <a:alpha val="10000"/>
              </a:srgbClr>
            </a:outerShdw>
          </a:effectLst>
        </p:spPr>
      </p:sp>
      <p:sp>
        <p:nvSpPr>
          <p:cNvPr id="19" name="Shape 17"/>
          <p:cNvSpPr/>
          <p:nvPr/>
        </p:nvSpPr>
        <p:spPr>
          <a:xfrm>
            <a:off x="274320" y="2926080"/>
            <a:ext cx="109728" cy="777240"/>
          </a:xfrm>
          <a:prstGeom prst="rect">
            <a:avLst/>
          </a:prstGeom>
          <a:solidFill>
            <a:srgbClr val="134E8E"/>
          </a:solidFill>
          <a:ln w="12700">
            <a:solidFill>
              <a:srgbClr val="134E8E"/>
            </a:solidFill>
            <a:prstDash val="solid"/>
          </a:ln>
        </p:spPr>
      </p:sp>
      <p:sp>
        <p:nvSpPr>
          <p:cNvPr id="20" name="Text 18"/>
          <p:cNvSpPr/>
          <p:nvPr/>
        </p:nvSpPr>
        <p:spPr>
          <a:xfrm>
            <a:off x="457200" y="2971800"/>
            <a:ext cx="411480" cy="301752"/>
          </a:xfrm>
          <a:prstGeom prst="rect">
            <a:avLst/>
          </a:prstGeom>
          <a:noFill/>
          <a:ln/>
        </p:spPr>
        <p:txBody>
          <a:bodyPr wrap="square" lIns="0" tIns="0" rIns="0" bIns="0" rtlCol="0" anchor="ctr"/>
          <a:lstStyle/>
          <a:p>
            <a:pPr indent="0" marL="0">
              <a:buNone/>
            </a:pPr>
            <a:r>
              <a:rPr lang="en-US" sz="1800" b="1" dirty="0">
                <a:solidFill>
                  <a:srgbClr val="134E8E"/>
                </a:solidFill>
                <a:latin typeface="Georgia" pitchFamily="34" charset="0"/>
                <a:ea typeface="Georgia" pitchFamily="34" charset="-122"/>
                <a:cs typeface="Georgia" pitchFamily="34" charset="-120"/>
              </a:rPr>
              <a:t>03</a:t>
            </a:r>
            <a:endParaRPr lang="en-US" sz="1800" dirty="0"/>
          </a:p>
        </p:txBody>
      </p:sp>
      <p:sp>
        <p:nvSpPr>
          <p:cNvPr id="21" name="Text 19"/>
          <p:cNvSpPr/>
          <p:nvPr/>
        </p:nvSpPr>
        <p:spPr>
          <a:xfrm>
            <a:off x="932688" y="2971800"/>
            <a:ext cx="3063240" cy="274320"/>
          </a:xfrm>
          <a:prstGeom prst="rect">
            <a:avLst/>
          </a:prstGeom>
          <a:noFill/>
          <a:ln/>
        </p:spPr>
        <p:txBody>
          <a:bodyPr wrap="square" lIns="0" tIns="0" rIns="0" bIns="0" rtlCol="0" anchor="ctr"/>
          <a:lstStyle/>
          <a:p>
            <a:pPr indent="0" marL="0">
              <a:buNone/>
            </a:pPr>
            <a:r>
              <a:rPr lang="en-US" sz="1300" b="1" dirty="0">
                <a:solidFill>
                  <a:srgbClr val="1A2E4A"/>
                </a:solidFill>
                <a:latin typeface="Calibri" pitchFamily="34" charset="0"/>
                <a:ea typeface="Calibri" pitchFamily="34" charset="-122"/>
                <a:cs typeface="Calibri" pitchFamily="34" charset="-120"/>
              </a:rPr>
              <a:t>Personas</a:t>
            </a:r>
            <a:endParaRPr lang="en-US" sz="1300" dirty="0"/>
          </a:p>
        </p:txBody>
      </p:sp>
      <p:sp>
        <p:nvSpPr>
          <p:cNvPr id="22" name="Text 20"/>
          <p:cNvSpPr/>
          <p:nvPr/>
        </p:nvSpPr>
        <p:spPr>
          <a:xfrm>
            <a:off x="932688" y="3310128"/>
            <a:ext cx="3063240" cy="320040"/>
          </a:xfrm>
          <a:prstGeom prst="rect">
            <a:avLst/>
          </a:prstGeom>
          <a:noFill/>
          <a:ln/>
        </p:spPr>
        <p:txBody>
          <a:bodyPr wrap="square" lIns="0" tIns="0" rIns="0" bIns="0" rtlCol="0" anchor="ctr"/>
          <a:lstStyle/>
          <a:p>
            <a:pPr indent="0" marL="0">
              <a:buNone/>
            </a:pPr>
            <a:r>
              <a:rPr lang="en-US" sz="1000" dirty="0">
                <a:solidFill>
                  <a:srgbClr val="6B7A8D"/>
                </a:solidFill>
                <a:latin typeface="Calibri" pitchFamily="34" charset="0"/>
                <a:ea typeface="Calibri" pitchFamily="34" charset="-122"/>
                <a:cs typeface="Calibri" pitchFamily="34" charset="-120"/>
              </a:rPr>
              <a:t>3 profils utilisateurs clés</a:t>
            </a:r>
            <a:endParaRPr lang="en-US" sz="1000" dirty="0"/>
          </a:p>
        </p:txBody>
      </p:sp>
      <p:sp>
        <p:nvSpPr>
          <p:cNvPr id="23" name="Shape 21"/>
          <p:cNvSpPr/>
          <p:nvPr/>
        </p:nvSpPr>
        <p:spPr>
          <a:xfrm>
            <a:off x="274320" y="3831336"/>
            <a:ext cx="3931920" cy="777240"/>
          </a:xfrm>
          <a:prstGeom prst="rect">
            <a:avLst/>
          </a:prstGeom>
          <a:solidFill>
            <a:srgbClr val="FFFFFF"/>
          </a:solidFill>
          <a:ln w="12700">
            <a:solidFill>
              <a:srgbClr val="DDE6F0"/>
            </a:solidFill>
            <a:prstDash val="solid"/>
          </a:ln>
          <a:effectLst>
            <a:outerShdw sx="100000" sy="100000" kx="0" ky="0" algn="bl" rotWithShape="0" blurRad="101600" dist="38100" dir="8100000">
              <a:srgbClr val="000000">
                <a:alpha val="10000"/>
              </a:srgbClr>
            </a:outerShdw>
          </a:effectLst>
        </p:spPr>
      </p:sp>
      <p:sp>
        <p:nvSpPr>
          <p:cNvPr id="24" name="Shape 22"/>
          <p:cNvSpPr/>
          <p:nvPr/>
        </p:nvSpPr>
        <p:spPr>
          <a:xfrm>
            <a:off x="274320" y="3831336"/>
            <a:ext cx="109728" cy="777240"/>
          </a:xfrm>
          <a:prstGeom prst="rect">
            <a:avLst/>
          </a:prstGeom>
          <a:solidFill>
            <a:srgbClr val="7AAACE"/>
          </a:solidFill>
          <a:ln w="12700">
            <a:solidFill>
              <a:srgbClr val="7AAACE"/>
            </a:solidFill>
            <a:prstDash val="solid"/>
          </a:ln>
        </p:spPr>
      </p:sp>
      <p:sp>
        <p:nvSpPr>
          <p:cNvPr id="25" name="Text 23"/>
          <p:cNvSpPr/>
          <p:nvPr/>
        </p:nvSpPr>
        <p:spPr>
          <a:xfrm>
            <a:off x="457200" y="3877056"/>
            <a:ext cx="411480" cy="301752"/>
          </a:xfrm>
          <a:prstGeom prst="rect">
            <a:avLst/>
          </a:prstGeom>
          <a:noFill/>
          <a:ln/>
        </p:spPr>
        <p:txBody>
          <a:bodyPr wrap="square" lIns="0" tIns="0" rIns="0" bIns="0" rtlCol="0" anchor="ctr"/>
          <a:lstStyle/>
          <a:p>
            <a:pPr indent="0" marL="0">
              <a:buNone/>
            </a:pPr>
            <a:r>
              <a:rPr lang="en-US" sz="1800" b="1" dirty="0">
                <a:solidFill>
                  <a:srgbClr val="7AAACE"/>
                </a:solidFill>
                <a:latin typeface="Georgia" pitchFamily="34" charset="0"/>
                <a:ea typeface="Georgia" pitchFamily="34" charset="-122"/>
                <a:cs typeface="Georgia" pitchFamily="34" charset="-120"/>
              </a:rPr>
              <a:t>04</a:t>
            </a:r>
            <a:endParaRPr lang="en-US" sz="1800" dirty="0"/>
          </a:p>
        </p:txBody>
      </p:sp>
      <p:sp>
        <p:nvSpPr>
          <p:cNvPr id="26" name="Text 24"/>
          <p:cNvSpPr/>
          <p:nvPr/>
        </p:nvSpPr>
        <p:spPr>
          <a:xfrm>
            <a:off x="932688" y="3877056"/>
            <a:ext cx="3063240" cy="274320"/>
          </a:xfrm>
          <a:prstGeom prst="rect">
            <a:avLst/>
          </a:prstGeom>
          <a:noFill/>
          <a:ln/>
        </p:spPr>
        <p:txBody>
          <a:bodyPr wrap="square" lIns="0" tIns="0" rIns="0" bIns="0" rtlCol="0" anchor="ctr"/>
          <a:lstStyle/>
          <a:p>
            <a:pPr indent="0" marL="0">
              <a:buNone/>
            </a:pPr>
            <a:r>
              <a:rPr lang="en-US" sz="1300" b="1" dirty="0">
                <a:solidFill>
                  <a:srgbClr val="1A2E4A"/>
                </a:solidFill>
                <a:latin typeface="Calibri" pitchFamily="34" charset="0"/>
                <a:ea typeface="Calibri" pitchFamily="34" charset="-122"/>
                <a:cs typeface="Calibri" pitchFamily="34" charset="-120"/>
              </a:rPr>
              <a:t>Experience Maps</a:t>
            </a:r>
            <a:endParaRPr lang="en-US" sz="1300" dirty="0"/>
          </a:p>
        </p:txBody>
      </p:sp>
      <p:sp>
        <p:nvSpPr>
          <p:cNvPr id="27" name="Text 25"/>
          <p:cNvSpPr/>
          <p:nvPr/>
        </p:nvSpPr>
        <p:spPr>
          <a:xfrm>
            <a:off x="932688" y="4215384"/>
            <a:ext cx="3063240" cy="320040"/>
          </a:xfrm>
          <a:prstGeom prst="rect">
            <a:avLst/>
          </a:prstGeom>
          <a:noFill/>
          <a:ln/>
        </p:spPr>
        <p:txBody>
          <a:bodyPr wrap="square" lIns="0" tIns="0" rIns="0" bIns="0" rtlCol="0" anchor="ctr"/>
          <a:lstStyle/>
          <a:p>
            <a:pPr indent="0" marL="0">
              <a:buNone/>
            </a:pPr>
            <a:r>
              <a:rPr lang="en-US" sz="1000" dirty="0">
                <a:solidFill>
                  <a:srgbClr val="6B7A8D"/>
                </a:solidFill>
                <a:latin typeface="Calibri" pitchFamily="34" charset="0"/>
                <a:ea typeface="Calibri" pitchFamily="34" charset="-122"/>
                <a:cs typeface="Calibri" pitchFamily="34" charset="-120"/>
              </a:rPr>
              <a:t>Parcours utilisateur détaillé (3 personas)</a:t>
            </a:r>
            <a:endParaRPr lang="en-US" sz="1000" dirty="0"/>
          </a:p>
        </p:txBody>
      </p:sp>
      <p:sp>
        <p:nvSpPr>
          <p:cNvPr id="28" name="Shape 26"/>
          <p:cNvSpPr/>
          <p:nvPr/>
        </p:nvSpPr>
        <p:spPr>
          <a:xfrm>
            <a:off x="4754880" y="1568196"/>
            <a:ext cx="4023360" cy="777240"/>
          </a:xfrm>
          <a:prstGeom prst="rect">
            <a:avLst/>
          </a:prstGeom>
          <a:solidFill>
            <a:srgbClr val="FFFFFF"/>
          </a:solidFill>
          <a:ln w="12700">
            <a:solidFill>
              <a:srgbClr val="DDE6F0"/>
            </a:solidFill>
            <a:prstDash val="solid"/>
          </a:ln>
          <a:effectLst>
            <a:outerShdw sx="100000" sy="100000" kx="0" ky="0" algn="bl" rotWithShape="0" blurRad="101600" dist="38100" dir="8100000">
              <a:srgbClr val="000000">
                <a:alpha val="10000"/>
              </a:srgbClr>
            </a:outerShdw>
          </a:effectLst>
        </p:spPr>
      </p:sp>
      <p:sp>
        <p:nvSpPr>
          <p:cNvPr id="29" name="Shape 27"/>
          <p:cNvSpPr/>
          <p:nvPr/>
        </p:nvSpPr>
        <p:spPr>
          <a:xfrm>
            <a:off x="4754880" y="1568196"/>
            <a:ext cx="109728" cy="777240"/>
          </a:xfrm>
          <a:prstGeom prst="rect">
            <a:avLst/>
          </a:prstGeom>
          <a:solidFill>
            <a:srgbClr val="134E8E"/>
          </a:solidFill>
          <a:ln w="12700">
            <a:solidFill>
              <a:srgbClr val="134E8E"/>
            </a:solidFill>
            <a:prstDash val="solid"/>
          </a:ln>
        </p:spPr>
      </p:sp>
      <p:sp>
        <p:nvSpPr>
          <p:cNvPr id="30" name="Text 28"/>
          <p:cNvSpPr/>
          <p:nvPr/>
        </p:nvSpPr>
        <p:spPr>
          <a:xfrm>
            <a:off x="4937760" y="1613916"/>
            <a:ext cx="411480" cy="301752"/>
          </a:xfrm>
          <a:prstGeom prst="rect">
            <a:avLst/>
          </a:prstGeom>
          <a:noFill/>
          <a:ln/>
        </p:spPr>
        <p:txBody>
          <a:bodyPr wrap="square" lIns="0" tIns="0" rIns="0" bIns="0" rtlCol="0" anchor="ctr"/>
          <a:lstStyle/>
          <a:p>
            <a:pPr indent="0" marL="0">
              <a:buNone/>
            </a:pPr>
            <a:r>
              <a:rPr lang="en-US" sz="1800" b="1" dirty="0">
                <a:solidFill>
                  <a:srgbClr val="134E8E"/>
                </a:solidFill>
                <a:latin typeface="Georgia" pitchFamily="34" charset="0"/>
                <a:ea typeface="Georgia" pitchFamily="34" charset="-122"/>
                <a:cs typeface="Georgia" pitchFamily="34" charset="-120"/>
              </a:rPr>
              <a:t>05</a:t>
            </a:r>
            <a:endParaRPr lang="en-US" sz="1800" dirty="0"/>
          </a:p>
        </p:txBody>
      </p:sp>
      <p:sp>
        <p:nvSpPr>
          <p:cNvPr id="31" name="Text 29"/>
          <p:cNvSpPr/>
          <p:nvPr/>
        </p:nvSpPr>
        <p:spPr>
          <a:xfrm>
            <a:off x="5413248" y="1613916"/>
            <a:ext cx="3154680" cy="274320"/>
          </a:xfrm>
          <a:prstGeom prst="rect">
            <a:avLst/>
          </a:prstGeom>
          <a:noFill/>
          <a:ln/>
        </p:spPr>
        <p:txBody>
          <a:bodyPr wrap="square" lIns="0" tIns="0" rIns="0" bIns="0" rtlCol="0" anchor="ctr"/>
          <a:lstStyle/>
          <a:p>
            <a:pPr indent="0" marL="0">
              <a:buNone/>
            </a:pPr>
            <a:r>
              <a:rPr lang="en-US" sz="1300" b="1" dirty="0">
                <a:solidFill>
                  <a:srgbClr val="1A2E4A"/>
                </a:solidFill>
                <a:latin typeface="Calibri" pitchFamily="34" charset="0"/>
                <a:ea typeface="Calibri" pitchFamily="34" charset="-122"/>
                <a:cs typeface="Calibri" pitchFamily="34" charset="-120"/>
              </a:rPr>
              <a:t>Benchmarks</a:t>
            </a:r>
            <a:endParaRPr lang="en-US" sz="1300" dirty="0"/>
          </a:p>
        </p:txBody>
      </p:sp>
      <p:sp>
        <p:nvSpPr>
          <p:cNvPr id="32" name="Text 30"/>
          <p:cNvSpPr/>
          <p:nvPr/>
        </p:nvSpPr>
        <p:spPr>
          <a:xfrm>
            <a:off x="5413248" y="1952244"/>
            <a:ext cx="3154680" cy="320040"/>
          </a:xfrm>
          <a:prstGeom prst="rect">
            <a:avLst/>
          </a:prstGeom>
          <a:noFill/>
          <a:ln/>
        </p:spPr>
        <p:txBody>
          <a:bodyPr wrap="square" lIns="0" tIns="0" rIns="0" bIns="0" rtlCol="0" anchor="ctr"/>
          <a:lstStyle/>
          <a:p>
            <a:pPr indent="0" marL="0">
              <a:buNone/>
            </a:pPr>
            <a:r>
              <a:rPr lang="en-US" sz="1000" dirty="0">
                <a:solidFill>
                  <a:srgbClr val="6B7A8D"/>
                </a:solidFill>
                <a:latin typeface="Calibri" pitchFamily="34" charset="0"/>
                <a:ea typeface="Calibri" pitchFamily="34" charset="-122"/>
                <a:cs typeface="Calibri" pitchFamily="34" charset="-120"/>
              </a:rPr>
              <a:t>4 outils de référence analysés</a:t>
            </a:r>
            <a:endParaRPr lang="en-US" sz="1000" dirty="0"/>
          </a:p>
        </p:txBody>
      </p:sp>
      <p:sp>
        <p:nvSpPr>
          <p:cNvPr id="33" name="Shape 31"/>
          <p:cNvSpPr/>
          <p:nvPr/>
        </p:nvSpPr>
        <p:spPr>
          <a:xfrm>
            <a:off x="4754880" y="2473452"/>
            <a:ext cx="4023360" cy="777240"/>
          </a:xfrm>
          <a:prstGeom prst="rect">
            <a:avLst/>
          </a:prstGeom>
          <a:solidFill>
            <a:srgbClr val="FFFFFF"/>
          </a:solidFill>
          <a:ln w="12700">
            <a:solidFill>
              <a:srgbClr val="DDE6F0"/>
            </a:solidFill>
            <a:prstDash val="solid"/>
          </a:ln>
          <a:effectLst>
            <a:outerShdw sx="100000" sy="100000" kx="0" ky="0" algn="bl" rotWithShape="0" blurRad="101600" dist="38100" dir="8100000">
              <a:srgbClr val="000000">
                <a:alpha val="10000"/>
              </a:srgbClr>
            </a:outerShdw>
          </a:effectLst>
        </p:spPr>
      </p:sp>
      <p:sp>
        <p:nvSpPr>
          <p:cNvPr id="34" name="Shape 32"/>
          <p:cNvSpPr/>
          <p:nvPr/>
        </p:nvSpPr>
        <p:spPr>
          <a:xfrm>
            <a:off x="4754880" y="2473452"/>
            <a:ext cx="109728" cy="777240"/>
          </a:xfrm>
          <a:prstGeom prst="rect">
            <a:avLst/>
          </a:prstGeom>
          <a:solidFill>
            <a:srgbClr val="C00707"/>
          </a:solidFill>
          <a:ln w="12700">
            <a:solidFill>
              <a:srgbClr val="C00707"/>
            </a:solidFill>
            <a:prstDash val="solid"/>
          </a:ln>
        </p:spPr>
      </p:sp>
      <p:sp>
        <p:nvSpPr>
          <p:cNvPr id="35" name="Text 33"/>
          <p:cNvSpPr/>
          <p:nvPr/>
        </p:nvSpPr>
        <p:spPr>
          <a:xfrm>
            <a:off x="4937760" y="2519172"/>
            <a:ext cx="411480" cy="301752"/>
          </a:xfrm>
          <a:prstGeom prst="rect">
            <a:avLst/>
          </a:prstGeom>
          <a:noFill/>
          <a:ln/>
        </p:spPr>
        <p:txBody>
          <a:bodyPr wrap="square" lIns="0" tIns="0" rIns="0" bIns="0" rtlCol="0" anchor="ctr"/>
          <a:lstStyle/>
          <a:p>
            <a:pPr indent="0" marL="0">
              <a:buNone/>
            </a:pPr>
            <a:r>
              <a:rPr lang="en-US" sz="1800" b="1" dirty="0">
                <a:solidFill>
                  <a:srgbClr val="C00707"/>
                </a:solidFill>
                <a:latin typeface="Georgia" pitchFamily="34" charset="0"/>
                <a:ea typeface="Georgia" pitchFamily="34" charset="-122"/>
                <a:cs typeface="Georgia" pitchFamily="34" charset="-120"/>
              </a:rPr>
              <a:t>06</a:t>
            </a:r>
            <a:endParaRPr lang="en-US" sz="1800" dirty="0"/>
          </a:p>
        </p:txBody>
      </p:sp>
      <p:sp>
        <p:nvSpPr>
          <p:cNvPr id="36" name="Text 34"/>
          <p:cNvSpPr/>
          <p:nvPr/>
        </p:nvSpPr>
        <p:spPr>
          <a:xfrm>
            <a:off x="5413248" y="2519172"/>
            <a:ext cx="3154680" cy="274320"/>
          </a:xfrm>
          <a:prstGeom prst="rect">
            <a:avLst/>
          </a:prstGeom>
          <a:noFill/>
          <a:ln/>
        </p:spPr>
        <p:txBody>
          <a:bodyPr wrap="square" lIns="0" tIns="0" rIns="0" bIns="0" rtlCol="0" anchor="ctr"/>
          <a:lstStyle/>
          <a:p>
            <a:pPr indent="0" marL="0">
              <a:buNone/>
            </a:pPr>
            <a:r>
              <a:rPr lang="en-US" sz="1300" b="1" dirty="0">
                <a:solidFill>
                  <a:srgbClr val="1A2E4A"/>
                </a:solidFill>
                <a:latin typeface="Calibri" pitchFamily="34" charset="0"/>
                <a:ea typeface="Calibri" pitchFamily="34" charset="-122"/>
                <a:cs typeface="Calibri" pitchFamily="34" charset="-120"/>
              </a:rPr>
              <a:t>Business Model Canvas</a:t>
            </a:r>
            <a:endParaRPr lang="en-US" sz="1300" dirty="0"/>
          </a:p>
        </p:txBody>
      </p:sp>
      <p:sp>
        <p:nvSpPr>
          <p:cNvPr id="37" name="Text 35"/>
          <p:cNvSpPr/>
          <p:nvPr/>
        </p:nvSpPr>
        <p:spPr>
          <a:xfrm>
            <a:off x="5413248" y="2857500"/>
            <a:ext cx="3154680" cy="320040"/>
          </a:xfrm>
          <a:prstGeom prst="rect">
            <a:avLst/>
          </a:prstGeom>
          <a:noFill/>
          <a:ln/>
        </p:spPr>
        <p:txBody>
          <a:bodyPr wrap="square" lIns="0" tIns="0" rIns="0" bIns="0" rtlCol="0" anchor="ctr"/>
          <a:lstStyle/>
          <a:p>
            <a:pPr indent="0" marL="0">
              <a:buNone/>
            </a:pPr>
            <a:r>
              <a:rPr lang="en-US" sz="1000" dirty="0">
                <a:solidFill>
                  <a:srgbClr val="6B7A8D"/>
                </a:solidFill>
                <a:latin typeface="Calibri" pitchFamily="34" charset="0"/>
                <a:ea typeface="Calibri" pitchFamily="34" charset="-122"/>
                <a:cs typeface="Calibri" pitchFamily="34" charset="-120"/>
              </a:rPr>
              <a:t>Modèle économique de l'AFD</a:t>
            </a:r>
            <a:endParaRPr lang="en-US" sz="1000" dirty="0"/>
          </a:p>
        </p:txBody>
      </p:sp>
      <p:sp>
        <p:nvSpPr>
          <p:cNvPr id="38" name="Shape 36"/>
          <p:cNvSpPr/>
          <p:nvPr/>
        </p:nvSpPr>
        <p:spPr>
          <a:xfrm>
            <a:off x="4754880" y="3378708"/>
            <a:ext cx="4023360" cy="777240"/>
          </a:xfrm>
          <a:prstGeom prst="rect">
            <a:avLst/>
          </a:prstGeom>
          <a:solidFill>
            <a:srgbClr val="FFFFFF"/>
          </a:solidFill>
          <a:ln w="12700">
            <a:solidFill>
              <a:srgbClr val="DDE6F0"/>
            </a:solidFill>
            <a:prstDash val="solid"/>
          </a:ln>
          <a:effectLst>
            <a:outerShdw sx="100000" sy="100000" kx="0" ky="0" algn="bl" rotWithShape="0" blurRad="101600" dist="38100" dir="8100000">
              <a:srgbClr val="000000">
                <a:alpha val="10000"/>
              </a:srgbClr>
            </a:outerShdw>
          </a:effectLst>
        </p:spPr>
      </p:sp>
      <p:sp>
        <p:nvSpPr>
          <p:cNvPr id="39" name="Shape 37"/>
          <p:cNvSpPr/>
          <p:nvPr/>
        </p:nvSpPr>
        <p:spPr>
          <a:xfrm>
            <a:off x="4754880" y="3378708"/>
            <a:ext cx="109728" cy="777240"/>
          </a:xfrm>
          <a:prstGeom prst="rect">
            <a:avLst/>
          </a:prstGeom>
          <a:solidFill>
            <a:srgbClr val="134E8E"/>
          </a:solidFill>
          <a:ln w="12700">
            <a:solidFill>
              <a:srgbClr val="134E8E"/>
            </a:solidFill>
            <a:prstDash val="solid"/>
          </a:ln>
        </p:spPr>
      </p:sp>
      <p:sp>
        <p:nvSpPr>
          <p:cNvPr id="40" name="Text 38"/>
          <p:cNvSpPr/>
          <p:nvPr/>
        </p:nvSpPr>
        <p:spPr>
          <a:xfrm>
            <a:off x="4937760" y="3424428"/>
            <a:ext cx="411480" cy="301752"/>
          </a:xfrm>
          <a:prstGeom prst="rect">
            <a:avLst/>
          </a:prstGeom>
          <a:noFill/>
          <a:ln/>
        </p:spPr>
        <p:txBody>
          <a:bodyPr wrap="square" lIns="0" tIns="0" rIns="0" bIns="0" rtlCol="0" anchor="ctr"/>
          <a:lstStyle/>
          <a:p>
            <a:pPr indent="0" marL="0">
              <a:buNone/>
            </a:pPr>
            <a:r>
              <a:rPr lang="en-US" sz="1800" b="1" dirty="0">
                <a:solidFill>
                  <a:srgbClr val="134E8E"/>
                </a:solidFill>
                <a:latin typeface="Georgia" pitchFamily="34" charset="0"/>
                <a:ea typeface="Georgia" pitchFamily="34" charset="-122"/>
                <a:cs typeface="Georgia" pitchFamily="34" charset="-120"/>
              </a:rPr>
              <a:t>07</a:t>
            </a:r>
            <a:endParaRPr lang="en-US" sz="1800" dirty="0"/>
          </a:p>
        </p:txBody>
      </p:sp>
      <p:sp>
        <p:nvSpPr>
          <p:cNvPr id="41" name="Text 39"/>
          <p:cNvSpPr/>
          <p:nvPr/>
        </p:nvSpPr>
        <p:spPr>
          <a:xfrm>
            <a:off x="5413248" y="3424428"/>
            <a:ext cx="3154680" cy="274320"/>
          </a:xfrm>
          <a:prstGeom prst="rect">
            <a:avLst/>
          </a:prstGeom>
          <a:noFill/>
          <a:ln/>
        </p:spPr>
        <p:txBody>
          <a:bodyPr wrap="square" lIns="0" tIns="0" rIns="0" bIns="0" rtlCol="0" anchor="ctr"/>
          <a:lstStyle/>
          <a:p>
            <a:pPr indent="0" marL="0">
              <a:buNone/>
            </a:pPr>
            <a:r>
              <a:rPr lang="en-US" sz="1300" b="1" dirty="0">
                <a:solidFill>
                  <a:srgbClr val="1A2E4A"/>
                </a:solidFill>
                <a:latin typeface="Calibri" pitchFamily="34" charset="0"/>
                <a:ea typeface="Calibri" pitchFamily="34" charset="-122"/>
                <a:cs typeface="Calibri" pitchFamily="34" charset="-120"/>
              </a:rPr>
              <a:t>Grille de priorisation &amp; KPIs</a:t>
            </a:r>
            <a:endParaRPr lang="en-US" sz="1300" dirty="0"/>
          </a:p>
        </p:txBody>
      </p:sp>
      <p:sp>
        <p:nvSpPr>
          <p:cNvPr id="42" name="Text 40"/>
          <p:cNvSpPr/>
          <p:nvPr/>
        </p:nvSpPr>
        <p:spPr>
          <a:xfrm>
            <a:off x="5413248" y="3762756"/>
            <a:ext cx="3154680" cy="320040"/>
          </a:xfrm>
          <a:prstGeom prst="rect">
            <a:avLst/>
          </a:prstGeom>
          <a:noFill/>
          <a:ln/>
        </p:spPr>
        <p:txBody>
          <a:bodyPr wrap="square" lIns="0" tIns="0" rIns="0" bIns="0" rtlCol="0" anchor="ctr"/>
          <a:lstStyle/>
          <a:p>
            <a:pPr indent="0" marL="0">
              <a:buNone/>
            </a:pPr>
            <a:r>
              <a:rPr lang="en-US" sz="1000" dirty="0">
                <a:solidFill>
                  <a:srgbClr val="6B7A8D"/>
                </a:solidFill>
                <a:latin typeface="Calibri" pitchFamily="34" charset="0"/>
                <a:ea typeface="Calibri" pitchFamily="34" charset="-122"/>
                <a:cs typeface="Calibri" pitchFamily="34" charset="-120"/>
              </a:rPr>
              <a:t>6 fonctionnalités scorées + 5 KPIs</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8F0"/>
        </a:solidFill>
      </p:bgPr>
    </p:bg>
    <p:spTree>
      <p:nvGrpSpPr>
        <p:cNvPr id="1" name=""/>
        <p:cNvGrpSpPr/>
        <p:nvPr/>
      </p:nvGrpSpPr>
      <p:grpSpPr>
        <a:xfrm>
          <a:off x="0" y="0"/>
          <a:ext cx="0" cy="0"/>
          <a:chOff x="0" y="0"/>
          <a:chExt cx="0" cy="0"/>
        </a:xfrm>
      </p:grpSpPr>
      <p:sp>
        <p:nvSpPr>
          <p:cNvPr id="2" name="Shape 0"/>
          <p:cNvSpPr/>
          <p:nvPr/>
        </p:nvSpPr>
        <p:spPr>
          <a:xfrm>
            <a:off x="0" y="0"/>
            <a:ext cx="9144000" cy="960120"/>
          </a:xfrm>
          <a:prstGeom prst="rect">
            <a:avLst/>
          </a:prstGeom>
          <a:solidFill>
            <a:srgbClr val="134E8E"/>
          </a:solidFill>
          <a:ln w="12700">
            <a:solidFill>
              <a:srgbClr val="134E8E"/>
            </a:solidFill>
            <a:prstDash val="solid"/>
          </a:ln>
        </p:spPr>
      </p:sp>
      <p:sp>
        <p:nvSpPr>
          <p:cNvPr id="3" name="Shape 1"/>
          <p:cNvSpPr/>
          <p:nvPr/>
        </p:nvSpPr>
        <p:spPr>
          <a:xfrm>
            <a:off x="0" y="0"/>
            <a:ext cx="137160" cy="960120"/>
          </a:xfrm>
          <a:prstGeom prst="rect">
            <a:avLst/>
          </a:prstGeom>
          <a:solidFill>
            <a:srgbClr val="C00707"/>
          </a:solidFill>
          <a:ln w="12700">
            <a:solidFill>
              <a:srgbClr val="C00707"/>
            </a:solidFill>
            <a:prstDash val="solid"/>
          </a:ln>
        </p:spPr>
      </p:sp>
      <p:sp>
        <p:nvSpPr>
          <p:cNvPr id="4" name="Text 2"/>
          <p:cNvSpPr/>
          <p:nvPr/>
        </p:nvSpPr>
        <p:spPr>
          <a:xfrm>
            <a:off x="320040" y="0"/>
            <a:ext cx="7772400" cy="594360"/>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01 — Synthèse</a:t>
            </a:r>
            <a:endParaRPr lang="en-US" sz="2200" dirty="0"/>
          </a:p>
        </p:txBody>
      </p:sp>
      <p:sp>
        <p:nvSpPr>
          <p:cNvPr id="5" name="Text 3"/>
          <p:cNvSpPr/>
          <p:nvPr/>
        </p:nvSpPr>
        <p:spPr>
          <a:xfrm>
            <a:off x="320040" y="594360"/>
            <a:ext cx="8503920" cy="320040"/>
          </a:xfrm>
          <a:prstGeom prst="rect">
            <a:avLst/>
          </a:prstGeom>
          <a:noFill/>
          <a:ln/>
        </p:spPr>
        <p:txBody>
          <a:bodyPr wrap="square" lIns="0" tIns="0" rIns="0" bIns="0" rtlCol="0" anchor="ctr"/>
          <a:lstStyle/>
          <a:p>
            <a:pPr indent="0" marL="0">
              <a:buNone/>
            </a:pPr>
            <a:r>
              <a:rPr lang="en-US" sz="1050" i="1" dirty="0">
                <a:solidFill>
                  <a:srgbClr val="8AAFC8"/>
                </a:solidFill>
                <a:latin typeface="Calibri" pitchFamily="34" charset="0"/>
                <a:ea typeface="Calibri" pitchFamily="34" charset="-122"/>
                <a:cs typeface="Calibri" pitchFamily="34" charset="-120"/>
              </a:rPr>
              <a:t>Analyse des besoins — Vue d'ensemble</a:t>
            </a:r>
            <a:endParaRPr lang="en-US" sz="1050" dirty="0"/>
          </a:p>
        </p:txBody>
      </p:sp>
      <p:sp>
        <p:nvSpPr>
          <p:cNvPr id="6" name="Shape 4"/>
          <p:cNvSpPr/>
          <p:nvPr/>
        </p:nvSpPr>
        <p:spPr>
          <a:xfrm>
            <a:off x="0" y="4956048"/>
            <a:ext cx="9144000" cy="182880"/>
          </a:xfrm>
          <a:prstGeom prst="rect">
            <a:avLst/>
          </a:prstGeom>
          <a:solidFill>
            <a:srgbClr val="134E8E"/>
          </a:solidFill>
          <a:ln w="12700">
            <a:solidFill>
              <a:srgbClr val="134E8E"/>
            </a:solidFill>
            <a:prstDash val="solid"/>
          </a:ln>
        </p:spPr>
      </p:sp>
      <p:sp>
        <p:nvSpPr>
          <p:cNvPr id="7" name="Text 5"/>
          <p:cNvSpPr/>
          <p:nvPr/>
        </p:nvSpPr>
        <p:spPr>
          <a:xfrm>
            <a:off x="182880" y="4919472"/>
            <a:ext cx="8778240" cy="219456"/>
          </a:xfrm>
          <a:prstGeom prst="rect">
            <a:avLst/>
          </a:prstGeom>
          <a:noFill/>
          <a:ln/>
        </p:spPr>
        <p:txBody>
          <a:bodyPr wrap="square" lIns="0" tIns="0" rIns="0" bIns="0" rtlCol="0" anchor="ctr"/>
          <a:lstStyle/>
          <a:p>
            <a:pPr algn="r" indent="0" marL="0">
              <a:buNone/>
            </a:pPr>
            <a:r>
              <a:rPr lang="en-US" sz="850" dirty="0">
                <a:solidFill>
                  <a:srgbClr val="FFFFFF"/>
                </a:solidFill>
                <a:latin typeface="Calibri" pitchFamily="34" charset="0"/>
                <a:ea typeface="Calibri" pitchFamily="34" charset="-122"/>
                <a:cs typeface="Calibri" pitchFamily="34" charset="-120"/>
              </a:rPr>
              <a:t>Application Data APD  ·  AFD  ·  DPM Project 2025</a:t>
            </a:r>
            <a:endParaRPr lang="en-US" sz="850" dirty="0"/>
          </a:p>
        </p:txBody>
      </p:sp>
      <p:sp>
        <p:nvSpPr>
          <p:cNvPr id="8" name="Shape 6"/>
          <p:cNvSpPr/>
          <p:nvPr/>
        </p:nvSpPr>
        <p:spPr>
          <a:xfrm>
            <a:off x="274320" y="1115568"/>
            <a:ext cx="2788920" cy="3703320"/>
          </a:xfrm>
          <a:prstGeom prst="rect">
            <a:avLst/>
          </a:prstGeom>
          <a:solidFill>
            <a:srgbClr val="FFFFFF"/>
          </a:solidFill>
          <a:ln w="12700">
            <a:solidFill>
              <a:srgbClr val="DDE6F0"/>
            </a:solidFill>
            <a:prstDash val="solid"/>
          </a:ln>
          <a:effectLst>
            <a:outerShdw sx="100000" sy="100000" kx="0" ky="0" algn="bl" rotWithShape="0" blurRad="101600" dist="38100" dir="8100000">
              <a:srgbClr val="000000">
                <a:alpha val="10000"/>
              </a:srgbClr>
            </a:outerShdw>
          </a:effectLst>
        </p:spPr>
      </p:sp>
      <p:sp>
        <p:nvSpPr>
          <p:cNvPr id="9" name="Shape 7"/>
          <p:cNvSpPr/>
          <p:nvPr/>
        </p:nvSpPr>
        <p:spPr>
          <a:xfrm>
            <a:off x="274320" y="1115568"/>
            <a:ext cx="2788920" cy="457200"/>
          </a:xfrm>
          <a:prstGeom prst="rect">
            <a:avLst/>
          </a:prstGeom>
          <a:solidFill>
            <a:srgbClr val="C00707"/>
          </a:solidFill>
          <a:ln w="12700">
            <a:solidFill>
              <a:srgbClr val="C00707"/>
            </a:solidFill>
            <a:prstDash val="solid"/>
          </a:ln>
        </p:spPr>
      </p:sp>
      <p:sp>
        <p:nvSpPr>
          <p:cNvPr id="10" name="Text 8"/>
          <p:cNvSpPr/>
          <p:nvPr/>
        </p:nvSpPr>
        <p:spPr>
          <a:xfrm>
            <a:off x="411480" y="1170432"/>
            <a:ext cx="2514600" cy="347472"/>
          </a:xfrm>
          <a:prstGeom prst="rect">
            <a:avLst/>
          </a:prstGeom>
          <a:noFill/>
          <a:ln/>
        </p:spPr>
        <p:txBody>
          <a:bodyPr wrap="square" lIns="0" tIns="0" rIns="0" bIns="0" rtlCol="0" anchor="ctr"/>
          <a:lstStyle/>
          <a:p>
            <a:pPr indent="0" marL="0">
              <a:buNone/>
            </a:pPr>
            <a:r>
              <a:rPr lang="en-US" sz="1300" b="1" spc="150" kern="0" dirty="0">
                <a:solidFill>
                  <a:srgbClr val="FFFFFF"/>
                </a:solidFill>
                <a:latin typeface="Calibri" pitchFamily="34" charset="0"/>
                <a:ea typeface="Calibri" pitchFamily="34" charset="-122"/>
                <a:cs typeface="Calibri" pitchFamily="34" charset="-120"/>
              </a:rPr>
              <a:t>PROBLÈMES</a:t>
            </a:r>
            <a:endParaRPr lang="en-US" sz="1300" dirty="0"/>
          </a:p>
        </p:txBody>
      </p:sp>
      <p:sp>
        <p:nvSpPr>
          <p:cNvPr id="11" name="Shape 9"/>
          <p:cNvSpPr/>
          <p:nvPr/>
        </p:nvSpPr>
        <p:spPr>
          <a:xfrm>
            <a:off x="457200" y="1847088"/>
            <a:ext cx="201168" cy="201168"/>
          </a:xfrm>
          <a:prstGeom prst="ellipse">
            <a:avLst/>
          </a:prstGeom>
          <a:solidFill>
            <a:srgbClr val="C00707"/>
          </a:solidFill>
          <a:ln w="12700">
            <a:solidFill>
              <a:srgbClr val="C00707"/>
            </a:solidFill>
            <a:prstDash val="solid"/>
          </a:ln>
        </p:spPr>
      </p:sp>
      <p:sp>
        <p:nvSpPr>
          <p:cNvPr id="12" name="Text 10"/>
          <p:cNvSpPr/>
          <p:nvPr/>
        </p:nvSpPr>
        <p:spPr>
          <a:xfrm>
            <a:off x="777240" y="1755648"/>
            <a:ext cx="2148840" cy="658368"/>
          </a:xfrm>
          <a:prstGeom prst="rect">
            <a:avLst/>
          </a:prstGeom>
          <a:noFill/>
          <a:ln/>
        </p:spPr>
        <p:txBody>
          <a:bodyPr wrap="square" lIns="0" tIns="0" rIns="0" bIns="0" rtlCol="0" anchor="ctr"/>
          <a:lstStyle/>
          <a:p>
            <a:pPr indent="0" marL="0">
              <a:lnSpc>
                <a:spcPct val="130000"/>
              </a:lnSpc>
              <a:buNone/>
            </a:pPr>
            <a:r>
              <a:rPr lang="en-US" sz="1150" dirty="0">
                <a:solidFill>
                  <a:srgbClr val="1A2E4A"/>
                </a:solidFill>
                <a:latin typeface="Calibri" pitchFamily="34" charset="0"/>
                <a:ea typeface="Calibri" pitchFamily="34" charset="-122"/>
                <a:cs typeface="Calibri" pitchFamily="34" charset="-120"/>
              </a:rPr>
              <a:t>Données éparpillées dans de multiples fichiers</a:t>
            </a:r>
            <a:endParaRPr lang="en-US" sz="1150" dirty="0"/>
          </a:p>
        </p:txBody>
      </p:sp>
      <p:sp>
        <p:nvSpPr>
          <p:cNvPr id="13" name="Shape 11"/>
          <p:cNvSpPr/>
          <p:nvPr/>
        </p:nvSpPr>
        <p:spPr>
          <a:xfrm>
            <a:off x="457200" y="2834640"/>
            <a:ext cx="201168" cy="201168"/>
          </a:xfrm>
          <a:prstGeom prst="ellipse">
            <a:avLst/>
          </a:prstGeom>
          <a:solidFill>
            <a:srgbClr val="C00707"/>
          </a:solidFill>
          <a:ln w="12700">
            <a:solidFill>
              <a:srgbClr val="C00707"/>
            </a:solidFill>
            <a:prstDash val="solid"/>
          </a:ln>
        </p:spPr>
      </p:sp>
      <p:sp>
        <p:nvSpPr>
          <p:cNvPr id="14" name="Text 12"/>
          <p:cNvSpPr/>
          <p:nvPr/>
        </p:nvSpPr>
        <p:spPr>
          <a:xfrm>
            <a:off x="777240" y="2743200"/>
            <a:ext cx="2148840" cy="658368"/>
          </a:xfrm>
          <a:prstGeom prst="rect">
            <a:avLst/>
          </a:prstGeom>
          <a:noFill/>
          <a:ln/>
        </p:spPr>
        <p:txBody>
          <a:bodyPr wrap="square" lIns="0" tIns="0" rIns="0" bIns="0" rtlCol="0" anchor="ctr"/>
          <a:lstStyle/>
          <a:p>
            <a:pPr indent="0" marL="0">
              <a:lnSpc>
                <a:spcPct val="130000"/>
              </a:lnSpc>
              <a:buNone/>
            </a:pPr>
            <a:r>
              <a:rPr lang="en-US" sz="1150" dirty="0">
                <a:solidFill>
                  <a:srgbClr val="1A2E4A"/>
                </a:solidFill>
                <a:latin typeface="Calibri" pitchFamily="34" charset="0"/>
                <a:ea typeface="Calibri" pitchFamily="34" charset="-122"/>
                <a:cs typeface="Calibri" pitchFamily="34" charset="-120"/>
              </a:rPr>
              <a:t>Manque de visualisation des tendances</a:t>
            </a:r>
            <a:endParaRPr lang="en-US" sz="1150" dirty="0"/>
          </a:p>
        </p:txBody>
      </p:sp>
      <p:sp>
        <p:nvSpPr>
          <p:cNvPr id="15" name="Shape 13"/>
          <p:cNvSpPr/>
          <p:nvPr/>
        </p:nvSpPr>
        <p:spPr>
          <a:xfrm>
            <a:off x="457200" y="3822192"/>
            <a:ext cx="201168" cy="201168"/>
          </a:xfrm>
          <a:prstGeom prst="ellipse">
            <a:avLst/>
          </a:prstGeom>
          <a:solidFill>
            <a:srgbClr val="C00707"/>
          </a:solidFill>
          <a:ln w="12700">
            <a:solidFill>
              <a:srgbClr val="C00707"/>
            </a:solidFill>
            <a:prstDash val="solid"/>
          </a:ln>
        </p:spPr>
      </p:sp>
      <p:sp>
        <p:nvSpPr>
          <p:cNvPr id="16" name="Text 14"/>
          <p:cNvSpPr/>
          <p:nvPr/>
        </p:nvSpPr>
        <p:spPr>
          <a:xfrm>
            <a:off x="777240" y="3730752"/>
            <a:ext cx="2148840" cy="658368"/>
          </a:xfrm>
          <a:prstGeom prst="rect">
            <a:avLst/>
          </a:prstGeom>
          <a:noFill/>
          <a:ln/>
        </p:spPr>
        <p:txBody>
          <a:bodyPr wrap="square" lIns="0" tIns="0" rIns="0" bIns="0" rtlCol="0" anchor="ctr"/>
          <a:lstStyle/>
          <a:p>
            <a:pPr indent="0" marL="0">
              <a:lnSpc>
                <a:spcPct val="130000"/>
              </a:lnSpc>
              <a:buNone/>
            </a:pPr>
            <a:r>
              <a:rPr lang="en-US" sz="1150" dirty="0">
                <a:solidFill>
                  <a:srgbClr val="1A2E4A"/>
                </a:solidFill>
                <a:latin typeface="Calibri" pitchFamily="34" charset="0"/>
                <a:ea typeface="Calibri" pitchFamily="34" charset="-122"/>
                <a:cs typeface="Calibri" pitchFamily="34" charset="-120"/>
              </a:rPr>
              <a:t>Absence d'outils de prédiction et comparaison</a:t>
            </a:r>
            <a:endParaRPr lang="en-US" sz="1150" dirty="0"/>
          </a:p>
        </p:txBody>
      </p:sp>
      <p:sp>
        <p:nvSpPr>
          <p:cNvPr id="17" name="Shape 15"/>
          <p:cNvSpPr/>
          <p:nvPr/>
        </p:nvSpPr>
        <p:spPr>
          <a:xfrm>
            <a:off x="3246120" y="1115568"/>
            <a:ext cx="2788920" cy="3703320"/>
          </a:xfrm>
          <a:prstGeom prst="rect">
            <a:avLst/>
          </a:prstGeom>
          <a:solidFill>
            <a:srgbClr val="FFFFFF"/>
          </a:solidFill>
          <a:ln w="12700">
            <a:solidFill>
              <a:srgbClr val="DDE6F0"/>
            </a:solidFill>
            <a:prstDash val="solid"/>
          </a:ln>
          <a:effectLst>
            <a:outerShdw sx="100000" sy="100000" kx="0" ky="0" algn="bl" rotWithShape="0" blurRad="101600" dist="38100" dir="8100000">
              <a:srgbClr val="000000">
                <a:alpha val="10000"/>
              </a:srgbClr>
            </a:outerShdw>
          </a:effectLst>
        </p:spPr>
      </p:sp>
      <p:sp>
        <p:nvSpPr>
          <p:cNvPr id="18" name="Shape 16"/>
          <p:cNvSpPr/>
          <p:nvPr/>
        </p:nvSpPr>
        <p:spPr>
          <a:xfrm>
            <a:off x="3246120" y="1115568"/>
            <a:ext cx="2788920" cy="457200"/>
          </a:xfrm>
          <a:prstGeom prst="rect">
            <a:avLst/>
          </a:prstGeom>
          <a:solidFill>
            <a:srgbClr val="134E8E"/>
          </a:solidFill>
          <a:ln w="12700">
            <a:solidFill>
              <a:srgbClr val="134E8E"/>
            </a:solidFill>
            <a:prstDash val="solid"/>
          </a:ln>
        </p:spPr>
      </p:sp>
      <p:sp>
        <p:nvSpPr>
          <p:cNvPr id="19" name="Text 17"/>
          <p:cNvSpPr/>
          <p:nvPr/>
        </p:nvSpPr>
        <p:spPr>
          <a:xfrm>
            <a:off x="3383280" y="1170432"/>
            <a:ext cx="2514600" cy="347472"/>
          </a:xfrm>
          <a:prstGeom prst="rect">
            <a:avLst/>
          </a:prstGeom>
          <a:noFill/>
          <a:ln/>
        </p:spPr>
        <p:txBody>
          <a:bodyPr wrap="square" lIns="0" tIns="0" rIns="0" bIns="0" rtlCol="0" anchor="ctr"/>
          <a:lstStyle/>
          <a:p>
            <a:pPr indent="0" marL="0">
              <a:buNone/>
            </a:pPr>
            <a:r>
              <a:rPr lang="en-US" sz="1300" b="1" spc="150" kern="0" dirty="0">
                <a:solidFill>
                  <a:srgbClr val="FFFFFF"/>
                </a:solidFill>
                <a:latin typeface="Calibri" pitchFamily="34" charset="0"/>
                <a:ea typeface="Calibri" pitchFamily="34" charset="-122"/>
                <a:cs typeface="Calibri" pitchFamily="34" charset="-120"/>
              </a:rPr>
              <a:t>IMPACTS</a:t>
            </a:r>
            <a:endParaRPr lang="en-US" sz="1300" dirty="0"/>
          </a:p>
        </p:txBody>
      </p:sp>
      <p:sp>
        <p:nvSpPr>
          <p:cNvPr id="20" name="Shape 18"/>
          <p:cNvSpPr/>
          <p:nvPr/>
        </p:nvSpPr>
        <p:spPr>
          <a:xfrm>
            <a:off x="3429000" y="1847088"/>
            <a:ext cx="201168" cy="201168"/>
          </a:xfrm>
          <a:prstGeom prst="ellipse">
            <a:avLst/>
          </a:prstGeom>
          <a:solidFill>
            <a:srgbClr val="134E8E"/>
          </a:solidFill>
          <a:ln w="12700">
            <a:solidFill>
              <a:srgbClr val="134E8E"/>
            </a:solidFill>
            <a:prstDash val="solid"/>
          </a:ln>
        </p:spPr>
      </p:sp>
      <p:sp>
        <p:nvSpPr>
          <p:cNvPr id="21" name="Text 19"/>
          <p:cNvSpPr/>
          <p:nvPr/>
        </p:nvSpPr>
        <p:spPr>
          <a:xfrm>
            <a:off x="3749040" y="1755648"/>
            <a:ext cx="2148840" cy="658368"/>
          </a:xfrm>
          <a:prstGeom prst="rect">
            <a:avLst/>
          </a:prstGeom>
          <a:noFill/>
          <a:ln/>
        </p:spPr>
        <p:txBody>
          <a:bodyPr wrap="square" lIns="0" tIns="0" rIns="0" bIns="0" rtlCol="0" anchor="ctr"/>
          <a:lstStyle/>
          <a:p>
            <a:pPr indent="0" marL="0">
              <a:lnSpc>
                <a:spcPct val="130000"/>
              </a:lnSpc>
              <a:buNone/>
            </a:pPr>
            <a:r>
              <a:rPr lang="en-US" sz="1150" dirty="0">
                <a:solidFill>
                  <a:srgbClr val="1A2E4A"/>
                </a:solidFill>
                <a:latin typeface="Calibri" pitchFamily="34" charset="0"/>
                <a:ea typeface="Calibri" pitchFamily="34" charset="-122"/>
                <a:cs typeface="Calibri" pitchFamily="34" charset="-120"/>
              </a:rPr>
              <a:t>Temps de reporting allongé</a:t>
            </a:r>
            <a:endParaRPr lang="en-US" sz="1150" dirty="0"/>
          </a:p>
        </p:txBody>
      </p:sp>
      <p:sp>
        <p:nvSpPr>
          <p:cNvPr id="22" name="Shape 20"/>
          <p:cNvSpPr/>
          <p:nvPr/>
        </p:nvSpPr>
        <p:spPr>
          <a:xfrm>
            <a:off x="3429000" y="2834640"/>
            <a:ext cx="201168" cy="201168"/>
          </a:xfrm>
          <a:prstGeom prst="ellipse">
            <a:avLst/>
          </a:prstGeom>
          <a:solidFill>
            <a:srgbClr val="134E8E"/>
          </a:solidFill>
          <a:ln w="12700">
            <a:solidFill>
              <a:srgbClr val="134E8E"/>
            </a:solidFill>
            <a:prstDash val="solid"/>
          </a:ln>
        </p:spPr>
      </p:sp>
      <p:sp>
        <p:nvSpPr>
          <p:cNvPr id="23" name="Text 21"/>
          <p:cNvSpPr/>
          <p:nvPr/>
        </p:nvSpPr>
        <p:spPr>
          <a:xfrm>
            <a:off x="3749040" y="2743200"/>
            <a:ext cx="2148840" cy="658368"/>
          </a:xfrm>
          <a:prstGeom prst="rect">
            <a:avLst/>
          </a:prstGeom>
          <a:noFill/>
          <a:ln/>
        </p:spPr>
        <p:txBody>
          <a:bodyPr wrap="square" lIns="0" tIns="0" rIns="0" bIns="0" rtlCol="0" anchor="ctr"/>
          <a:lstStyle/>
          <a:p>
            <a:pPr indent="0" marL="0">
              <a:lnSpc>
                <a:spcPct val="130000"/>
              </a:lnSpc>
              <a:buNone/>
            </a:pPr>
            <a:r>
              <a:rPr lang="en-US" sz="1150" dirty="0">
                <a:solidFill>
                  <a:srgbClr val="1A2E4A"/>
                </a:solidFill>
                <a:latin typeface="Calibri" pitchFamily="34" charset="0"/>
                <a:ea typeface="Calibri" pitchFamily="34" charset="-122"/>
                <a:cs typeface="Calibri" pitchFamily="34" charset="-120"/>
              </a:rPr>
              <a:t>Prises de décision moins éclairées</a:t>
            </a:r>
            <a:endParaRPr lang="en-US" sz="1150" dirty="0"/>
          </a:p>
        </p:txBody>
      </p:sp>
      <p:sp>
        <p:nvSpPr>
          <p:cNvPr id="24" name="Shape 22"/>
          <p:cNvSpPr/>
          <p:nvPr/>
        </p:nvSpPr>
        <p:spPr>
          <a:xfrm>
            <a:off x="3429000" y="3822192"/>
            <a:ext cx="201168" cy="201168"/>
          </a:xfrm>
          <a:prstGeom prst="ellipse">
            <a:avLst/>
          </a:prstGeom>
          <a:solidFill>
            <a:srgbClr val="134E8E"/>
          </a:solidFill>
          <a:ln w="12700">
            <a:solidFill>
              <a:srgbClr val="134E8E"/>
            </a:solidFill>
            <a:prstDash val="solid"/>
          </a:ln>
        </p:spPr>
      </p:sp>
      <p:sp>
        <p:nvSpPr>
          <p:cNvPr id="25" name="Text 23"/>
          <p:cNvSpPr/>
          <p:nvPr/>
        </p:nvSpPr>
        <p:spPr>
          <a:xfrm>
            <a:off x="3749040" y="3730752"/>
            <a:ext cx="2148840" cy="658368"/>
          </a:xfrm>
          <a:prstGeom prst="rect">
            <a:avLst/>
          </a:prstGeom>
          <a:noFill/>
          <a:ln/>
        </p:spPr>
        <p:txBody>
          <a:bodyPr wrap="square" lIns="0" tIns="0" rIns="0" bIns="0" rtlCol="0" anchor="ctr"/>
          <a:lstStyle/>
          <a:p>
            <a:pPr indent="0" marL="0">
              <a:lnSpc>
                <a:spcPct val="130000"/>
              </a:lnSpc>
              <a:buNone/>
            </a:pPr>
            <a:r>
              <a:rPr lang="en-US" sz="1150" dirty="0">
                <a:solidFill>
                  <a:srgbClr val="1A2E4A"/>
                </a:solidFill>
                <a:latin typeface="Calibri" pitchFamily="34" charset="0"/>
                <a:ea typeface="Calibri" pitchFamily="34" charset="-122"/>
                <a:cs typeface="Calibri" pitchFamily="34" charset="-120"/>
              </a:rPr>
              <a:t>Difficulté à anticiper les flux financiers</a:t>
            </a:r>
            <a:endParaRPr lang="en-US" sz="1150" dirty="0"/>
          </a:p>
        </p:txBody>
      </p:sp>
      <p:sp>
        <p:nvSpPr>
          <p:cNvPr id="26" name="Shape 24"/>
          <p:cNvSpPr/>
          <p:nvPr/>
        </p:nvSpPr>
        <p:spPr>
          <a:xfrm>
            <a:off x="6217920" y="1115568"/>
            <a:ext cx="2788920" cy="3703320"/>
          </a:xfrm>
          <a:prstGeom prst="rect">
            <a:avLst/>
          </a:prstGeom>
          <a:solidFill>
            <a:srgbClr val="FFFFFF"/>
          </a:solidFill>
          <a:ln w="12700">
            <a:solidFill>
              <a:srgbClr val="DDE6F0"/>
            </a:solidFill>
            <a:prstDash val="solid"/>
          </a:ln>
          <a:effectLst>
            <a:outerShdw sx="100000" sy="100000" kx="0" ky="0" algn="bl" rotWithShape="0" blurRad="101600" dist="38100" dir="8100000">
              <a:srgbClr val="000000">
                <a:alpha val="10000"/>
              </a:srgbClr>
            </a:outerShdw>
          </a:effectLst>
        </p:spPr>
      </p:sp>
      <p:sp>
        <p:nvSpPr>
          <p:cNvPr id="27" name="Shape 25"/>
          <p:cNvSpPr/>
          <p:nvPr/>
        </p:nvSpPr>
        <p:spPr>
          <a:xfrm>
            <a:off x="6217920" y="1115568"/>
            <a:ext cx="2788920" cy="457200"/>
          </a:xfrm>
          <a:prstGeom prst="rect">
            <a:avLst/>
          </a:prstGeom>
          <a:solidFill>
            <a:srgbClr val="1A8A4A"/>
          </a:solidFill>
          <a:ln w="12700">
            <a:solidFill>
              <a:srgbClr val="1A8A4A"/>
            </a:solidFill>
            <a:prstDash val="solid"/>
          </a:ln>
        </p:spPr>
      </p:sp>
      <p:sp>
        <p:nvSpPr>
          <p:cNvPr id="28" name="Text 26"/>
          <p:cNvSpPr/>
          <p:nvPr/>
        </p:nvSpPr>
        <p:spPr>
          <a:xfrm>
            <a:off x="6355080" y="1170432"/>
            <a:ext cx="2514600" cy="347472"/>
          </a:xfrm>
          <a:prstGeom prst="rect">
            <a:avLst/>
          </a:prstGeom>
          <a:noFill/>
          <a:ln/>
        </p:spPr>
        <p:txBody>
          <a:bodyPr wrap="square" lIns="0" tIns="0" rIns="0" bIns="0" rtlCol="0" anchor="ctr"/>
          <a:lstStyle/>
          <a:p>
            <a:pPr indent="0" marL="0">
              <a:buNone/>
            </a:pPr>
            <a:r>
              <a:rPr lang="en-US" sz="1300" b="1" spc="150" kern="0" dirty="0">
                <a:solidFill>
                  <a:srgbClr val="FFFFFF"/>
                </a:solidFill>
                <a:latin typeface="Calibri" pitchFamily="34" charset="0"/>
                <a:ea typeface="Calibri" pitchFamily="34" charset="-122"/>
                <a:cs typeface="Calibri" pitchFamily="34" charset="-120"/>
              </a:rPr>
              <a:t>SOLUTIONS</a:t>
            </a:r>
            <a:endParaRPr lang="en-US" sz="1300" dirty="0"/>
          </a:p>
        </p:txBody>
      </p:sp>
      <p:sp>
        <p:nvSpPr>
          <p:cNvPr id="29" name="Shape 27"/>
          <p:cNvSpPr/>
          <p:nvPr/>
        </p:nvSpPr>
        <p:spPr>
          <a:xfrm>
            <a:off x="6400800" y="1847088"/>
            <a:ext cx="201168" cy="201168"/>
          </a:xfrm>
          <a:prstGeom prst="ellipse">
            <a:avLst/>
          </a:prstGeom>
          <a:solidFill>
            <a:srgbClr val="1A8A4A"/>
          </a:solidFill>
          <a:ln w="12700">
            <a:solidFill>
              <a:srgbClr val="1A8A4A"/>
            </a:solidFill>
            <a:prstDash val="solid"/>
          </a:ln>
        </p:spPr>
      </p:sp>
      <p:sp>
        <p:nvSpPr>
          <p:cNvPr id="30" name="Text 28"/>
          <p:cNvSpPr/>
          <p:nvPr/>
        </p:nvSpPr>
        <p:spPr>
          <a:xfrm>
            <a:off x="6720840" y="1755648"/>
            <a:ext cx="2148840" cy="658368"/>
          </a:xfrm>
          <a:prstGeom prst="rect">
            <a:avLst/>
          </a:prstGeom>
          <a:noFill/>
          <a:ln/>
        </p:spPr>
        <p:txBody>
          <a:bodyPr wrap="square" lIns="0" tIns="0" rIns="0" bIns="0" rtlCol="0" anchor="ctr"/>
          <a:lstStyle/>
          <a:p>
            <a:pPr indent="0" marL="0">
              <a:lnSpc>
                <a:spcPct val="130000"/>
              </a:lnSpc>
              <a:buNone/>
            </a:pPr>
            <a:r>
              <a:rPr lang="en-US" sz="1150" dirty="0">
                <a:solidFill>
                  <a:srgbClr val="1A2E4A"/>
                </a:solidFill>
                <a:latin typeface="Calibri" pitchFamily="34" charset="0"/>
                <a:ea typeface="Calibri" pitchFamily="34" charset="-122"/>
                <a:cs typeface="Calibri" pitchFamily="34" charset="-120"/>
              </a:rPr>
              <a:t>Visualisation consolidée des données APD</a:t>
            </a:r>
            <a:endParaRPr lang="en-US" sz="1150" dirty="0"/>
          </a:p>
        </p:txBody>
      </p:sp>
      <p:sp>
        <p:nvSpPr>
          <p:cNvPr id="31" name="Shape 29"/>
          <p:cNvSpPr/>
          <p:nvPr/>
        </p:nvSpPr>
        <p:spPr>
          <a:xfrm>
            <a:off x="6400800" y="2834640"/>
            <a:ext cx="201168" cy="201168"/>
          </a:xfrm>
          <a:prstGeom prst="ellipse">
            <a:avLst/>
          </a:prstGeom>
          <a:solidFill>
            <a:srgbClr val="1A8A4A"/>
          </a:solidFill>
          <a:ln w="12700">
            <a:solidFill>
              <a:srgbClr val="1A8A4A"/>
            </a:solidFill>
            <a:prstDash val="solid"/>
          </a:ln>
        </p:spPr>
      </p:sp>
      <p:sp>
        <p:nvSpPr>
          <p:cNvPr id="32" name="Text 30"/>
          <p:cNvSpPr/>
          <p:nvPr/>
        </p:nvSpPr>
        <p:spPr>
          <a:xfrm>
            <a:off x="6720840" y="2743200"/>
            <a:ext cx="2148840" cy="658368"/>
          </a:xfrm>
          <a:prstGeom prst="rect">
            <a:avLst/>
          </a:prstGeom>
          <a:noFill/>
          <a:ln/>
        </p:spPr>
        <p:txBody>
          <a:bodyPr wrap="square" lIns="0" tIns="0" rIns="0" bIns="0" rtlCol="0" anchor="ctr"/>
          <a:lstStyle/>
          <a:p>
            <a:pPr indent="0" marL="0">
              <a:lnSpc>
                <a:spcPct val="130000"/>
              </a:lnSpc>
              <a:buNone/>
            </a:pPr>
            <a:r>
              <a:rPr lang="en-US" sz="1150" dirty="0">
                <a:solidFill>
                  <a:srgbClr val="1A2E4A"/>
                </a:solidFill>
                <a:latin typeface="Calibri" pitchFamily="34" charset="0"/>
                <a:ea typeface="Calibri" pitchFamily="34" charset="-122"/>
                <a:cs typeface="Calibri" pitchFamily="34" charset="-120"/>
              </a:rPr>
              <a:t>Modèles prédictifs &amp; simulations</a:t>
            </a:r>
            <a:endParaRPr lang="en-US" sz="1150" dirty="0"/>
          </a:p>
        </p:txBody>
      </p:sp>
      <p:sp>
        <p:nvSpPr>
          <p:cNvPr id="33" name="Shape 31"/>
          <p:cNvSpPr/>
          <p:nvPr/>
        </p:nvSpPr>
        <p:spPr>
          <a:xfrm>
            <a:off x="6400800" y="3822192"/>
            <a:ext cx="201168" cy="201168"/>
          </a:xfrm>
          <a:prstGeom prst="ellipse">
            <a:avLst/>
          </a:prstGeom>
          <a:solidFill>
            <a:srgbClr val="1A8A4A"/>
          </a:solidFill>
          <a:ln w="12700">
            <a:solidFill>
              <a:srgbClr val="1A8A4A"/>
            </a:solidFill>
            <a:prstDash val="solid"/>
          </a:ln>
        </p:spPr>
      </p:sp>
      <p:sp>
        <p:nvSpPr>
          <p:cNvPr id="34" name="Text 32"/>
          <p:cNvSpPr/>
          <p:nvPr/>
        </p:nvSpPr>
        <p:spPr>
          <a:xfrm>
            <a:off x="6720840" y="3730752"/>
            <a:ext cx="2148840" cy="658368"/>
          </a:xfrm>
          <a:prstGeom prst="rect">
            <a:avLst/>
          </a:prstGeom>
          <a:noFill/>
          <a:ln/>
        </p:spPr>
        <p:txBody>
          <a:bodyPr wrap="square" lIns="0" tIns="0" rIns="0" bIns="0" rtlCol="0" anchor="ctr"/>
          <a:lstStyle/>
          <a:p>
            <a:pPr indent="0" marL="0">
              <a:lnSpc>
                <a:spcPct val="130000"/>
              </a:lnSpc>
              <a:buNone/>
            </a:pPr>
            <a:r>
              <a:rPr lang="en-US" sz="1150" dirty="0">
                <a:solidFill>
                  <a:srgbClr val="1A2E4A"/>
                </a:solidFill>
                <a:latin typeface="Calibri" pitchFamily="34" charset="0"/>
                <a:ea typeface="Calibri" pitchFamily="34" charset="-122"/>
                <a:cs typeface="Calibri" pitchFamily="34" charset="-120"/>
              </a:rPr>
              <a:t>Rapports automatisés + comparaisons OCDE</a:t>
            </a:r>
            <a:endParaRPr lang="en-US" sz="11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8F0"/>
        </a:solidFill>
      </p:bgPr>
    </p:bg>
    <p:spTree>
      <p:nvGrpSpPr>
        <p:cNvPr id="1" name=""/>
        <p:cNvGrpSpPr/>
        <p:nvPr/>
      </p:nvGrpSpPr>
      <p:grpSpPr>
        <a:xfrm>
          <a:off x="0" y="0"/>
          <a:ext cx="0" cy="0"/>
          <a:chOff x="0" y="0"/>
          <a:chExt cx="0" cy="0"/>
        </a:xfrm>
      </p:grpSpPr>
      <p:sp>
        <p:nvSpPr>
          <p:cNvPr id="2" name="Shape 0"/>
          <p:cNvSpPr/>
          <p:nvPr/>
        </p:nvSpPr>
        <p:spPr>
          <a:xfrm>
            <a:off x="0" y="0"/>
            <a:ext cx="9144000" cy="960120"/>
          </a:xfrm>
          <a:prstGeom prst="rect">
            <a:avLst/>
          </a:prstGeom>
          <a:solidFill>
            <a:srgbClr val="134E8E"/>
          </a:solidFill>
          <a:ln w="12700">
            <a:solidFill>
              <a:srgbClr val="134E8E"/>
            </a:solidFill>
            <a:prstDash val="solid"/>
          </a:ln>
        </p:spPr>
      </p:sp>
      <p:sp>
        <p:nvSpPr>
          <p:cNvPr id="3" name="Shape 1"/>
          <p:cNvSpPr/>
          <p:nvPr/>
        </p:nvSpPr>
        <p:spPr>
          <a:xfrm>
            <a:off x="0" y="0"/>
            <a:ext cx="137160" cy="960120"/>
          </a:xfrm>
          <a:prstGeom prst="rect">
            <a:avLst/>
          </a:prstGeom>
          <a:solidFill>
            <a:srgbClr val="C00707"/>
          </a:solidFill>
          <a:ln w="12700">
            <a:solidFill>
              <a:srgbClr val="C00707"/>
            </a:solidFill>
            <a:prstDash val="solid"/>
          </a:ln>
        </p:spPr>
      </p:sp>
      <p:sp>
        <p:nvSpPr>
          <p:cNvPr id="4" name="Text 2"/>
          <p:cNvSpPr/>
          <p:nvPr/>
        </p:nvSpPr>
        <p:spPr>
          <a:xfrm>
            <a:off x="320040" y="0"/>
            <a:ext cx="7772400" cy="594360"/>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02 — Pain Points</a:t>
            </a:r>
            <a:endParaRPr lang="en-US" sz="2200" dirty="0"/>
          </a:p>
        </p:txBody>
      </p:sp>
      <p:sp>
        <p:nvSpPr>
          <p:cNvPr id="5" name="Text 3"/>
          <p:cNvSpPr/>
          <p:nvPr/>
        </p:nvSpPr>
        <p:spPr>
          <a:xfrm>
            <a:off x="320040" y="594360"/>
            <a:ext cx="8503920" cy="320040"/>
          </a:xfrm>
          <a:prstGeom prst="rect">
            <a:avLst/>
          </a:prstGeom>
          <a:noFill/>
          <a:ln/>
        </p:spPr>
        <p:txBody>
          <a:bodyPr wrap="square" lIns="0" tIns="0" rIns="0" bIns="0" rtlCol="0" anchor="ctr"/>
          <a:lstStyle/>
          <a:p>
            <a:pPr indent="0" marL="0">
              <a:buNone/>
            </a:pPr>
            <a:r>
              <a:rPr lang="en-US" sz="1050" i="1" dirty="0">
                <a:solidFill>
                  <a:srgbClr val="8AAFC8"/>
                </a:solidFill>
                <a:latin typeface="Calibri" pitchFamily="34" charset="0"/>
                <a:ea typeface="Calibri" pitchFamily="34" charset="-122"/>
                <a:cs typeface="Calibri" pitchFamily="34" charset="-120"/>
              </a:rPr>
              <a:t>Ce qui ne fonctionne pas — 3 problèmes critiques</a:t>
            </a:r>
            <a:endParaRPr lang="en-US" sz="1050" dirty="0"/>
          </a:p>
        </p:txBody>
      </p:sp>
      <p:sp>
        <p:nvSpPr>
          <p:cNvPr id="6" name="Shape 4"/>
          <p:cNvSpPr/>
          <p:nvPr/>
        </p:nvSpPr>
        <p:spPr>
          <a:xfrm>
            <a:off x="0" y="4956048"/>
            <a:ext cx="9144000" cy="182880"/>
          </a:xfrm>
          <a:prstGeom prst="rect">
            <a:avLst/>
          </a:prstGeom>
          <a:solidFill>
            <a:srgbClr val="134E8E"/>
          </a:solidFill>
          <a:ln w="12700">
            <a:solidFill>
              <a:srgbClr val="134E8E"/>
            </a:solidFill>
            <a:prstDash val="solid"/>
          </a:ln>
        </p:spPr>
      </p:sp>
      <p:sp>
        <p:nvSpPr>
          <p:cNvPr id="7" name="Text 5"/>
          <p:cNvSpPr/>
          <p:nvPr/>
        </p:nvSpPr>
        <p:spPr>
          <a:xfrm>
            <a:off x="182880" y="4919472"/>
            <a:ext cx="8778240" cy="219456"/>
          </a:xfrm>
          <a:prstGeom prst="rect">
            <a:avLst/>
          </a:prstGeom>
          <a:noFill/>
          <a:ln/>
        </p:spPr>
        <p:txBody>
          <a:bodyPr wrap="square" lIns="0" tIns="0" rIns="0" bIns="0" rtlCol="0" anchor="ctr"/>
          <a:lstStyle/>
          <a:p>
            <a:pPr algn="r" indent="0" marL="0">
              <a:buNone/>
            </a:pPr>
            <a:r>
              <a:rPr lang="en-US" sz="850" dirty="0">
                <a:solidFill>
                  <a:srgbClr val="FFFFFF"/>
                </a:solidFill>
                <a:latin typeface="Calibri" pitchFamily="34" charset="0"/>
                <a:ea typeface="Calibri" pitchFamily="34" charset="-122"/>
                <a:cs typeface="Calibri" pitchFamily="34" charset="-120"/>
              </a:rPr>
              <a:t>Application Data APD  ·  AFD  ·  DPM Project 2025</a:t>
            </a:r>
            <a:endParaRPr lang="en-US" sz="850" dirty="0"/>
          </a:p>
        </p:txBody>
      </p:sp>
      <p:sp>
        <p:nvSpPr>
          <p:cNvPr id="8" name="Shape 6"/>
          <p:cNvSpPr/>
          <p:nvPr/>
        </p:nvSpPr>
        <p:spPr>
          <a:xfrm>
            <a:off x="274320" y="1115568"/>
            <a:ext cx="2788920" cy="3703320"/>
          </a:xfrm>
          <a:prstGeom prst="rect">
            <a:avLst/>
          </a:prstGeom>
          <a:solidFill>
            <a:srgbClr val="FFFFFF"/>
          </a:solidFill>
          <a:ln w="12700">
            <a:solidFill>
              <a:srgbClr val="DDE6F0"/>
            </a:solidFill>
            <a:prstDash val="solid"/>
          </a:ln>
          <a:effectLst>
            <a:outerShdw sx="100000" sy="100000" kx="0" ky="0" algn="bl" rotWithShape="0" blurRad="101600" dist="38100" dir="8100000">
              <a:srgbClr val="000000">
                <a:alpha val="10000"/>
              </a:srgbClr>
            </a:outerShdw>
          </a:effectLst>
        </p:spPr>
      </p:sp>
      <p:sp>
        <p:nvSpPr>
          <p:cNvPr id="9" name="Shape 7"/>
          <p:cNvSpPr/>
          <p:nvPr/>
        </p:nvSpPr>
        <p:spPr>
          <a:xfrm>
            <a:off x="274320" y="1115568"/>
            <a:ext cx="2788920" cy="54864"/>
          </a:xfrm>
          <a:prstGeom prst="rect">
            <a:avLst/>
          </a:prstGeom>
          <a:solidFill>
            <a:srgbClr val="C00707"/>
          </a:solidFill>
          <a:ln w="12700">
            <a:solidFill>
              <a:srgbClr val="C00707"/>
            </a:solidFill>
            <a:prstDash val="solid"/>
          </a:ln>
        </p:spPr>
      </p:sp>
      <p:sp>
        <p:nvSpPr>
          <p:cNvPr id="10" name="Text 8"/>
          <p:cNvSpPr/>
          <p:nvPr/>
        </p:nvSpPr>
        <p:spPr>
          <a:xfrm>
            <a:off x="411480" y="1188720"/>
            <a:ext cx="685800" cy="685800"/>
          </a:xfrm>
          <a:prstGeom prst="rect">
            <a:avLst/>
          </a:prstGeom>
          <a:noFill/>
          <a:ln/>
        </p:spPr>
        <p:txBody>
          <a:bodyPr wrap="square" lIns="0" tIns="0" rIns="0" bIns="0" rtlCol="0" anchor="ctr"/>
          <a:lstStyle/>
          <a:p>
            <a:pPr indent="0" marL="0">
              <a:buNone/>
            </a:pPr>
            <a:r>
              <a:rPr lang="en-US" sz="4000" b="1" dirty="0">
                <a:solidFill>
                  <a:srgbClr val="E8F2FA"/>
                </a:solidFill>
                <a:latin typeface="Georgia" pitchFamily="34" charset="0"/>
                <a:ea typeface="Georgia" pitchFamily="34" charset="-122"/>
                <a:cs typeface="Georgia" pitchFamily="34" charset="-120"/>
              </a:rPr>
              <a:t>01</a:t>
            </a:r>
            <a:endParaRPr lang="en-US" sz="4000" dirty="0"/>
          </a:p>
        </p:txBody>
      </p:sp>
      <p:sp>
        <p:nvSpPr>
          <p:cNvPr id="11" name="Shape 9"/>
          <p:cNvSpPr/>
          <p:nvPr/>
        </p:nvSpPr>
        <p:spPr>
          <a:xfrm>
            <a:off x="2423160" y="1225296"/>
            <a:ext cx="457200" cy="457200"/>
          </a:xfrm>
          <a:prstGeom prst="ellipse">
            <a:avLst/>
          </a:prstGeom>
          <a:solidFill>
            <a:srgbClr val="C00707"/>
          </a:solidFill>
          <a:ln w="12700">
            <a:solidFill>
              <a:srgbClr val="C00707"/>
            </a:solidFill>
            <a:prstDash val="solid"/>
          </a:ln>
        </p:spPr>
      </p:sp>
      <p:sp>
        <p:nvSpPr>
          <p:cNvPr id="12" name="Text 10"/>
          <p:cNvSpPr/>
          <p:nvPr/>
        </p:nvSpPr>
        <p:spPr>
          <a:xfrm>
            <a:off x="2423160" y="1225296"/>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Georgia" pitchFamily="34" charset="0"/>
                <a:ea typeface="Georgia" pitchFamily="34" charset="-122"/>
                <a:cs typeface="Georgia" pitchFamily="34" charset="-120"/>
              </a:rPr>
              <a:t>!</a:t>
            </a:r>
            <a:endParaRPr lang="en-US" sz="1800" dirty="0"/>
          </a:p>
        </p:txBody>
      </p:sp>
      <p:sp>
        <p:nvSpPr>
          <p:cNvPr id="13" name="Text 11"/>
          <p:cNvSpPr/>
          <p:nvPr/>
        </p:nvSpPr>
        <p:spPr>
          <a:xfrm>
            <a:off x="411480" y="1938528"/>
            <a:ext cx="2514600" cy="502920"/>
          </a:xfrm>
          <a:prstGeom prst="rect">
            <a:avLst/>
          </a:prstGeom>
          <a:noFill/>
          <a:ln/>
        </p:spPr>
        <p:txBody>
          <a:bodyPr wrap="square" lIns="0" tIns="0" rIns="0" bIns="0" rtlCol="0" anchor="ctr"/>
          <a:lstStyle/>
          <a:p>
            <a:pPr indent="0" marL="0">
              <a:lnSpc>
                <a:spcPct val="125000"/>
              </a:lnSpc>
              <a:buNone/>
            </a:pPr>
            <a:r>
              <a:rPr lang="en-US" sz="1300" b="1" dirty="0">
                <a:solidFill>
                  <a:srgbClr val="134E8E"/>
                </a:solidFill>
                <a:latin typeface="Calibri" pitchFamily="34" charset="0"/>
                <a:ea typeface="Calibri" pitchFamily="34" charset="-122"/>
                <a:cs typeface="Calibri" pitchFamily="34" charset="-120"/>
              </a:rPr>
              <a:t>Comparaison &amp; Prédictions</a:t>
            </a:r>
            <a:endParaRPr lang="en-US" sz="1300" dirty="0"/>
          </a:p>
        </p:txBody>
      </p:sp>
      <p:sp>
        <p:nvSpPr>
          <p:cNvPr id="14" name="Shape 12"/>
          <p:cNvSpPr/>
          <p:nvPr/>
        </p:nvSpPr>
        <p:spPr>
          <a:xfrm>
            <a:off x="411480" y="2487168"/>
            <a:ext cx="2514600" cy="0"/>
          </a:xfrm>
          <a:prstGeom prst="line">
            <a:avLst/>
          </a:prstGeom>
          <a:noFill/>
          <a:ln w="12700">
            <a:solidFill>
              <a:srgbClr val="DDE6F0"/>
            </a:solidFill>
            <a:prstDash val="solid"/>
          </a:ln>
        </p:spPr>
      </p:sp>
      <p:sp>
        <p:nvSpPr>
          <p:cNvPr id="15" name="Text 13"/>
          <p:cNvSpPr/>
          <p:nvPr/>
        </p:nvSpPr>
        <p:spPr>
          <a:xfrm>
            <a:off x="411480" y="2560320"/>
            <a:ext cx="2514600" cy="2148840"/>
          </a:xfrm>
          <a:prstGeom prst="rect">
            <a:avLst/>
          </a:prstGeom>
          <a:noFill/>
          <a:ln/>
        </p:spPr>
        <p:txBody>
          <a:bodyPr wrap="square" lIns="0" tIns="0" rIns="0" bIns="0" rtlCol="0" anchor="t"/>
          <a:lstStyle/>
          <a:p>
            <a:pPr indent="0" marL="0">
              <a:lnSpc>
                <a:spcPct val="140000"/>
              </a:lnSpc>
              <a:buNone/>
            </a:pPr>
            <a:r>
              <a:rPr lang="en-US" sz="1050" dirty="0">
                <a:solidFill>
                  <a:srgbClr val="6B7A8D"/>
                </a:solidFill>
                <a:latin typeface="Calibri" pitchFamily="34" charset="0"/>
                <a:ea typeface="Calibri" pitchFamily="34" charset="-122"/>
                <a:cs typeface="Calibri" pitchFamily="34" charset="-120"/>
              </a:rPr>
              <a:t>Absence de moyen de comparaison et de prédictions des aides entre pays et secteurs. Les décideurs ne peuvent pas simuler les scénarios budgétaires futurs ni comparer leurs flux avec d'autres bailleurs (OCDE, Banque Mondiale).</a:t>
            </a:r>
            <a:endParaRPr lang="en-US" sz="1050" dirty="0"/>
          </a:p>
        </p:txBody>
      </p:sp>
      <p:sp>
        <p:nvSpPr>
          <p:cNvPr id="16" name="Shape 14"/>
          <p:cNvSpPr/>
          <p:nvPr/>
        </p:nvSpPr>
        <p:spPr>
          <a:xfrm>
            <a:off x="3246120" y="1115568"/>
            <a:ext cx="2788920" cy="3703320"/>
          </a:xfrm>
          <a:prstGeom prst="rect">
            <a:avLst/>
          </a:prstGeom>
          <a:solidFill>
            <a:srgbClr val="FFFFFF"/>
          </a:solidFill>
          <a:ln w="12700">
            <a:solidFill>
              <a:srgbClr val="DDE6F0"/>
            </a:solidFill>
            <a:prstDash val="solid"/>
          </a:ln>
          <a:effectLst>
            <a:outerShdw sx="100000" sy="100000" kx="0" ky="0" algn="bl" rotWithShape="0" blurRad="101600" dist="38100" dir="8100000">
              <a:srgbClr val="000000">
                <a:alpha val="10000"/>
              </a:srgbClr>
            </a:outerShdw>
          </a:effectLst>
        </p:spPr>
      </p:sp>
      <p:sp>
        <p:nvSpPr>
          <p:cNvPr id="17" name="Shape 15"/>
          <p:cNvSpPr/>
          <p:nvPr/>
        </p:nvSpPr>
        <p:spPr>
          <a:xfrm>
            <a:off x="3246120" y="1115568"/>
            <a:ext cx="2788920" cy="54864"/>
          </a:xfrm>
          <a:prstGeom prst="rect">
            <a:avLst/>
          </a:prstGeom>
          <a:solidFill>
            <a:srgbClr val="C00707"/>
          </a:solidFill>
          <a:ln w="12700">
            <a:solidFill>
              <a:srgbClr val="C00707"/>
            </a:solidFill>
            <a:prstDash val="solid"/>
          </a:ln>
        </p:spPr>
      </p:sp>
      <p:sp>
        <p:nvSpPr>
          <p:cNvPr id="18" name="Text 16"/>
          <p:cNvSpPr/>
          <p:nvPr/>
        </p:nvSpPr>
        <p:spPr>
          <a:xfrm>
            <a:off x="3383280" y="1188720"/>
            <a:ext cx="685800" cy="685800"/>
          </a:xfrm>
          <a:prstGeom prst="rect">
            <a:avLst/>
          </a:prstGeom>
          <a:noFill/>
          <a:ln/>
        </p:spPr>
        <p:txBody>
          <a:bodyPr wrap="square" lIns="0" tIns="0" rIns="0" bIns="0" rtlCol="0" anchor="ctr"/>
          <a:lstStyle/>
          <a:p>
            <a:pPr indent="0" marL="0">
              <a:buNone/>
            </a:pPr>
            <a:r>
              <a:rPr lang="en-US" sz="4000" b="1" dirty="0">
                <a:solidFill>
                  <a:srgbClr val="E8F2FA"/>
                </a:solidFill>
                <a:latin typeface="Georgia" pitchFamily="34" charset="0"/>
                <a:ea typeface="Georgia" pitchFamily="34" charset="-122"/>
                <a:cs typeface="Georgia" pitchFamily="34" charset="-120"/>
              </a:rPr>
              <a:t>02</a:t>
            </a:r>
            <a:endParaRPr lang="en-US" sz="4000" dirty="0"/>
          </a:p>
        </p:txBody>
      </p:sp>
      <p:sp>
        <p:nvSpPr>
          <p:cNvPr id="19" name="Shape 17"/>
          <p:cNvSpPr/>
          <p:nvPr/>
        </p:nvSpPr>
        <p:spPr>
          <a:xfrm>
            <a:off x="5394960" y="1225296"/>
            <a:ext cx="457200" cy="457200"/>
          </a:xfrm>
          <a:prstGeom prst="ellipse">
            <a:avLst/>
          </a:prstGeom>
          <a:solidFill>
            <a:srgbClr val="C00707"/>
          </a:solidFill>
          <a:ln w="12700">
            <a:solidFill>
              <a:srgbClr val="C00707"/>
            </a:solidFill>
            <a:prstDash val="solid"/>
          </a:ln>
        </p:spPr>
      </p:sp>
      <p:sp>
        <p:nvSpPr>
          <p:cNvPr id="20" name="Text 18"/>
          <p:cNvSpPr/>
          <p:nvPr/>
        </p:nvSpPr>
        <p:spPr>
          <a:xfrm>
            <a:off x="5394960" y="1225296"/>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Georgia" pitchFamily="34" charset="0"/>
                <a:ea typeface="Georgia" pitchFamily="34" charset="-122"/>
                <a:cs typeface="Georgia" pitchFamily="34" charset="-120"/>
              </a:rPr>
              <a:t>!</a:t>
            </a:r>
            <a:endParaRPr lang="en-US" sz="1800" dirty="0"/>
          </a:p>
        </p:txBody>
      </p:sp>
      <p:sp>
        <p:nvSpPr>
          <p:cNvPr id="21" name="Text 19"/>
          <p:cNvSpPr/>
          <p:nvPr/>
        </p:nvSpPr>
        <p:spPr>
          <a:xfrm>
            <a:off x="3383280" y="1938528"/>
            <a:ext cx="2514600" cy="502920"/>
          </a:xfrm>
          <a:prstGeom prst="rect">
            <a:avLst/>
          </a:prstGeom>
          <a:noFill/>
          <a:ln/>
        </p:spPr>
        <p:txBody>
          <a:bodyPr wrap="square" lIns="0" tIns="0" rIns="0" bIns="0" rtlCol="0" anchor="ctr"/>
          <a:lstStyle/>
          <a:p>
            <a:pPr indent="0" marL="0">
              <a:lnSpc>
                <a:spcPct val="125000"/>
              </a:lnSpc>
              <a:buNone/>
            </a:pPr>
            <a:r>
              <a:rPr lang="en-US" sz="1300" b="1" dirty="0">
                <a:solidFill>
                  <a:srgbClr val="134E8E"/>
                </a:solidFill>
                <a:latin typeface="Calibri" pitchFamily="34" charset="0"/>
                <a:ea typeface="Calibri" pitchFamily="34" charset="-122"/>
                <a:cs typeface="Calibri" pitchFamily="34" charset="-120"/>
              </a:rPr>
              <a:t>Manque de visualisation</a:t>
            </a:r>
            <a:endParaRPr lang="en-US" sz="1300" dirty="0"/>
          </a:p>
        </p:txBody>
      </p:sp>
      <p:sp>
        <p:nvSpPr>
          <p:cNvPr id="22" name="Shape 20"/>
          <p:cNvSpPr/>
          <p:nvPr/>
        </p:nvSpPr>
        <p:spPr>
          <a:xfrm>
            <a:off x="3383280" y="2487168"/>
            <a:ext cx="2514600" cy="0"/>
          </a:xfrm>
          <a:prstGeom prst="line">
            <a:avLst/>
          </a:prstGeom>
          <a:noFill/>
          <a:ln w="12700">
            <a:solidFill>
              <a:srgbClr val="DDE6F0"/>
            </a:solidFill>
            <a:prstDash val="solid"/>
          </a:ln>
        </p:spPr>
      </p:sp>
      <p:sp>
        <p:nvSpPr>
          <p:cNvPr id="23" name="Text 21"/>
          <p:cNvSpPr/>
          <p:nvPr/>
        </p:nvSpPr>
        <p:spPr>
          <a:xfrm>
            <a:off x="3383280" y="2560320"/>
            <a:ext cx="2514600" cy="2148840"/>
          </a:xfrm>
          <a:prstGeom prst="rect">
            <a:avLst/>
          </a:prstGeom>
          <a:noFill/>
          <a:ln/>
        </p:spPr>
        <p:txBody>
          <a:bodyPr wrap="square" lIns="0" tIns="0" rIns="0" bIns="0" rtlCol="0" anchor="t"/>
          <a:lstStyle/>
          <a:p>
            <a:pPr indent="0" marL="0">
              <a:lnSpc>
                <a:spcPct val="140000"/>
              </a:lnSpc>
              <a:buNone/>
            </a:pPr>
            <a:r>
              <a:rPr lang="en-US" sz="1050" dirty="0">
                <a:solidFill>
                  <a:srgbClr val="6B7A8D"/>
                </a:solidFill>
                <a:latin typeface="Calibri" pitchFamily="34" charset="0"/>
                <a:ea typeface="Calibri" pitchFamily="34" charset="-122"/>
                <a:cs typeface="Calibri" pitchFamily="34" charset="-120"/>
              </a:rPr>
              <a:t>Besoin d'une visualisation simple, rapide et explicative des données disponibles. Les graphiques actuels sont trop techniques, peu adaptés aux non-experts et ne permettent pas d'identifier rapidement les tendances clés.</a:t>
            </a:r>
            <a:endParaRPr lang="en-US" sz="1050" dirty="0"/>
          </a:p>
        </p:txBody>
      </p:sp>
      <p:sp>
        <p:nvSpPr>
          <p:cNvPr id="24" name="Shape 22"/>
          <p:cNvSpPr/>
          <p:nvPr/>
        </p:nvSpPr>
        <p:spPr>
          <a:xfrm>
            <a:off x="6217920" y="1115568"/>
            <a:ext cx="2788920" cy="3703320"/>
          </a:xfrm>
          <a:prstGeom prst="rect">
            <a:avLst/>
          </a:prstGeom>
          <a:solidFill>
            <a:srgbClr val="FFFFFF"/>
          </a:solidFill>
          <a:ln w="12700">
            <a:solidFill>
              <a:srgbClr val="DDE6F0"/>
            </a:solidFill>
            <a:prstDash val="solid"/>
          </a:ln>
          <a:effectLst>
            <a:outerShdw sx="100000" sy="100000" kx="0" ky="0" algn="bl" rotWithShape="0" blurRad="101600" dist="38100" dir="8100000">
              <a:srgbClr val="000000">
                <a:alpha val="10000"/>
              </a:srgbClr>
            </a:outerShdw>
          </a:effectLst>
        </p:spPr>
      </p:sp>
      <p:sp>
        <p:nvSpPr>
          <p:cNvPr id="25" name="Shape 23"/>
          <p:cNvSpPr/>
          <p:nvPr/>
        </p:nvSpPr>
        <p:spPr>
          <a:xfrm>
            <a:off x="6217920" y="1115568"/>
            <a:ext cx="2788920" cy="54864"/>
          </a:xfrm>
          <a:prstGeom prst="rect">
            <a:avLst/>
          </a:prstGeom>
          <a:solidFill>
            <a:srgbClr val="C00707"/>
          </a:solidFill>
          <a:ln w="12700">
            <a:solidFill>
              <a:srgbClr val="C00707"/>
            </a:solidFill>
            <a:prstDash val="solid"/>
          </a:ln>
        </p:spPr>
      </p:sp>
      <p:sp>
        <p:nvSpPr>
          <p:cNvPr id="26" name="Text 24"/>
          <p:cNvSpPr/>
          <p:nvPr/>
        </p:nvSpPr>
        <p:spPr>
          <a:xfrm>
            <a:off x="6355080" y="1188720"/>
            <a:ext cx="685800" cy="685800"/>
          </a:xfrm>
          <a:prstGeom prst="rect">
            <a:avLst/>
          </a:prstGeom>
          <a:noFill/>
          <a:ln/>
        </p:spPr>
        <p:txBody>
          <a:bodyPr wrap="square" lIns="0" tIns="0" rIns="0" bIns="0" rtlCol="0" anchor="ctr"/>
          <a:lstStyle/>
          <a:p>
            <a:pPr indent="0" marL="0">
              <a:buNone/>
            </a:pPr>
            <a:r>
              <a:rPr lang="en-US" sz="4000" b="1" dirty="0">
                <a:solidFill>
                  <a:srgbClr val="E8F2FA"/>
                </a:solidFill>
                <a:latin typeface="Georgia" pitchFamily="34" charset="0"/>
                <a:ea typeface="Georgia" pitchFamily="34" charset="-122"/>
                <a:cs typeface="Georgia" pitchFamily="34" charset="-120"/>
              </a:rPr>
              <a:t>03</a:t>
            </a:r>
            <a:endParaRPr lang="en-US" sz="4000" dirty="0"/>
          </a:p>
        </p:txBody>
      </p:sp>
      <p:sp>
        <p:nvSpPr>
          <p:cNvPr id="27" name="Shape 25"/>
          <p:cNvSpPr/>
          <p:nvPr/>
        </p:nvSpPr>
        <p:spPr>
          <a:xfrm>
            <a:off x="8366760" y="1225296"/>
            <a:ext cx="457200" cy="457200"/>
          </a:xfrm>
          <a:prstGeom prst="ellipse">
            <a:avLst/>
          </a:prstGeom>
          <a:solidFill>
            <a:srgbClr val="C00707"/>
          </a:solidFill>
          <a:ln w="12700">
            <a:solidFill>
              <a:srgbClr val="C00707"/>
            </a:solidFill>
            <a:prstDash val="solid"/>
          </a:ln>
        </p:spPr>
      </p:sp>
      <p:sp>
        <p:nvSpPr>
          <p:cNvPr id="28" name="Text 26"/>
          <p:cNvSpPr/>
          <p:nvPr/>
        </p:nvSpPr>
        <p:spPr>
          <a:xfrm>
            <a:off x="8366760" y="1225296"/>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Georgia" pitchFamily="34" charset="0"/>
                <a:ea typeface="Georgia" pitchFamily="34" charset="-122"/>
                <a:cs typeface="Georgia" pitchFamily="34" charset="-120"/>
              </a:rPr>
              <a:t>!</a:t>
            </a:r>
            <a:endParaRPr lang="en-US" sz="1800" dirty="0"/>
          </a:p>
        </p:txBody>
      </p:sp>
      <p:sp>
        <p:nvSpPr>
          <p:cNvPr id="29" name="Text 27"/>
          <p:cNvSpPr/>
          <p:nvPr/>
        </p:nvSpPr>
        <p:spPr>
          <a:xfrm>
            <a:off x="6355080" y="1938528"/>
            <a:ext cx="2514600" cy="502920"/>
          </a:xfrm>
          <a:prstGeom prst="rect">
            <a:avLst/>
          </a:prstGeom>
          <a:noFill/>
          <a:ln/>
        </p:spPr>
        <p:txBody>
          <a:bodyPr wrap="square" lIns="0" tIns="0" rIns="0" bIns="0" rtlCol="0" anchor="ctr"/>
          <a:lstStyle/>
          <a:p>
            <a:pPr indent="0" marL="0">
              <a:lnSpc>
                <a:spcPct val="125000"/>
              </a:lnSpc>
              <a:buNone/>
            </a:pPr>
            <a:r>
              <a:rPr lang="en-US" sz="1300" b="1" dirty="0">
                <a:solidFill>
                  <a:srgbClr val="134E8E"/>
                </a:solidFill>
                <a:latin typeface="Calibri" pitchFamily="34" charset="0"/>
                <a:ea typeface="Calibri" pitchFamily="34" charset="-122"/>
                <a:cs typeface="Calibri" pitchFamily="34" charset="-120"/>
              </a:rPr>
              <a:t>Dispersion des informations</a:t>
            </a:r>
            <a:endParaRPr lang="en-US" sz="1300" dirty="0"/>
          </a:p>
        </p:txBody>
      </p:sp>
      <p:sp>
        <p:nvSpPr>
          <p:cNvPr id="30" name="Shape 28"/>
          <p:cNvSpPr/>
          <p:nvPr/>
        </p:nvSpPr>
        <p:spPr>
          <a:xfrm>
            <a:off x="6355080" y="2487168"/>
            <a:ext cx="2514600" cy="0"/>
          </a:xfrm>
          <a:prstGeom prst="line">
            <a:avLst/>
          </a:prstGeom>
          <a:noFill/>
          <a:ln w="12700">
            <a:solidFill>
              <a:srgbClr val="DDE6F0"/>
            </a:solidFill>
            <a:prstDash val="solid"/>
          </a:ln>
        </p:spPr>
      </p:sp>
      <p:sp>
        <p:nvSpPr>
          <p:cNvPr id="31" name="Text 29"/>
          <p:cNvSpPr/>
          <p:nvPr/>
        </p:nvSpPr>
        <p:spPr>
          <a:xfrm>
            <a:off x="6355080" y="2560320"/>
            <a:ext cx="2514600" cy="2148840"/>
          </a:xfrm>
          <a:prstGeom prst="rect">
            <a:avLst/>
          </a:prstGeom>
          <a:noFill/>
          <a:ln/>
        </p:spPr>
        <p:txBody>
          <a:bodyPr wrap="square" lIns="0" tIns="0" rIns="0" bIns="0" rtlCol="0" anchor="t"/>
          <a:lstStyle/>
          <a:p>
            <a:pPr indent="0" marL="0">
              <a:lnSpc>
                <a:spcPct val="140000"/>
              </a:lnSpc>
              <a:buNone/>
            </a:pPr>
            <a:r>
              <a:rPr lang="en-US" sz="1050" dirty="0">
                <a:solidFill>
                  <a:srgbClr val="6B7A8D"/>
                </a:solidFill>
                <a:latin typeface="Calibri" pitchFamily="34" charset="0"/>
                <a:ea typeface="Calibri" pitchFamily="34" charset="-122"/>
                <a:cs typeface="Calibri" pitchFamily="34" charset="-120"/>
              </a:rPr>
              <a:t>Les informations sont éparpillées dans de multiples fichiers Excel, rendant l'accès et la synthèse difficiles. Chaque rapport nécessite une compilation manuelle chronophage et source d'erreurs.</a:t>
            </a:r>
            <a:endParaRPr lang="en-US" sz="10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8F0"/>
        </a:solidFill>
      </p:bgPr>
    </p:bg>
    <p:spTree>
      <p:nvGrpSpPr>
        <p:cNvPr id="1" name=""/>
        <p:cNvGrpSpPr/>
        <p:nvPr/>
      </p:nvGrpSpPr>
      <p:grpSpPr>
        <a:xfrm>
          <a:off x="0" y="0"/>
          <a:ext cx="0" cy="0"/>
          <a:chOff x="0" y="0"/>
          <a:chExt cx="0" cy="0"/>
        </a:xfrm>
      </p:grpSpPr>
      <p:sp>
        <p:nvSpPr>
          <p:cNvPr id="2" name="Shape 0"/>
          <p:cNvSpPr/>
          <p:nvPr/>
        </p:nvSpPr>
        <p:spPr>
          <a:xfrm>
            <a:off x="0" y="0"/>
            <a:ext cx="9144000" cy="960120"/>
          </a:xfrm>
          <a:prstGeom prst="rect">
            <a:avLst/>
          </a:prstGeom>
          <a:solidFill>
            <a:srgbClr val="134E8E"/>
          </a:solidFill>
          <a:ln w="12700">
            <a:solidFill>
              <a:srgbClr val="134E8E"/>
            </a:solidFill>
            <a:prstDash val="solid"/>
          </a:ln>
        </p:spPr>
      </p:sp>
      <p:sp>
        <p:nvSpPr>
          <p:cNvPr id="3" name="Shape 1"/>
          <p:cNvSpPr/>
          <p:nvPr/>
        </p:nvSpPr>
        <p:spPr>
          <a:xfrm>
            <a:off x="0" y="0"/>
            <a:ext cx="137160" cy="960120"/>
          </a:xfrm>
          <a:prstGeom prst="rect">
            <a:avLst/>
          </a:prstGeom>
          <a:solidFill>
            <a:srgbClr val="C00707"/>
          </a:solidFill>
          <a:ln w="12700">
            <a:solidFill>
              <a:srgbClr val="C00707"/>
            </a:solidFill>
            <a:prstDash val="solid"/>
          </a:ln>
        </p:spPr>
      </p:sp>
      <p:sp>
        <p:nvSpPr>
          <p:cNvPr id="4" name="Text 2"/>
          <p:cNvSpPr/>
          <p:nvPr/>
        </p:nvSpPr>
        <p:spPr>
          <a:xfrm>
            <a:off x="320040" y="0"/>
            <a:ext cx="7772400" cy="594360"/>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03 — Personas</a:t>
            </a:r>
            <a:endParaRPr lang="en-US" sz="2200" dirty="0"/>
          </a:p>
        </p:txBody>
      </p:sp>
      <p:sp>
        <p:nvSpPr>
          <p:cNvPr id="5" name="Text 3"/>
          <p:cNvSpPr/>
          <p:nvPr/>
        </p:nvSpPr>
        <p:spPr>
          <a:xfrm>
            <a:off x="320040" y="594360"/>
            <a:ext cx="8503920" cy="320040"/>
          </a:xfrm>
          <a:prstGeom prst="rect">
            <a:avLst/>
          </a:prstGeom>
          <a:noFill/>
          <a:ln/>
        </p:spPr>
        <p:txBody>
          <a:bodyPr wrap="square" lIns="0" tIns="0" rIns="0" bIns="0" rtlCol="0" anchor="ctr"/>
          <a:lstStyle/>
          <a:p>
            <a:pPr indent="0" marL="0">
              <a:buNone/>
            </a:pPr>
            <a:r>
              <a:rPr lang="en-US" sz="1050" i="1" dirty="0">
                <a:solidFill>
                  <a:srgbClr val="8AAFC8"/>
                </a:solidFill>
                <a:latin typeface="Calibri" pitchFamily="34" charset="0"/>
                <a:ea typeface="Calibri" pitchFamily="34" charset="-122"/>
                <a:cs typeface="Calibri" pitchFamily="34" charset="-120"/>
              </a:rPr>
              <a:t>3 profils utilisateurs cibles — Application Data APD</a:t>
            </a:r>
            <a:endParaRPr lang="en-US" sz="1050" dirty="0"/>
          </a:p>
        </p:txBody>
      </p:sp>
      <p:sp>
        <p:nvSpPr>
          <p:cNvPr id="6" name="Shape 4"/>
          <p:cNvSpPr/>
          <p:nvPr/>
        </p:nvSpPr>
        <p:spPr>
          <a:xfrm>
            <a:off x="0" y="4956048"/>
            <a:ext cx="9144000" cy="182880"/>
          </a:xfrm>
          <a:prstGeom prst="rect">
            <a:avLst/>
          </a:prstGeom>
          <a:solidFill>
            <a:srgbClr val="134E8E"/>
          </a:solidFill>
          <a:ln w="12700">
            <a:solidFill>
              <a:srgbClr val="134E8E"/>
            </a:solidFill>
            <a:prstDash val="solid"/>
          </a:ln>
        </p:spPr>
      </p:sp>
      <p:sp>
        <p:nvSpPr>
          <p:cNvPr id="7" name="Text 5"/>
          <p:cNvSpPr/>
          <p:nvPr/>
        </p:nvSpPr>
        <p:spPr>
          <a:xfrm>
            <a:off x="182880" y="4919472"/>
            <a:ext cx="8778240" cy="219456"/>
          </a:xfrm>
          <a:prstGeom prst="rect">
            <a:avLst/>
          </a:prstGeom>
          <a:noFill/>
          <a:ln/>
        </p:spPr>
        <p:txBody>
          <a:bodyPr wrap="square" lIns="0" tIns="0" rIns="0" bIns="0" rtlCol="0" anchor="ctr"/>
          <a:lstStyle/>
          <a:p>
            <a:pPr algn="r" indent="0" marL="0">
              <a:buNone/>
            </a:pPr>
            <a:r>
              <a:rPr lang="en-US" sz="850" dirty="0">
                <a:solidFill>
                  <a:srgbClr val="FFFFFF"/>
                </a:solidFill>
                <a:latin typeface="Calibri" pitchFamily="34" charset="0"/>
                <a:ea typeface="Calibri" pitchFamily="34" charset="-122"/>
                <a:cs typeface="Calibri" pitchFamily="34" charset="-120"/>
              </a:rPr>
              <a:t>Application Data APD  ·  AFD  ·  DPM Project 2025</a:t>
            </a:r>
            <a:endParaRPr lang="en-US" sz="850" dirty="0"/>
          </a:p>
        </p:txBody>
      </p:sp>
      <p:sp>
        <p:nvSpPr>
          <p:cNvPr id="8" name="Shape 6"/>
          <p:cNvSpPr/>
          <p:nvPr/>
        </p:nvSpPr>
        <p:spPr>
          <a:xfrm>
            <a:off x="256032" y="1115568"/>
            <a:ext cx="2788920" cy="3703320"/>
          </a:xfrm>
          <a:prstGeom prst="rect">
            <a:avLst/>
          </a:prstGeom>
          <a:solidFill>
            <a:srgbClr val="FFFFFF"/>
          </a:solidFill>
          <a:ln w="12700">
            <a:solidFill>
              <a:srgbClr val="DDE6F0"/>
            </a:solidFill>
            <a:prstDash val="solid"/>
          </a:ln>
          <a:effectLst>
            <a:outerShdw sx="100000" sy="100000" kx="0" ky="0" algn="bl" rotWithShape="0" blurRad="101600" dist="38100" dir="8100000">
              <a:srgbClr val="000000">
                <a:alpha val="10000"/>
              </a:srgbClr>
            </a:outerShdw>
          </a:effectLst>
        </p:spPr>
      </p:sp>
      <p:sp>
        <p:nvSpPr>
          <p:cNvPr id="9" name="Shape 7"/>
          <p:cNvSpPr/>
          <p:nvPr/>
        </p:nvSpPr>
        <p:spPr>
          <a:xfrm>
            <a:off x="256032" y="1115568"/>
            <a:ext cx="2788920" cy="1051560"/>
          </a:xfrm>
          <a:prstGeom prst="rect">
            <a:avLst/>
          </a:prstGeom>
          <a:solidFill>
            <a:srgbClr val="134E8E"/>
          </a:solidFill>
          <a:ln w="12700">
            <a:solidFill>
              <a:srgbClr val="134E8E"/>
            </a:solidFill>
            <a:prstDash val="solid"/>
          </a:ln>
        </p:spPr>
      </p:sp>
      <p:sp>
        <p:nvSpPr>
          <p:cNvPr id="10" name="Shape 8"/>
          <p:cNvSpPr/>
          <p:nvPr/>
        </p:nvSpPr>
        <p:spPr>
          <a:xfrm>
            <a:off x="420624" y="1243584"/>
            <a:ext cx="749808" cy="749808"/>
          </a:xfrm>
          <a:prstGeom prst="ellipse">
            <a:avLst/>
          </a:prstGeom>
          <a:solidFill>
            <a:srgbClr val="FFFFFF"/>
          </a:solidFill>
          <a:ln w="12700">
            <a:solidFill>
              <a:srgbClr val="FFFFFF"/>
            </a:solidFill>
            <a:prstDash val="solid"/>
          </a:ln>
        </p:spPr>
      </p:sp>
      <p:sp>
        <p:nvSpPr>
          <p:cNvPr id="11" name="Text 9"/>
          <p:cNvSpPr/>
          <p:nvPr/>
        </p:nvSpPr>
        <p:spPr>
          <a:xfrm>
            <a:off x="420624" y="1243584"/>
            <a:ext cx="749808" cy="749808"/>
          </a:xfrm>
          <a:prstGeom prst="rect">
            <a:avLst/>
          </a:prstGeom>
          <a:noFill/>
          <a:ln/>
        </p:spPr>
        <p:txBody>
          <a:bodyPr wrap="square" lIns="0" tIns="0" rIns="0" bIns="0" rtlCol="0" anchor="ctr"/>
          <a:lstStyle/>
          <a:p>
            <a:pPr algn="ctr" indent="0" marL="0">
              <a:buNone/>
            </a:pPr>
            <a:r>
              <a:rPr lang="en-US" sz="1800" b="1" dirty="0">
                <a:solidFill>
                  <a:srgbClr val="134E8E"/>
                </a:solidFill>
                <a:latin typeface="Georgia" pitchFamily="34" charset="0"/>
                <a:ea typeface="Georgia" pitchFamily="34" charset="-122"/>
                <a:cs typeface="Georgia" pitchFamily="34" charset="-120"/>
              </a:rPr>
              <a:t>SM</a:t>
            </a:r>
            <a:endParaRPr lang="en-US" sz="1800" dirty="0"/>
          </a:p>
        </p:txBody>
      </p:sp>
      <p:sp>
        <p:nvSpPr>
          <p:cNvPr id="12" name="Text 10"/>
          <p:cNvSpPr/>
          <p:nvPr/>
        </p:nvSpPr>
        <p:spPr>
          <a:xfrm>
            <a:off x="1261872" y="1271016"/>
            <a:ext cx="1664208" cy="274320"/>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Sophie Martin</a:t>
            </a:r>
            <a:endParaRPr lang="en-US" sz="1200" dirty="0"/>
          </a:p>
        </p:txBody>
      </p:sp>
      <p:sp>
        <p:nvSpPr>
          <p:cNvPr id="13" name="Text 11"/>
          <p:cNvSpPr/>
          <p:nvPr/>
        </p:nvSpPr>
        <p:spPr>
          <a:xfrm>
            <a:off x="1261872" y="1545336"/>
            <a:ext cx="1664208" cy="237744"/>
          </a:xfrm>
          <a:prstGeom prst="rect">
            <a:avLst/>
          </a:prstGeom>
          <a:noFill/>
          <a:ln/>
        </p:spPr>
        <p:txBody>
          <a:bodyPr wrap="square" lIns="0" tIns="0" rIns="0" bIns="0" rtlCol="0" anchor="ctr"/>
          <a:lstStyle/>
          <a:p>
            <a:pPr indent="0" marL="0">
              <a:buNone/>
            </a:pPr>
            <a:r>
              <a:rPr lang="en-US" sz="950" i="1" dirty="0">
                <a:solidFill>
                  <a:srgbClr val="C8DCEC"/>
                </a:solidFill>
                <a:latin typeface="Calibri" pitchFamily="34" charset="0"/>
                <a:ea typeface="Calibri" pitchFamily="34" charset="-122"/>
                <a:cs typeface="Calibri" pitchFamily="34" charset="-120"/>
              </a:rPr>
              <a:t>Responsable de Programme</a:t>
            </a:r>
            <a:endParaRPr lang="en-US" sz="950" dirty="0"/>
          </a:p>
        </p:txBody>
      </p:sp>
      <p:sp>
        <p:nvSpPr>
          <p:cNvPr id="14" name="Text 12"/>
          <p:cNvSpPr/>
          <p:nvPr/>
        </p:nvSpPr>
        <p:spPr>
          <a:xfrm>
            <a:off x="1261872" y="1783080"/>
            <a:ext cx="1664208" cy="201168"/>
          </a:xfrm>
          <a:prstGeom prst="rect">
            <a:avLst/>
          </a:prstGeom>
          <a:noFill/>
          <a:ln/>
        </p:spPr>
        <p:txBody>
          <a:bodyPr wrap="square" lIns="0" tIns="0" rIns="0" bIns="0" rtlCol="0" anchor="ctr"/>
          <a:lstStyle/>
          <a:p>
            <a:pPr indent="0" marL="0">
              <a:buNone/>
            </a:pPr>
            <a:r>
              <a:rPr lang="en-US" sz="900" dirty="0">
                <a:solidFill>
                  <a:srgbClr val="C8DCEC"/>
                </a:solidFill>
                <a:latin typeface="Calibri" pitchFamily="34" charset="0"/>
                <a:ea typeface="Calibri" pitchFamily="34" charset="-122"/>
                <a:cs typeface="Calibri" pitchFamily="34" charset="-120"/>
              </a:rPr>
              <a:t>AFD  ·  38 ans · Paris</a:t>
            </a:r>
            <a:endParaRPr lang="en-US" sz="900" dirty="0"/>
          </a:p>
        </p:txBody>
      </p:sp>
      <p:sp>
        <p:nvSpPr>
          <p:cNvPr id="15" name="Text 13"/>
          <p:cNvSpPr/>
          <p:nvPr/>
        </p:nvSpPr>
        <p:spPr>
          <a:xfrm>
            <a:off x="393192" y="2258568"/>
            <a:ext cx="2514600" cy="594360"/>
          </a:xfrm>
          <a:prstGeom prst="rect">
            <a:avLst/>
          </a:prstGeom>
          <a:noFill/>
          <a:ln/>
        </p:spPr>
        <p:txBody>
          <a:bodyPr wrap="square" lIns="0" tIns="0" rIns="0" bIns="0" rtlCol="0" anchor="ctr"/>
          <a:lstStyle/>
          <a:p>
            <a:pPr indent="0" marL="0">
              <a:lnSpc>
                <a:spcPct val="130000"/>
              </a:lnSpc>
              <a:buNone/>
            </a:pPr>
            <a:r>
              <a:rPr lang="en-US" sz="1000" i="1" dirty="0">
                <a:solidFill>
                  <a:srgbClr val="134E8E"/>
                </a:solidFill>
                <a:latin typeface="Georgia" pitchFamily="34" charset="0"/>
                <a:ea typeface="Georgia" pitchFamily="34" charset="-122"/>
                <a:cs typeface="Georgia" pitchFamily="34" charset="-120"/>
              </a:rPr>
              <a:t>« J'ai besoin de données fiables pour orienter nos engagements. »</a:t>
            </a:r>
            <a:endParaRPr lang="en-US" sz="1000" dirty="0"/>
          </a:p>
        </p:txBody>
      </p:sp>
      <p:sp>
        <p:nvSpPr>
          <p:cNvPr id="16" name="Shape 14"/>
          <p:cNvSpPr/>
          <p:nvPr/>
        </p:nvSpPr>
        <p:spPr>
          <a:xfrm>
            <a:off x="393192" y="2926080"/>
            <a:ext cx="2514600" cy="0"/>
          </a:xfrm>
          <a:prstGeom prst="line">
            <a:avLst/>
          </a:prstGeom>
          <a:noFill/>
          <a:ln w="12700">
            <a:solidFill>
              <a:srgbClr val="DDE6F0"/>
            </a:solidFill>
            <a:prstDash val="solid"/>
          </a:ln>
        </p:spPr>
      </p:sp>
      <p:sp>
        <p:nvSpPr>
          <p:cNvPr id="17" name="Text 15"/>
          <p:cNvSpPr/>
          <p:nvPr/>
        </p:nvSpPr>
        <p:spPr>
          <a:xfrm>
            <a:off x="393192" y="2980944"/>
            <a:ext cx="1188720" cy="201168"/>
          </a:xfrm>
          <a:prstGeom prst="rect">
            <a:avLst/>
          </a:prstGeom>
          <a:noFill/>
          <a:ln/>
        </p:spPr>
        <p:txBody>
          <a:bodyPr wrap="square" lIns="0" tIns="0" rIns="0" bIns="0" rtlCol="0" anchor="ctr"/>
          <a:lstStyle/>
          <a:p>
            <a:pPr indent="0" marL="0">
              <a:buNone/>
            </a:pPr>
            <a:r>
              <a:rPr lang="en-US" sz="850" b="1" spc="100" kern="0" dirty="0">
                <a:solidFill>
                  <a:srgbClr val="134E8E"/>
                </a:solidFill>
                <a:latin typeface="Calibri" pitchFamily="34" charset="0"/>
                <a:ea typeface="Calibri" pitchFamily="34" charset="-122"/>
                <a:cs typeface="Calibri" pitchFamily="34" charset="-120"/>
              </a:rPr>
              <a:t>BESOINS</a:t>
            </a:r>
            <a:endParaRPr lang="en-US" sz="850" dirty="0"/>
          </a:p>
        </p:txBody>
      </p:sp>
      <p:sp>
        <p:nvSpPr>
          <p:cNvPr id="18" name="Shape 16"/>
          <p:cNvSpPr/>
          <p:nvPr/>
        </p:nvSpPr>
        <p:spPr>
          <a:xfrm>
            <a:off x="420624" y="3246120"/>
            <a:ext cx="109728" cy="109728"/>
          </a:xfrm>
          <a:prstGeom prst="ellipse">
            <a:avLst/>
          </a:prstGeom>
          <a:solidFill>
            <a:srgbClr val="134E8E"/>
          </a:solidFill>
          <a:ln w="12700">
            <a:solidFill>
              <a:srgbClr val="134E8E"/>
            </a:solidFill>
            <a:prstDash val="solid"/>
          </a:ln>
        </p:spPr>
      </p:sp>
      <p:sp>
        <p:nvSpPr>
          <p:cNvPr id="19" name="Text 17"/>
          <p:cNvSpPr/>
          <p:nvPr/>
        </p:nvSpPr>
        <p:spPr>
          <a:xfrm>
            <a:off x="621792" y="3191256"/>
            <a:ext cx="2286000" cy="347472"/>
          </a:xfrm>
          <a:prstGeom prst="rect">
            <a:avLst/>
          </a:prstGeom>
          <a:noFill/>
          <a:ln/>
        </p:spPr>
        <p:txBody>
          <a:bodyPr wrap="square" lIns="0" tIns="0" rIns="0" bIns="0" rtlCol="0" anchor="ctr"/>
          <a:lstStyle/>
          <a:p>
            <a:pPr indent="0" marL="0">
              <a:buNone/>
            </a:pPr>
            <a:r>
              <a:rPr lang="en-US" sz="1000" dirty="0">
                <a:solidFill>
                  <a:srgbClr val="1A2E4A"/>
                </a:solidFill>
                <a:latin typeface="Calibri" pitchFamily="34" charset="0"/>
                <a:ea typeface="Calibri" pitchFamily="34" charset="-122"/>
                <a:cs typeface="Calibri" pitchFamily="34" charset="-120"/>
              </a:rPr>
              <a:t>Visualisation par pays / secteur</a:t>
            </a:r>
            <a:endParaRPr lang="en-US" sz="1000" dirty="0"/>
          </a:p>
        </p:txBody>
      </p:sp>
      <p:sp>
        <p:nvSpPr>
          <p:cNvPr id="20" name="Shape 18"/>
          <p:cNvSpPr/>
          <p:nvPr/>
        </p:nvSpPr>
        <p:spPr>
          <a:xfrm>
            <a:off x="420624" y="3703320"/>
            <a:ext cx="109728" cy="109728"/>
          </a:xfrm>
          <a:prstGeom prst="ellipse">
            <a:avLst/>
          </a:prstGeom>
          <a:solidFill>
            <a:srgbClr val="134E8E"/>
          </a:solidFill>
          <a:ln w="12700">
            <a:solidFill>
              <a:srgbClr val="134E8E"/>
            </a:solidFill>
            <a:prstDash val="solid"/>
          </a:ln>
        </p:spPr>
      </p:sp>
      <p:sp>
        <p:nvSpPr>
          <p:cNvPr id="21" name="Text 19"/>
          <p:cNvSpPr/>
          <p:nvPr/>
        </p:nvSpPr>
        <p:spPr>
          <a:xfrm>
            <a:off x="621792" y="3648456"/>
            <a:ext cx="2286000" cy="347472"/>
          </a:xfrm>
          <a:prstGeom prst="rect">
            <a:avLst/>
          </a:prstGeom>
          <a:noFill/>
          <a:ln/>
        </p:spPr>
        <p:txBody>
          <a:bodyPr wrap="square" lIns="0" tIns="0" rIns="0" bIns="0" rtlCol="0" anchor="ctr"/>
          <a:lstStyle/>
          <a:p>
            <a:pPr indent="0" marL="0">
              <a:buNone/>
            </a:pPr>
            <a:r>
              <a:rPr lang="en-US" sz="1000" dirty="0">
                <a:solidFill>
                  <a:srgbClr val="1A2E4A"/>
                </a:solidFill>
                <a:latin typeface="Calibri" pitchFamily="34" charset="0"/>
                <a:ea typeface="Calibri" pitchFamily="34" charset="-122"/>
                <a:cs typeface="Calibri" pitchFamily="34" charset="-120"/>
              </a:rPr>
              <a:t>Tendances sur 5–10 ans</a:t>
            </a:r>
            <a:endParaRPr lang="en-US" sz="1000" dirty="0"/>
          </a:p>
        </p:txBody>
      </p:sp>
      <p:sp>
        <p:nvSpPr>
          <p:cNvPr id="22" name="Shape 20"/>
          <p:cNvSpPr/>
          <p:nvPr/>
        </p:nvSpPr>
        <p:spPr>
          <a:xfrm>
            <a:off x="420624" y="4160520"/>
            <a:ext cx="109728" cy="109728"/>
          </a:xfrm>
          <a:prstGeom prst="ellipse">
            <a:avLst/>
          </a:prstGeom>
          <a:solidFill>
            <a:srgbClr val="134E8E"/>
          </a:solidFill>
          <a:ln w="12700">
            <a:solidFill>
              <a:srgbClr val="134E8E"/>
            </a:solidFill>
            <a:prstDash val="solid"/>
          </a:ln>
        </p:spPr>
      </p:sp>
      <p:sp>
        <p:nvSpPr>
          <p:cNvPr id="23" name="Text 21"/>
          <p:cNvSpPr/>
          <p:nvPr/>
        </p:nvSpPr>
        <p:spPr>
          <a:xfrm>
            <a:off x="621792" y="4105656"/>
            <a:ext cx="2286000" cy="347472"/>
          </a:xfrm>
          <a:prstGeom prst="rect">
            <a:avLst/>
          </a:prstGeom>
          <a:noFill/>
          <a:ln/>
        </p:spPr>
        <p:txBody>
          <a:bodyPr wrap="square" lIns="0" tIns="0" rIns="0" bIns="0" rtlCol="0" anchor="ctr"/>
          <a:lstStyle/>
          <a:p>
            <a:pPr indent="0" marL="0">
              <a:buNone/>
            </a:pPr>
            <a:r>
              <a:rPr lang="en-US" sz="1000" dirty="0">
                <a:solidFill>
                  <a:srgbClr val="1A2E4A"/>
                </a:solidFill>
                <a:latin typeface="Calibri" pitchFamily="34" charset="0"/>
                <a:ea typeface="Calibri" pitchFamily="34" charset="-122"/>
                <a:cs typeface="Calibri" pitchFamily="34" charset="-120"/>
              </a:rPr>
              <a:t>Export rapports en 1 clic</a:t>
            </a:r>
            <a:endParaRPr lang="en-US" sz="1000" dirty="0"/>
          </a:p>
        </p:txBody>
      </p:sp>
      <p:sp>
        <p:nvSpPr>
          <p:cNvPr id="24" name="Shape 22"/>
          <p:cNvSpPr/>
          <p:nvPr/>
        </p:nvSpPr>
        <p:spPr>
          <a:xfrm>
            <a:off x="3209544" y="1115568"/>
            <a:ext cx="2788920" cy="3703320"/>
          </a:xfrm>
          <a:prstGeom prst="rect">
            <a:avLst/>
          </a:prstGeom>
          <a:solidFill>
            <a:srgbClr val="FFFFFF"/>
          </a:solidFill>
          <a:ln w="12700">
            <a:solidFill>
              <a:srgbClr val="DDE6F0"/>
            </a:solidFill>
            <a:prstDash val="solid"/>
          </a:ln>
          <a:effectLst>
            <a:outerShdw sx="100000" sy="100000" kx="0" ky="0" algn="bl" rotWithShape="0" blurRad="101600" dist="38100" dir="8100000">
              <a:srgbClr val="000000">
                <a:alpha val="10000"/>
              </a:srgbClr>
            </a:outerShdw>
          </a:effectLst>
        </p:spPr>
      </p:sp>
      <p:sp>
        <p:nvSpPr>
          <p:cNvPr id="25" name="Shape 23"/>
          <p:cNvSpPr/>
          <p:nvPr/>
        </p:nvSpPr>
        <p:spPr>
          <a:xfrm>
            <a:off x="3209544" y="1115568"/>
            <a:ext cx="2788920" cy="1051560"/>
          </a:xfrm>
          <a:prstGeom prst="rect">
            <a:avLst/>
          </a:prstGeom>
          <a:solidFill>
            <a:srgbClr val="C00707"/>
          </a:solidFill>
          <a:ln w="12700">
            <a:solidFill>
              <a:srgbClr val="C00707"/>
            </a:solidFill>
            <a:prstDash val="solid"/>
          </a:ln>
        </p:spPr>
      </p:sp>
      <p:sp>
        <p:nvSpPr>
          <p:cNvPr id="26" name="Shape 24"/>
          <p:cNvSpPr/>
          <p:nvPr/>
        </p:nvSpPr>
        <p:spPr>
          <a:xfrm>
            <a:off x="3374136" y="1243584"/>
            <a:ext cx="749808" cy="749808"/>
          </a:xfrm>
          <a:prstGeom prst="ellipse">
            <a:avLst/>
          </a:prstGeom>
          <a:solidFill>
            <a:srgbClr val="FFFFFF"/>
          </a:solidFill>
          <a:ln w="12700">
            <a:solidFill>
              <a:srgbClr val="FFFFFF"/>
            </a:solidFill>
            <a:prstDash val="solid"/>
          </a:ln>
        </p:spPr>
      </p:sp>
      <p:sp>
        <p:nvSpPr>
          <p:cNvPr id="27" name="Text 25"/>
          <p:cNvSpPr/>
          <p:nvPr/>
        </p:nvSpPr>
        <p:spPr>
          <a:xfrm>
            <a:off x="3374136" y="1243584"/>
            <a:ext cx="749808" cy="749808"/>
          </a:xfrm>
          <a:prstGeom prst="rect">
            <a:avLst/>
          </a:prstGeom>
          <a:noFill/>
          <a:ln/>
        </p:spPr>
        <p:txBody>
          <a:bodyPr wrap="square" lIns="0" tIns="0" rIns="0" bIns="0" rtlCol="0" anchor="ctr"/>
          <a:lstStyle/>
          <a:p>
            <a:pPr algn="ctr" indent="0" marL="0">
              <a:buNone/>
            </a:pPr>
            <a:r>
              <a:rPr lang="en-US" sz="1800" b="1" dirty="0">
                <a:solidFill>
                  <a:srgbClr val="C00707"/>
                </a:solidFill>
                <a:latin typeface="Georgia" pitchFamily="34" charset="0"/>
                <a:ea typeface="Georgia" pitchFamily="34" charset="-122"/>
                <a:cs typeface="Georgia" pitchFamily="34" charset="-120"/>
              </a:rPr>
              <a:t>AL</a:t>
            </a:r>
            <a:endParaRPr lang="en-US" sz="1800" dirty="0"/>
          </a:p>
        </p:txBody>
      </p:sp>
      <p:sp>
        <p:nvSpPr>
          <p:cNvPr id="28" name="Text 26"/>
          <p:cNvSpPr/>
          <p:nvPr/>
        </p:nvSpPr>
        <p:spPr>
          <a:xfrm>
            <a:off x="4215384" y="1271016"/>
            <a:ext cx="1664208" cy="274320"/>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Arnaud Lecomte</a:t>
            </a:r>
            <a:endParaRPr lang="en-US" sz="1200" dirty="0"/>
          </a:p>
        </p:txBody>
      </p:sp>
      <p:sp>
        <p:nvSpPr>
          <p:cNvPr id="29" name="Text 27"/>
          <p:cNvSpPr/>
          <p:nvPr/>
        </p:nvSpPr>
        <p:spPr>
          <a:xfrm>
            <a:off x="4215384" y="1545336"/>
            <a:ext cx="1664208" cy="237744"/>
          </a:xfrm>
          <a:prstGeom prst="rect">
            <a:avLst/>
          </a:prstGeom>
          <a:noFill/>
          <a:ln/>
        </p:spPr>
        <p:txBody>
          <a:bodyPr wrap="square" lIns="0" tIns="0" rIns="0" bIns="0" rtlCol="0" anchor="ctr"/>
          <a:lstStyle/>
          <a:p>
            <a:pPr indent="0" marL="0">
              <a:buNone/>
            </a:pPr>
            <a:r>
              <a:rPr lang="en-US" sz="950" i="1" dirty="0">
                <a:solidFill>
                  <a:srgbClr val="C8DCEC"/>
                </a:solidFill>
                <a:latin typeface="Calibri" pitchFamily="34" charset="0"/>
                <a:ea typeface="Calibri" pitchFamily="34" charset="-122"/>
                <a:cs typeface="Calibri" pitchFamily="34" charset="-120"/>
              </a:rPr>
              <a:t>Directeur coopération bilatérale</a:t>
            </a:r>
            <a:endParaRPr lang="en-US" sz="950" dirty="0"/>
          </a:p>
        </p:txBody>
      </p:sp>
      <p:sp>
        <p:nvSpPr>
          <p:cNvPr id="30" name="Text 28"/>
          <p:cNvSpPr/>
          <p:nvPr/>
        </p:nvSpPr>
        <p:spPr>
          <a:xfrm>
            <a:off x="4215384" y="1783080"/>
            <a:ext cx="1664208" cy="201168"/>
          </a:xfrm>
          <a:prstGeom prst="rect">
            <a:avLst/>
          </a:prstGeom>
          <a:noFill/>
          <a:ln/>
        </p:spPr>
        <p:txBody>
          <a:bodyPr wrap="square" lIns="0" tIns="0" rIns="0" bIns="0" rtlCol="0" anchor="ctr"/>
          <a:lstStyle/>
          <a:p>
            <a:pPr indent="0" marL="0">
              <a:buNone/>
            </a:pPr>
            <a:r>
              <a:rPr lang="en-US" sz="900" dirty="0">
                <a:solidFill>
                  <a:srgbClr val="C8DCEC"/>
                </a:solidFill>
                <a:latin typeface="Calibri" pitchFamily="34" charset="0"/>
                <a:ea typeface="Calibri" pitchFamily="34" charset="-122"/>
                <a:cs typeface="Calibri" pitchFamily="34" charset="-120"/>
              </a:rPr>
              <a:t>MEAE  ·  51 ans · Paris</a:t>
            </a:r>
            <a:endParaRPr lang="en-US" sz="900" dirty="0"/>
          </a:p>
        </p:txBody>
      </p:sp>
      <p:sp>
        <p:nvSpPr>
          <p:cNvPr id="31" name="Text 29"/>
          <p:cNvSpPr/>
          <p:nvPr/>
        </p:nvSpPr>
        <p:spPr>
          <a:xfrm>
            <a:off x="3346704" y="2258568"/>
            <a:ext cx="2514600" cy="594360"/>
          </a:xfrm>
          <a:prstGeom prst="rect">
            <a:avLst/>
          </a:prstGeom>
          <a:noFill/>
          <a:ln/>
        </p:spPr>
        <p:txBody>
          <a:bodyPr wrap="square" lIns="0" tIns="0" rIns="0" bIns="0" rtlCol="0" anchor="ctr"/>
          <a:lstStyle/>
          <a:p>
            <a:pPr indent="0" marL="0">
              <a:lnSpc>
                <a:spcPct val="130000"/>
              </a:lnSpc>
              <a:buNone/>
            </a:pPr>
            <a:r>
              <a:rPr lang="en-US" sz="1000" i="1" dirty="0">
                <a:solidFill>
                  <a:srgbClr val="C00707"/>
                </a:solidFill>
                <a:latin typeface="Georgia" pitchFamily="34" charset="0"/>
                <a:ea typeface="Georgia" pitchFamily="34" charset="-122"/>
                <a:cs typeface="Georgia" pitchFamily="34" charset="-120"/>
              </a:rPr>
              <a:t>« La France doit piloter ses engagements APD avec précision. »</a:t>
            </a:r>
            <a:endParaRPr lang="en-US" sz="1000" dirty="0"/>
          </a:p>
        </p:txBody>
      </p:sp>
      <p:sp>
        <p:nvSpPr>
          <p:cNvPr id="32" name="Shape 30"/>
          <p:cNvSpPr/>
          <p:nvPr/>
        </p:nvSpPr>
        <p:spPr>
          <a:xfrm>
            <a:off x="3346704" y="2926080"/>
            <a:ext cx="2514600" cy="0"/>
          </a:xfrm>
          <a:prstGeom prst="line">
            <a:avLst/>
          </a:prstGeom>
          <a:noFill/>
          <a:ln w="12700">
            <a:solidFill>
              <a:srgbClr val="DDE6F0"/>
            </a:solidFill>
            <a:prstDash val="solid"/>
          </a:ln>
        </p:spPr>
      </p:sp>
      <p:sp>
        <p:nvSpPr>
          <p:cNvPr id="33" name="Text 31"/>
          <p:cNvSpPr/>
          <p:nvPr/>
        </p:nvSpPr>
        <p:spPr>
          <a:xfrm>
            <a:off x="3346704" y="2980944"/>
            <a:ext cx="1188720" cy="201168"/>
          </a:xfrm>
          <a:prstGeom prst="rect">
            <a:avLst/>
          </a:prstGeom>
          <a:noFill/>
          <a:ln/>
        </p:spPr>
        <p:txBody>
          <a:bodyPr wrap="square" lIns="0" tIns="0" rIns="0" bIns="0" rtlCol="0" anchor="ctr"/>
          <a:lstStyle/>
          <a:p>
            <a:pPr indent="0" marL="0">
              <a:buNone/>
            </a:pPr>
            <a:r>
              <a:rPr lang="en-US" sz="850" b="1" spc="100" kern="0" dirty="0">
                <a:solidFill>
                  <a:srgbClr val="C00707"/>
                </a:solidFill>
                <a:latin typeface="Calibri" pitchFamily="34" charset="0"/>
                <a:ea typeface="Calibri" pitchFamily="34" charset="-122"/>
                <a:cs typeface="Calibri" pitchFamily="34" charset="-120"/>
              </a:rPr>
              <a:t>BESOINS</a:t>
            </a:r>
            <a:endParaRPr lang="en-US" sz="850" dirty="0"/>
          </a:p>
        </p:txBody>
      </p:sp>
      <p:sp>
        <p:nvSpPr>
          <p:cNvPr id="34" name="Shape 32"/>
          <p:cNvSpPr/>
          <p:nvPr/>
        </p:nvSpPr>
        <p:spPr>
          <a:xfrm>
            <a:off x="3374136" y="3246120"/>
            <a:ext cx="109728" cy="109728"/>
          </a:xfrm>
          <a:prstGeom prst="ellipse">
            <a:avLst/>
          </a:prstGeom>
          <a:solidFill>
            <a:srgbClr val="C00707"/>
          </a:solidFill>
          <a:ln w="12700">
            <a:solidFill>
              <a:srgbClr val="C00707"/>
            </a:solidFill>
            <a:prstDash val="solid"/>
          </a:ln>
        </p:spPr>
      </p:sp>
      <p:sp>
        <p:nvSpPr>
          <p:cNvPr id="35" name="Text 33"/>
          <p:cNvSpPr/>
          <p:nvPr/>
        </p:nvSpPr>
        <p:spPr>
          <a:xfrm>
            <a:off x="3575304" y="3191256"/>
            <a:ext cx="2286000" cy="347472"/>
          </a:xfrm>
          <a:prstGeom prst="rect">
            <a:avLst/>
          </a:prstGeom>
          <a:noFill/>
          <a:ln/>
        </p:spPr>
        <p:txBody>
          <a:bodyPr wrap="square" lIns="0" tIns="0" rIns="0" bIns="0" rtlCol="0" anchor="ctr"/>
          <a:lstStyle/>
          <a:p>
            <a:pPr indent="0" marL="0">
              <a:buNone/>
            </a:pPr>
            <a:r>
              <a:rPr lang="en-US" sz="1000" dirty="0">
                <a:solidFill>
                  <a:srgbClr val="1A2E4A"/>
                </a:solidFill>
                <a:latin typeface="Calibri" pitchFamily="34" charset="0"/>
                <a:ea typeface="Calibri" pitchFamily="34" charset="-122"/>
                <a:cs typeface="Calibri" pitchFamily="34" charset="-120"/>
              </a:rPr>
              <a:t>Dashboard exécutif synthétique</a:t>
            </a:r>
            <a:endParaRPr lang="en-US" sz="1000" dirty="0"/>
          </a:p>
        </p:txBody>
      </p:sp>
      <p:sp>
        <p:nvSpPr>
          <p:cNvPr id="36" name="Shape 34"/>
          <p:cNvSpPr/>
          <p:nvPr/>
        </p:nvSpPr>
        <p:spPr>
          <a:xfrm>
            <a:off x="3374136" y="3703320"/>
            <a:ext cx="109728" cy="109728"/>
          </a:xfrm>
          <a:prstGeom prst="ellipse">
            <a:avLst/>
          </a:prstGeom>
          <a:solidFill>
            <a:srgbClr val="C00707"/>
          </a:solidFill>
          <a:ln w="12700">
            <a:solidFill>
              <a:srgbClr val="C00707"/>
            </a:solidFill>
            <a:prstDash val="solid"/>
          </a:ln>
        </p:spPr>
      </p:sp>
      <p:sp>
        <p:nvSpPr>
          <p:cNvPr id="37" name="Text 35"/>
          <p:cNvSpPr/>
          <p:nvPr/>
        </p:nvSpPr>
        <p:spPr>
          <a:xfrm>
            <a:off x="3575304" y="3648456"/>
            <a:ext cx="2286000" cy="347472"/>
          </a:xfrm>
          <a:prstGeom prst="rect">
            <a:avLst/>
          </a:prstGeom>
          <a:noFill/>
          <a:ln/>
        </p:spPr>
        <p:txBody>
          <a:bodyPr wrap="square" lIns="0" tIns="0" rIns="0" bIns="0" rtlCol="0" anchor="ctr"/>
          <a:lstStyle/>
          <a:p>
            <a:pPr indent="0" marL="0">
              <a:buNone/>
            </a:pPr>
            <a:r>
              <a:rPr lang="en-US" sz="1000" dirty="0">
                <a:solidFill>
                  <a:srgbClr val="1A2E4A"/>
                </a:solidFill>
                <a:latin typeface="Calibri" pitchFamily="34" charset="0"/>
                <a:ea typeface="Calibri" pitchFamily="34" charset="-122"/>
                <a:cs typeface="Calibri" pitchFamily="34" charset="-120"/>
              </a:rPr>
              <a:t>Comparaisons internationales</a:t>
            </a:r>
            <a:endParaRPr lang="en-US" sz="1000" dirty="0"/>
          </a:p>
        </p:txBody>
      </p:sp>
      <p:sp>
        <p:nvSpPr>
          <p:cNvPr id="38" name="Shape 36"/>
          <p:cNvSpPr/>
          <p:nvPr/>
        </p:nvSpPr>
        <p:spPr>
          <a:xfrm>
            <a:off x="3374136" y="4160520"/>
            <a:ext cx="109728" cy="109728"/>
          </a:xfrm>
          <a:prstGeom prst="ellipse">
            <a:avLst/>
          </a:prstGeom>
          <a:solidFill>
            <a:srgbClr val="C00707"/>
          </a:solidFill>
          <a:ln w="12700">
            <a:solidFill>
              <a:srgbClr val="C00707"/>
            </a:solidFill>
            <a:prstDash val="solid"/>
          </a:ln>
        </p:spPr>
      </p:sp>
      <p:sp>
        <p:nvSpPr>
          <p:cNvPr id="39" name="Text 37"/>
          <p:cNvSpPr/>
          <p:nvPr/>
        </p:nvSpPr>
        <p:spPr>
          <a:xfrm>
            <a:off x="3575304" y="4105656"/>
            <a:ext cx="2286000" cy="347472"/>
          </a:xfrm>
          <a:prstGeom prst="rect">
            <a:avLst/>
          </a:prstGeom>
          <a:noFill/>
          <a:ln/>
        </p:spPr>
        <p:txBody>
          <a:bodyPr wrap="square" lIns="0" tIns="0" rIns="0" bIns="0" rtlCol="0" anchor="ctr"/>
          <a:lstStyle/>
          <a:p>
            <a:pPr indent="0" marL="0">
              <a:buNone/>
            </a:pPr>
            <a:r>
              <a:rPr lang="en-US" sz="1000" dirty="0">
                <a:solidFill>
                  <a:srgbClr val="1A2E4A"/>
                </a:solidFill>
                <a:latin typeface="Calibri" pitchFamily="34" charset="0"/>
                <a:ea typeface="Calibri" pitchFamily="34" charset="-122"/>
                <a:cs typeface="Calibri" pitchFamily="34" charset="-120"/>
              </a:rPr>
              <a:t>Simulations budgétaires</a:t>
            </a:r>
            <a:endParaRPr lang="en-US" sz="1000" dirty="0"/>
          </a:p>
        </p:txBody>
      </p:sp>
      <p:sp>
        <p:nvSpPr>
          <p:cNvPr id="40" name="Shape 38"/>
          <p:cNvSpPr/>
          <p:nvPr/>
        </p:nvSpPr>
        <p:spPr>
          <a:xfrm>
            <a:off x="6163056" y="1115568"/>
            <a:ext cx="2788920" cy="3703320"/>
          </a:xfrm>
          <a:prstGeom prst="rect">
            <a:avLst/>
          </a:prstGeom>
          <a:solidFill>
            <a:srgbClr val="FFFFFF"/>
          </a:solidFill>
          <a:ln w="12700">
            <a:solidFill>
              <a:srgbClr val="DDE6F0"/>
            </a:solidFill>
            <a:prstDash val="solid"/>
          </a:ln>
          <a:effectLst>
            <a:outerShdw sx="100000" sy="100000" kx="0" ky="0" algn="bl" rotWithShape="0" blurRad="101600" dist="38100" dir="8100000">
              <a:srgbClr val="000000">
                <a:alpha val="10000"/>
              </a:srgbClr>
            </a:outerShdw>
          </a:effectLst>
        </p:spPr>
      </p:sp>
      <p:sp>
        <p:nvSpPr>
          <p:cNvPr id="41" name="Shape 39"/>
          <p:cNvSpPr/>
          <p:nvPr/>
        </p:nvSpPr>
        <p:spPr>
          <a:xfrm>
            <a:off x="6163056" y="1115568"/>
            <a:ext cx="2788920" cy="1051560"/>
          </a:xfrm>
          <a:prstGeom prst="rect">
            <a:avLst/>
          </a:prstGeom>
          <a:solidFill>
            <a:srgbClr val="1A7A4A"/>
          </a:solidFill>
          <a:ln w="12700">
            <a:solidFill>
              <a:srgbClr val="1A7A4A"/>
            </a:solidFill>
            <a:prstDash val="solid"/>
          </a:ln>
        </p:spPr>
      </p:sp>
      <p:sp>
        <p:nvSpPr>
          <p:cNvPr id="42" name="Shape 40"/>
          <p:cNvSpPr/>
          <p:nvPr/>
        </p:nvSpPr>
        <p:spPr>
          <a:xfrm>
            <a:off x="6327648" y="1243584"/>
            <a:ext cx="749808" cy="749808"/>
          </a:xfrm>
          <a:prstGeom prst="ellipse">
            <a:avLst/>
          </a:prstGeom>
          <a:solidFill>
            <a:srgbClr val="FFFFFF"/>
          </a:solidFill>
          <a:ln w="12700">
            <a:solidFill>
              <a:srgbClr val="FFFFFF"/>
            </a:solidFill>
            <a:prstDash val="solid"/>
          </a:ln>
        </p:spPr>
      </p:sp>
      <p:sp>
        <p:nvSpPr>
          <p:cNvPr id="43" name="Text 41"/>
          <p:cNvSpPr/>
          <p:nvPr/>
        </p:nvSpPr>
        <p:spPr>
          <a:xfrm>
            <a:off x="6327648" y="1243584"/>
            <a:ext cx="749808" cy="749808"/>
          </a:xfrm>
          <a:prstGeom prst="rect">
            <a:avLst/>
          </a:prstGeom>
          <a:noFill/>
          <a:ln/>
        </p:spPr>
        <p:txBody>
          <a:bodyPr wrap="square" lIns="0" tIns="0" rIns="0" bIns="0" rtlCol="0" anchor="ctr"/>
          <a:lstStyle/>
          <a:p>
            <a:pPr algn="ctr" indent="0" marL="0">
              <a:buNone/>
            </a:pPr>
            <a:r>
              <a:rPr lang="en-US" sz="1800" b="1" dirty="0">
                <a:solidFill>
                  <a:srgbClr val="1A7A4A"/>
                </a:solidFill>
                <a:latin typeface="Georgia" pitchFamily="34" charset="0"/>
                <a:ea typeface="Georgia" pitchFamily="34" charset="-122"/>
                <a:cs typeface="Georgia" pitchFamily="34" charset="-120"/>
              </a:rPr>
              <a:t>MD</a:t>
            </a:r>
            <a:endParaRPr lang="en-US" sz="1800" dirty="0"/>
          </a:p>
        </p:txBody>
      </p:sp>
      <p:sp>
        <p:nvSpPr>
          <p:cNvPr id="44" name="Text 42"/>
          <p:cNvSpPr/>
          <p:nvPr/>
        </p:nvSpPr>
        <p:spPr>
          <a:xfrm>
            <a:off x="7168896" y="1271016"/>
            <a:ext cx="1664208" cy="274320"/>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Mariam Diallo</a:t>
            </a:r>
            <a:endParaRPr lang="en-US" sz="1200" dirty="0"/>
          </a:p>
        </p:txBody>
      </p:sp>
      <p:sp>
        <p:nvSpPr>
          <p:cNvPr id="45" name="Text 43"/>
          <p:cNvSpPr/>
          <p:nvPr/>
        </p:nvSpPr>
        <p:spPr>
          <a:xfrm>
            <a:off x="7168896" y="1545336"/>
            <a:ext cx="1664208" cy="237744"/>
          </a:xfrm>
          <a:prstGeom prst="rect">
            <a:avLst/>
          </a:prstGeom>
          <a:noFill/>
          <a:ln/>
        </p:spPr>
        <p:txBody>
          <a:bodyPr wrap="square" lIns="0" tIns="0" rIns="0" bIns="0" rtlCol="0" anchor="ctr"/>
          <a:lstStyle/>
          <a:p>
            <a:pPr indent="0" marL="0">
              <a:buNone/>
            </a:pPr>
            <a:r>
              <a:rPr lang="en-US" sz="950" i="1" dirty="0">
                <a:solidFill>
                  <a:srgbClr val="C8DCEC"/>
                </a:solidFill>
                <a:latin typeface="Calibri" pitchFamily="34" charset="0"/>
                <a:ea typeface="Calibri" pitchFamily="34" charset="-122"/>
                <a:cs typeface="Calibri" pitchFamily="34" charset="-120"/>
              </a:rPr>
              <a:t>Coordinatrice de Projets</a:t>
            </a:r>
            <a:endParaRPr lang="en-US" sz="950" dirty="0"/>
          </a:p>
        </p:txBody>
      </p:sp>
      <p:sp>
        <p:nvSpPr>
          <p:cNvPr id="46" name="Text 44"/>
          <p:cNvSpPr/>
          <p:nvPr/>
        </p:nvSpPr>
        <p:spPr>
          <a:xfrm>
            <a:off x="7168896" y="1783080"/>
            <a:ext cx="1664208" cy="201168"/>
          </a:xfrm>
          <a:prstGeom prst="rect">
            <a:avLst/>
          </a:prstGeom>
          <a:noFill/>
          <a:ln/>
        </p:spPr>
        <p:txBody>
          <a:bodyPr wrap="square" lIns="0" tIns="0" rIns="0" bIns="0" rtlCol="0" anchor="ctr"/>
          <a:lstStyle/>
          <a:p>
            <a:pPr indent="0" marL="0">
              <a:buNone/>
            </a:pPr>
            <a:r>
              <a:rPr lang="en-US" sz="900" dirty="0">
                <a:solidFill>
                  <a:srgbClr val="C8DCEC"/>
                </a:solidFill>
                <a:latin typeface="Calibri" pitchFamily="34" charset="0"/>
                <a:ea typeface="Calibri" pitchFamily="34" charset="-122"/>
                <a:cs typeface="Calibri" pitchFamily="34" charset="-120"/>
              </a:rPr>
              <a:t>ONG Eau Sans Frontières  ·  33 ans · Dakar</a:t>
            </a:r>
            <a:endParaRPr lang="en-US" sz="900" dirty="0"/>
          </a:p>
        </p:txBody>
      </p:sp>
      <p:sp>
        <p:nvSpPr>
          <p:cNvPr id="47" name="Text 45"/>
          <p:cNvSpPr/>
          <p:nvPr/>
        </p:nvSpPr>
        <p:spPr>
          <a:xfrm>
            <a:off x="6300216" y="2258568"/>
            <a:ext cx="2514600" cy="594360"/>
          </a:xfrm>
          <a:prstGeom prst="rect">
            <a:avLst/>
          </a:prstGeom>
          <a:noFill/>
          <a:ln/>
        </p:spPr>
        <p:txBody>
          <a:bodyPr wrap="square" lIns="0" tIns="0" rIns="0" bIns="0" rtlCol="0" anchor="ctr"/>
          <a:lstStyle/>
          <a:p>
            <a:pPr indent="0" marL="0">
              <a:lnSpc>
                <a:spcPct val="130000"/>
              </a:lnSpc>
              <a:buNone/>
            </a:pPr>
            <a:r>
              <a:rPr lang="en-US" sz="1000" i="1" dirty="0">
                <a:solidFill>
                  <a:srgbClr val="1A7A4A"/>
                </a:solidFill>
                <a:latin typeface="Georgia" pitchFamily="34" charset="0"/>
                <a:ea typeface="Georgia" pitchFamily="34" charset="-122"/>
                <a:cs typeface="Georgia" pitchFamily="34" charset="-120"/>
              </a:rPr>
              <a:t>« Comprendre où va l'aide nous permet d'être là où c'est utile. »</a:t>
            </a:r>
            <a:endParaRPr lang="en-US" sz="1000" dirty="0"/>
          </a:p>
        </p:txBody>
      </p:sp>
      <p:sp>
        <p:nvSpPr>
          <p:cNvPr id="48" name="Shape 46"/>
          <p:cNvSpPr/>
          <p:nvPr/>
        </p:nvSpPr>
        <p:spPr>
          <a:xfrm>
            <a:off x="6300216" y="2926080"/>
            <a:ext cx="2514600" cy="0"/>
          </a:xfrm>
          <a:prstGeom prst="line">
            <a:avLst/>
          </a:prstGeom>
          <a:noFill/>
          <a:ln w="12700">
            <a:solidFill>
              <a:srgbClr val="DDE6F0"/>
            </a:solidFill>
            <a:prstDash val="solid"/>
          </a:ln>
        </p:spPr>
      </p:sp>
      <p:sp>
        <p:nvSpPr>
          <p:cNvPr id="49" name="Text 47"/>
          <p:cNvSpPr/>
          <p:nvPr/>
        </p:nvSpPr>
        <p:spPr>
          <a:xfrm>
            <a:off x="6300216" y="2980944"/>
            <a:ext cx="1188720" cy="201168"/>
          </a:xfrm>
          <a:prstGeom prst="rect">
            <a:avLst/>
          </a:prstGeom>
          <a:noFill/>
          <a:ln/>
        </p:spPr>
        <p:txBody>
          <a:bodyPr wrap="square" lIns="0" tIns="0" rIns="0" bIns="0" rtlCol="0" anchor="ctr"/>
          <a:lstStyle/>
          <a:p>
            <a:pPr indent="0" marL="0">
              <a:buNone/>
            </a:pPr>
            <a:r>
              <a:rPr lang="en-US" sz="850" b="1" spc="100" kern="0" dirty="0">
                <a:solidFill>
                  <a:srgbClr val="1A7A4A"/>
                </a:solidFill>
                <a:latin typeface="Calibri" pitchFamily="34" charset="0"/>
                <a:ea typeface="Calibri" pitchFamily="34" charset="-122"/>
                <a:cs typeface="Calibri" pitchFamily="34" charset="-120"/>
              </a:rPr>
              <a:t>BESOINS</a:t>
            </a:r>
            <a:endParaRPr lang="en-US" sz="850" dirty="0"/>
          </a:p>
        </p:txBody>
      </p:sp>
      <p:sp>
        <p:nvSpPr>
          <p:cNvPr id="50" name="Shape 48"/>
          <p:cNvSpPr/>
          <p:nvPr/>
        </p:nvSpPr>
        <p:spPr>
          <a:xfrm>
            <a:off x="6327648" y="3246120"/>
            <a:ext cx="109728" cy="109728"/>
          </a:xfrm>
          <a:prstGeom prst="ellipse">
            <a:avLst/>
          </a:prstGeom>
          <a:solidFill>
            <a:srgbClr val="1A7A4A"/>
          </a:solidFill>
          <a:ln w="12700">
            <a:solidFill>
              <a:srgbClr val="1A7A4A"/>
            </a:solidFill>
            <a:prstDash val="solid"/>
          </a:ln>
        </p:spPr>
      </p:sp>
      <p:sp>
        <p:nvSpPr>
          <p:cNvPr id="51" name="Text 49"/>
          <p:cNvSpPr/>
          <p:nvPr/>
        </p:nvSpPr>
        <p:spPr>
          <a:xfrm>
            <a:off x="6528816" y="3191256"/>
            <a:ext cx="2286000" cy="347472"/>
          </a:xfrm>
          <a:prstGeom prst="rect">
            <a:avLst/>
          </a:prstGeom>
          <a:noFill/>
          <a:ln/>
        </p:spPr>
        <p:txBody>
          <a:bodyPr wrap="square" lIns="0" tIns="0" rIns="0" bIns="0" rtlCol="0" anchor="ctr"/>
          <a:lstStyle/>
          <a:p>
            <a:pPr indent="0" marL="0">
              <a:buNone/>
            </a:pPr>
            <a:r>
              <a:rPr lang="en-US" sz="1000" dirty="0">
                <a:solidFill>
                  <a:srgbClr val="1A2E4A"/>
                </a:solidFill>
                <a:latin typeface="Calibri" pitchFamily="34" charset="0"/>
                <a:ea typeface="Calibri" pitchFamily="34" charset="-122"/>
                <a:cs typeface="Calibri" pitchFamily="34" charset="-120"/>
              </a:rPr>
              <a:t>Accès simple sans expertise data</a:t>
            </a:r>
            <a:endParaRPr lang="en-US" sz="1000" dirty="0"/>
          </a:p>
        </p:txBody>
      </p:sp>
      <p:sp>
        <p:nvSpPr>
          <p:cNvPr id="52" name="Shape 50"/>
          <p:cNvSpPr/>
          <p:nvPr/>
        </p:nvSpPr>
        <p:spPr>
          <a:xfrm>
            <a:off x="6327648" y="3703320"/>
            <a:ext cx="109728" cy="109728"/>
          </a:xfrm>
          <a:prstGeom prst="ellipse">
            <a:avLst/>
          </a:prstGeom>
          <a:solidFill>
            <a:srgbClr val="1A7A4A"/>
          </a:solidFill>
          <a:ln w="12700">
            <a:solidFill>
              <a:srgbClr val="1A7A4A"/>
            </a:solidFill>
            <a:prstDash val="solid"/>
          </a:ln>
        </p:spPr>
      </p:sp>
      <p:sp>
        <p:nvSpPr>
          <p:cNvPr id="53" name="Text 51"/>
          <p:cNvSpPr/>
          <p:nvPr/>
        </p:nvSpPr>
        <p:spPr>
          <a:xfrm>
            <a:off x="6528816" y="3648456"/>
            <a:ext cx="2286000" cy="347472"/>
          </a:xfrm>
          <a:prstGeom prst="rect">
            <a:avLst/>
          </a:prstGeom>
          <a:noFill/>
          <a:ln/>
        </p:spPr>
        <p:txBody>
          <a:bodyPr wrap="square" lIns="0" tIns="0" rIns="0" bIns="0" rtlCol="0" anchor="ctr"/>
          <a:lstStyle/>
          <a:p>
            <a:pPr indent="0" marL="0">
              <a:buNone/>
            </a:pPr>
            <a:r>
              <a:rPr lang="en-US" sz="1000" dirty="0">
                <a:solidFill>
                  <a:srgbClr val="1A2E4A"/>
                </a:solidFill>
                <a:latin typeface="Calibri" pitchFamily="34" charset="0"/>
                <a:ea typeface="Calibri" pitchFamily="34" charset="-122"/>
                <a:cs typeface="Calibri" pitchFamily="34" charset="-120"/>
              </a:rPr>
              <a:t>Focus géographique précis</a:t>
            </a:r>
            <a:endParaRPr lang="en-US" sz="1000" dirty="0"/>
          </a:p>
        </p:txBody>
      </p:sp>
      <p:sp>
        <p:nvSpPr>
          <p:cNvPr id="54" name="Shape 52"/>
          <p:cNvSpPr/>
          <p:nvPr/>
        </p:nvSpPr>
        <p:spPr>
          <a:xfrm>
            <a:off x="6327648" y="4160520"/>
            <a:ext cx="109728" cy="109728"/>
          </a:xfrm>
          <a:prstGeom prst="ellipse">
            <a:avLst/>
          </a:prstGeom>
          <a:solidFill>
            <a:srgbClr val="1A7A4A"/>
          </a:solidFill>
          <a:ln w="12700">
            <a:solidFill>
              <a:srgbClr val="1A7A4A"/>
            </a:solidFill>
            <a:prstDash val="solid"/>
          </a:ln>
        </p:spPr>
      </p:sp>
      <p:sp>
        <p:nvSpPr>
          <p:cNvPr id="55" name="Text 53"/>
          <p:cNvSpPr/>
          <p:nvPr/>
        </p:nvSpPr>
        <p:spPr>
          <a:xfrm>
            <a:off x="6528816" y="4105656"/>
            <a:ext cx="2286000" cy="347472"/>
          </a:xfrm>
          <a:prstGeom prst="rect">
            <a:avLst/>
          </a:prstGeom>
          <a:noFill/>
          <a:ln/>
        </p:spPr>
        <p:txBody>
          <a:bodyPr wrap="square" lIns="0" tIns="0" rIns="0" bIns="0" rtlCol="0" anchor="ctr"/>
          <a:lstStyle/>
          <a:p>
            <a:pPr indent="0" marL="0">
              <a:buNone/>
            </a:pPr>
            <a:r>
              <a:rPr lang="en-US" sz="1000" dirty="0">
                <a:solidFill>
                  <a:srgbClr val="1A2E4A"/>
                </a:solidFill>
                <a:latin typeface="Calibri" pitchFamily="34" charset="0"/>
                <a:ea typeface="Calibri" pitchFamily="34" charset="-122"/>
                <a:cs typeface="Calibri" pitchFamily="34" charset="-120"/>
              </a:rPr>
              <a:t>Interface mobile-friendly</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8F0"/>
        </a:solidFill>
      </p:bgPr>
    </p:bg>
    <p:spTree>
      <p:nvGrpSpPr>
        <p:cNvPr id="1" name=""/>
        <p:cNvGrpSpPr/>
        <p:nvPr/>
      </p:nvGrpSpPr>
      <p:grpSpPr>
        <a:xfrm>
          <a:off x="0" y="0"/>
          <a:ext cx="0" cy="0"/>
          <a:chOff x="0" y="0"/>
          <a:chExt cx="0" cy="0"/>
        </a:xfrm>
      </p:grpSpPr>
      <p:sp>
        <p:nvSpPr>
          <p:cNvPr id="2" name="Shape 0"/>
          <p:cNvSpPr/>
          <p:nvPr/>
        </p:nvSpPr>
        <p:spPr>
          <a:xfrm>
            <a:off x="0" y="0"/>
            <a:ext cx="9144000" cy="960120"/>
          </a:xfrm>
          <a:prstGeom prst="rect">
            <a:avLst/>
          </a:prstGeom>
          <a:solidFill>
            <a:srgbClr val="134E8E"/>
          </a:solidFill>
          <a:ln w="12700">
            <a:solidFill>
              <a:srgbClr val="134E8E"/>
            </a:solidFill>
            <a:prstDash val="solid"/>
          </a:ln>
        </p:spPr>
      </p:sp>
      <p:sp>
        <p:nvSpPr>
          <p:cNvPr id="3" name="Shape 1"/>
          <p:cNvSpPr/>
          <p:nvPr/>
        </p:nvSpPr>
        <p:spPr>
          <a:xfrm>
            <a:off x="0" y="0"/>
            <a:ext cx="137160" cy="960120"/>
          </a:xfrm>
          <a:prstGeom prst="rect">
            <a:avLst/>
          </a:prstGeom>
          <a:solidFill>
            <a:srgbClr val="C00707"/>
          </a:solidFill>
          <a:ln w="12700">
            <a:solidFill>
              <a:srgbClr val="C00707"/>
            </a:solidFill>
            <a:prstDash val="solid"/>
          </a:ln>
        </p:spPr>
      </p:sp>
      <p:sp>
        <p:nvSpPr>
          <p:cNvPr id="4" name="Text 2"/>
          <p:cNvSpPr/>
          <p:nvPr/>
        </p:nvSpPr>
        <p:spPr>
          <a:xfrm>
            <a:off x="320040" y="0"/>
            <a:ext cx="7772400" cy="594360"/>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04 — Experience Maps</a:t>
            </a:r>
            <a:endParaRPr lang="en-US" sz="2200" dirty="0"/>
          </a:p>
        </p:txBody>
      </p:sp>
      <p:sp>
        <p:nvSpPr>
          <p:cNvPr id="5" name="Text 3"/>
          <p:cNvSpPr/>
          <p:nvPr/>
        </p:nvSpPr>
        <p:spPr>
          <a:xfrm>
            <a:off x="320040" y="594360"/>
            <a:ext cx="8503920" cy="320040"/>
          </a:xfrm>
          <a:prstGeom prst="rect">
            <a:avLst/>
          </a:prstGeom>
          <a:noFill/>
          <a:ln/>
        </p:spPr>
        <p:txBody>
          <a:bodyPr wrap="square" lIns="0" tIns="0" rIns="0" bIns="0" rtlCol="0" anchor="ctr"/>
          <a:lstStyle/>
          <a:p>
            <a:pPr indent="0" marL="0">
              <a:buNone/>
            </a:pPr>
            <a:r>
              <a:rPr lang="en-US" sz="1050" i="1" dirty="0">
                <a:solidFill>
                  <a:srgbClr val="8AAFC8"/>
                </a:solidFill>
                <a:latin typeface="Calibri" pitchFamily="34" charset="0"/>
                <a:ea typeface="Calibri" pitchFamily="34" charset="-122"/>
                <a:cs typeface="Calibri" pitchFamily="34" charset="-120"/>
              </a:rPr>
              <a:t>Parcours utilisateur · Sophie Martin — Rapport trimestriel APD</a:t>
            </a:r>
            <a:endParaRPr lang="en-US" sz="1050" dirty="0"/>
          </a:p>
        </p:txBody>
      </p:sp>
      <p:sp>
        <p:nvSpPr>
          <p:cNvPr id="6" name="Shape 4"/>
          <p:cNvSpPr/>
          <p:nvPr/>
        </p:nvSpPr>
        <p:spPr>
          <a:xfrm>
            <a:off x="0" y="4956048"/>
            <a:ext cx="9144000" cy="182880"/>
          </a:xfrm>
          <a:prstGeom prst="rect">
            <a:avLst/>
          </a:prstGeom>
          <a:solidFill>
            <a:srgbClr val="134E8E"/>
          </a:solidFill>
          <a:ln w="12700">
            <a:solidFill>
              <a:srgbClr val="134E8E"/>
            </a:solidFill>
            <a:prstDash val="solid"/>
          </a:ln>
        </p:spPr>
      </p:sp>
      <p:sp>
        <p:nvSpPr>
          <p:cNvPr id="7" name="Text 5"/>
          <p:cNvSpPr/>
          <p:nvPr/>
        </p:nvSpPr>
        <p:spPr>
          <a:xfrm>
            <a:off x="182880" y="4919472"/>
            <a:ext cx="8778240" cy="219456"/>
          </a:xfrm>
          <a:prstGeom prst="rect">
            <a:avLst/>
          </a:prstGeom>
          <a:noFill/>
          <a:ln/>
        </p:spPr>
        <p:txBody>
          <a:bodyPr wrap="square" lIns="0" tIns="0" rIns="0" bIns="0" rtlCol="0" anchor="ctr"/>
          <a:lstStyle/>
          <a:p>
            <a:pPr algn="r" indent="0" marL="0">
              <a:buNone/>
            </a:pPr>
            <a:r>
              <a:rPr lang="en-US" sz="850" dirty="0">
                <a:solidFill>
                  <a:srgbClr val="FFFFFF"/>
                </a:solidFill>
                <a:latin typeface="Calibri" pitchFamily="34" charset="0"/>
                <a:ea typeface="Calibri" pitchFamily="34" charset="-122"/>
                <a:cs typeface="Calibri" pitchFamily="34" charset="-120"/>
              </a:rPr>
              <a:t>Application Data APD  ·  AFD  ·  DPM Project 2025</a:t>
            </a:r>
            <a:endParaRPr lang="en-US" sz="850" dirty="0"/>
          </a:p>
        </p:txBody>
      </p:sp>
      <p:sp>
        <p:nvSpPr>
          <p:cNvPr id="8" name="Shape 6"/>
          <p:cNvSpPr/>
          <p:nvPr/>
        </p:nvSpPr>
        <p:spPr>
          <a:xfrm>
            <a:off x="548640" y="2148840"/>
            <a:ext cx="8046720" cy="0"/>
          </a:xfrm>
          <a:prstGeom prst="line">
            <a:avLst/>
          </a:prstGeom>
          <a:noFill/>
          <a:ln w="25400">
            <a:solidFill>
              <a:srgbClr val="7AAACE"/>
            </a:solidFill>
            <a:prstDash val="solid"/>
          </a:ln>
        </p:spPr>
      </p:sp>
      <p:sp>
        <p:nvSpPr>
          <p:cNvPr id="9" name="Shape 7"/>
          <p:cNvSpPr/>
          <p:nvPr/>
        </p:nvSpPr>
        <p:spPr>
          <a:xfrm>
            <a:off x="932688" y="1938528"/>
            <a:ext cx="420624" cy="420624"/>
          </a:xfrm>
          <a:prstGeom prst="ellipse">
            <a:avLst/>
          </a:prstGeom>
          <a:solidFill>
            <a:srgbClr val="134E8E"/>
          </a:solidFill>
          <a:ln w="12700">
            <a:solidFill>
              <a:srgbClr val="FFFFFF"/>
            </a:solidFill>
            <a:prstDash val="solid"/>
          </a:ln>
        </p:spPr>
      </p:sp>
      <p:sp>
        <p:nvSpPr>
          <p:cNvPr id="10" name="Text 8"/>
          <p:cNvSpPr/>
          <p:nvPr/>
        </p:nvSpPr>
        <p:spPr>
          <a:xfrm>
            <a:off x="932688" y="1938528"/>
            <a:ext cx="420624" cy="42062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1" name="Text 9"/>
          <p:cNvSpPr/>
          <p:nvPr/>
        </p:nvSpPr>
        <p:spPr>
          <a:xfrm>
            <a:off x="484632" y="1115568"/>
            <a:ext cx="1316736" cy="411480"/>
          </a:xfrm>
          <a:prstGeom prst="rect">
            <a:avLst/>
          </a:prstGeom>
          <a:noFill/>
          <a:ln/>
        </p:spPr>
        <p:txBody>
          <a:bodyPr wrap="square" lIns="0" tIns="0" rIns="0" bIns="0" rtlCol="0" anchor="ctr"/>
          <a:lstStyle/>
          <a:p>
            <a:pPr algn="ctr" indent="0" marL="0">
              <a:buNone/>
            </a:pPr>
            <a:r>
              <a:rPr lang="en-US" sz="950" b="1" dirty="0">
                <a:solidFill>
                  <a:srgbClr val="134E8E"/>
                </a:solidFill>
                <a:latin typeface="Calibri" pitchFamily="34" charset="0"/>
                <a:ea typeface="Calibri" pitchFamily="34" charset="-122"/>
                <a:cs typeface="Calibri" pitchFamily="34" charset="-120"/>
              </a:rPr>
              <a:t>Identification</a:t>
            </a:r>
            <a:endParaRPr lang="en-US" sz="950" dirty="0"/>
          </a:p>
        </p:txBody>
      </p:sp>
      <p:sp>
        <p:nvSpPr>
          <p:cNvPr id="12" name="Shape 10"/>
          <p:cNvSpPr/>
          <p:nvPr/>
        </p:nvSpPr>
        <p:spPr>
          <a:xfrm>
            <a:off x="502920" y="2423160"/>
            <a:ext cx="1261872" cy="1417320"/>
          </a:xfrm>
          <a:prstGeom prst="rect">
            <a:avLst/>
          </a:prstGeom>
          <a:solidFill>
            <a:srgbClr val="FFFFFF"/>
          </a:solidFill>
          <a:ln w="12700">
            <a:solidFill>
              <a:srgbClr val="DDE6F0"/>
            </a:solidFill>
            <a:prstDash val="solid"/>
          </a:ln>
          <a:effectLst>
            <a:outerShdw sx="100000" sy="100000" kx="0" ky="0" algn="bl" rotWithShape="0" blurRad="101600" dist="38100" dir="8100000">
              <a:srgbClr val="000000">
                <a:alpha val="10000"/>
              </a:srgbClr>
            </a:outerShdw>
          </a:effectLst>
        </p:spPr>
      </p:sp>
      <p:sp>
        <p:nvSpPr>
          <p:cNvPr id="13" name="Text 11"/>
          <p:cNvSpPr/>
          <p:nvPr/>
        </p:nvSpPr>
        <p:spPr>
          <a:xfrm>
            <a:off x="576072" y="2468880"/>
            <a:ext cx="1115568" cy="1097280"/>
          </a:xfrm>
          <a:prstGeom prst="rect">
            <a:avLst/>
          </a:prstGeom>
          <a:noFill/>
          <a:ln/>
        </p:spPr>
        <p:txBody>
          <a:bodyPr wrap="square" lIns="0" tIns="0" rIns="0" bIns="0" rtlCol="0" anchor="t"/>
          <a:lstStyle/>
          <a:p>
            <a:pPr indent="0" marL="0">
              <a:lnSpc>
                <a:spcPct val="130000"/>
              </a:lnSpc>
              <a:buNone/>
            </a:pPr>
            <a:r>
              <a:rPr lang="en-US" sz="850" dirty="0">
                <a:solidFill>
                  <a:srgbClr val="1A2E4A"/>
                </a:solidFill>
                <a:latin typeface="Calibri" pitchFamily="34" charset="0"/>
                <a:ea typeface="Calibri" pitchFamily="34" charset="-122"/>
                <a:cs typeface="Calibri" pitchFamily="34" charset="-120"/>
              </a:rPr>
              <a:t>Reçoit une demande de reporting. Doit compiler des données sur 6 pays.</a:t>
            </a:r>
            <a:endParaRPr lang="en-US" sz="850" dirty="0"/>
          </a:p>
        </p:txBody>
      </p:sp>
      <p:sp>
        <p:nvSpPr>
          <p:cNvPr id="14" name="Shape 12"/>
          <p:cNvSpPr/>
          <p:nvPr/>
        </p:nvSpPr>
        <p:spPr>
          <a:xfrm>
            <a:off x="502920" y="3886200"/>
            <a:ext cx="1261872" cy="292608"/>
          </a:xfrm>
          <a:prstGeom prst="rect">
            <a:avLst/>
          </a:prstGeom>
          <a:solidFill>
            <a:srgbClr val="C00707"/>
          </a:solidFill>
          <a:ln w="12700">
            <a:solidFill>
              <a:srgbClr val="C00707"/>
            </a:solidFill>
            <a:prstDash val="solid"/>
          </a:ln>
        </p:spPr>
      </p:sp>
      <p:sp>
        <p:nvSpPr>
          <p:cNvPr id="15" name="Text 13"/>
          <p:cNvSpPr/>
          <p:nvPr/>
        </p:nvSpPr>
        <p:spPr>
          <a:xfrm>
            <a:off x="502920" y="3886200"/>
            <a:ext cx="1261872" cy="292608"/>
          </a:xfrm>
          <a:prstGeom prst="rect">
            <a:avLst/>
          </a:prstGeom>
          <a:noFill/>
          <a:ln/>
        </p:spPr>
        <p:txBody>
          <a:bodyPr wrap="square" lIns="0" tIns="0" rIns="0" bIns="0" rtlCol="0" anchor="ctr"/>
          <a:lstStyle/>
          <a:p>
            <a:pPr algn="ctr" indent="0" marL="0">
              <a:buNone/>
            </a:pPr>
            <a:r>
              <a:rPr lang="en-US" sz="850" dirty="0">
                <a:solidFill>
                  <a:srgbClr val="FFFFFF"/>
                </a:solidFill>
                <a:latin typeface="Calibri" pitchFamily="34" charset="0"/>
                <a:ea typeface="Calibri" pitchFamily="34" charset="-122"/>
                <a:cs typeface="Calibri" pitchFamily="34" charset="-120"/>
              </a:rPr>
              <a:t>Frustré·e</a:t>
            </a:r>
            <a:endParaRPr lang="en-US" sz="850" dirty="0"/>
          </a:p>
        </p:txBody>
      </p:sp>
      <p:sp>
        <p:nvSpPr>
          <p:cNvPr id="16" name="Shape 14"/>
          <p:cNvSpPr/>
          <p:nvPr/>
        </p:nvSpPr>
        <p:spPr>
          <a:xfrm>
            <a:off x="2331720" y="1938528"/>
            <a:ext cx="420624" cy="420624"/>
          </a:xfrm>
          <a:prstGeom prst="ellipse">
            <a:avLst/>
          </a:prstGeom>
          <a:solidFill>
            <a:srgbClr val="134E8E"/>
          </a:solidFill>
          <a:ln w="12700">
            <a:solidFill>
              <a:srgbClr val="FFFFFF"/>
            </a:solidFill>
            <a:prstDash val="solid"/>
          </a:ln>
        </p:spPr>
      </p:sp>
      <p:sp>
        <p:nvSpPr>
          <p:cNvPr id="17" name="Text 15"/>
          <p:cNvSpPr/>
          <p:nvPr/>
        </p:nvSpPr>
        <p:spPr>
          <a:xfrm>
            <a:off x="2331720" y="1938528"/>
            <a:ext cx="420624" cy="42062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8" name="Text 16"/>
          <p:cNvSpPr/>
          <p:nvPr/>
        </p:nvSpPr>
        <p:spPr>
          <a:xfrm>
            <a:off x="1883664" y="1115568"/>
            <a:ext cx="1316736" cy="411480"/>
          </a:xfrm>
          <a:prstGeom prst="rect">
            <a:avLst/>
          </a:prstGeom>
          <a:noFill/>
          <a:ln/>
        </p:spPr>
        <p:txBody>
          <a:bodyPr wrap="square" lIns="0" tIns="0" rIns="0" bIns="0" rtlCol="0" anchor="ctr"/>
          <a:lstStyle/>
          <a:p>
            <a:pPr algn="ctr" indent="0" marL="0">
              <a:buNone/>
            </a:pPr>
            <a:r>
              <a:rPr lang="en-US" sz="950" b="1" dirty="0">
                <a:solidFill>
                  <a:srgbClr val="134E8E"/>
                </a:solidFill>
                <a:latin typeface="Calibri" pitchFamily="34" charset="0"/>
                <a:ea typeface="Calibri" pitchFamily="34" charset="-122"/>
                <a:cs typeface="Calibri" pitchFamily="34" charset="-120"/>
              </a:rPr>
              <a:t>Connexion</a:t>
            </a:r>
            <a:endParaRPr lang="en-US" sz="950" dirty="0"/>
          </a:p>
        </p:txBody>
      </p:sp>
      <p:sp>
        <p:nvSpPr>
          <p:cNvPr id="19" name="Shape 17"/>
          <p:cNvSpPr/>
          <p:nvPr/>
        </p:nvSpPr>
        <p:spPr>
          <a:xfrm>
            <a:off x="1901952" y="2423160"/>
            <a:ext cx="1261872" cy="1417320"/>
          </a:xfrm>
          <a:prstGeom prst="rect">
            <a:avLst/>
          </a:prstGeom>
          <a:solidFill>
            <a:srgbClr val="FFFFFF"/>
          </a:solidFill>
          <a:ln w="12700">
            <a:solidFill>
              <a:srgbClr val="DDE6F0"/>
            </a:solidFill>
            <a:prstDash val="solid"/>
          </a:ln>
          <a:effectLst>
            <a:outerShdw sx="100000" sy="100000" kx="0" ky="0" algn="bl" rotWithShape="0" blurRad="101600" dist="38100" dir="8100000">
              <a:srgbClr val="000000">
                <a:alpha val="10000"/>
              </a:srgbClr>
            </a:outerShdw>
          </a:effectLst>
        </p:spPr>
      </p:sp>
      <p:sp>
        <p:nvSpPr>
          <p:cNvPr id="20" name="Text 18"/>
          <p:cNvSpPr/>
          <p:nvPr/>
        </p:nvSpPr>
        <p:spPr>
          <a:xfrm>
            <a:off x="1975104" y="2468880"/>
            <a:ext cx="1115568" cy="1097280"/>
          </a:xfrm>
          <a:prstGeom prst="rect">
            <a:avLst/>
          </a:prstGeom>
          <a:noFill/>
          <a:ln/>
        </p:spPr>
        <p:txBody>
          <a:bodyPr wrap="square" lIns="0" tIns="0" rIns="0" bIns="0" rtlCol="0" anchor="t"/>
          <a:lstStyle/>
          <a:p>
            <a:pPr indent="0" marL="0">
              <a:lnSpc>
                <a:spcPct val="130000"/>
              </a:lnSpc>
              <a:buNone/>
            </a:pPr>
            <a:r>
              <a:rPr lang="en-US" sz="850" dirty="0">
                <a:solidFill>
                  <a:srgbClr val="1A2E4A"/>
                </a:solidFill>
                <a:latin typeface="Calibri" pitchFamily="34" charset="0"/>
                <a:ea typeface="Calibri" pitchFamily="34" charset="-122"/>
                <a:cs typeface="Calibri" pitchFamily="34" charset="-120"/>
              </a:rPr>
              <a:t>Se connecte à l'outil APD. Cherche comment filtrer par agence et région.</a:t>
            </a:r>
            <a:endParaRPr lang="en-US" sz="850" dirty="0"/>
          </a:p>
        </p:txBody>
      </p:sp>
      <p:sp>
        <p:nvSpPr>
          <p:cNvPr id="21" name="Shape 19"/>
          <p:cNvSpPr/>
          <p:nvPr/>
        </p:nvSpPr>
        <p:spPr>
          <a:xfrm>
            <a:off x="1901952" y="3886200"/>
            <a:ext cx="1261872" cy="292608"/>
          </a:xfrm>
          <a:prstGeom prst="rect">
            <a:avLst/>
          </a:prstGeom>
          <a:solidFill>
            <a:srgbClr val="6B7A8D"/>
          </a:solidFill>
          <a:ln w="12700">
            <a:solidFill>
              <a:srgbClr val="6B7A8D"/>
            </a:solidFill>
            <a:prstDash val="solid"/>
          </a:ln>
        </p:spPr>
      </p:sp>
      <p:sp>
        <p:nvSpPr>
          <p:cNvPr id="22" name="Text 20"/>
          <p:cNvSpPr/>
          <p:nvPr/>
        </p:nvSpPr>
        <p:spPr>
          <a:xfrm>
            <a:off x="1901952" y="3886200"/>
            <a:ext cx="1261872" cy="292608"/>
          </a:xfrm>
          <a:prstGeom prst="rect">
            <a:avLst/>
          </a:prstGeom>
          <a:noFill/>
          <a:ln/>
        </p:spPr>
        <p:txBody>
          <a:bodyPr wrap="square" lIns="0" tIns="0" rIns="0" bIns="0" rtlCol="0" anchor="ctr"/>
          <a:lstStyle/>
          <a:p>
            <a:pPr algn="ctr" indent="0" marL="0">
              <a:buNone/>
            </a:pPr>
            <a:r>
              <a:rPr lang="en-US" sz="850" dirty="0">
                <a:solidFill>
                  <a:srgbClr val="FFFFFF"/>
                </a:solidFill>
                <a:latin typeface="Calibri" pitchFamily="34" charset="0"/>
                <a:ea typeface="Calibri" pitchFamily="34" charset="-122"/>
                <a:cs typeface="Calibri" pitchFamily="34" charset="-120"/>
              </a:rPr>
              <a:t>Hésitant·e</a:t>
            </a:r>
            <a:endParaRPr lang="en-US" sz="850" dirty="0"/>
          </a:p>
        </p:txBody>
      </p:sp>
      <p:sp>
        <p:nvSpPr>
          <p:cNvPr id="23" name="Shape 21"/>
          <p:cNvSpPr/>
          <p:nvPr/>
        </p:nvSpPr>
        <p:spPr>
          <a:xfrm>
            <a:off x="3730752" y="1938528"/>
            <a:ext cx="420624" cy="420624"/>
          </a:xfrm>
          <a:prstGeom prst="ellipse">
            <a:avLst/>
          </a:prstGeom>
          <a:solidFill>
            <a:srgbClr val="134E8E"/>
          </a:solidFill>
          <a:ln w="12700">
            <a:solidFill>
              <a:srgbClr val="FFFFFF"/>
            </a:solidFill>
            <a:prstDash val="solid"/>
          </a:ln>
        </p:spPr>
      </p:sp>
      <p:sp>
        <p:nvSpPr>
          <p:cNvPr id="24" name="Text 22"/>
          <p:cNvSpPr/>
          <p:nvPr/>
        </p:nvSpPr>
        <p:spPr>
          <a:xfrm>
            <a:off x="3730752" y="1938528"/>
            <a:ext cx="420624" cy="42062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25" name="Text 23"/>
          <p:cNvSpPr/>
          <p:nvPr/>
        </p:nvSpPr>
        <p:spPr>
          <a:xfrm>
            <a:off x="3282696" y="1115568"/>
            <a:ext cx="1316736" cy="411480"/>
          </a:xfrm>
          <a:prstGeom prst="rect">
            <a:avLst/>
          </a:prstGeom>
          <a:noFill/>
          <a:ln/>
        </p:spPr>
        <p:txBody>
          <a:bodyPr wrap="square" lIns="0" tIns="0" rIns="0" bIns="0" rtlCol="0" anchor="ctr"/>
          <a:lstStyle/>
          <a:p>
            <a:pPr algn="ctr" indent="0" marL="0">
              <a:buNone/>
            </a:pPr>
            <a:r>
              <a:rPr lang="en-US" sz="950" b="1" dirty="0">
                <a:solidFill>
                  <a:srgbClr val="134E8E"/>
                </a:solidFill>
                <a:latin typeface="Calibri" pitchFamily="34" charset="0"/>
                <a:ea typeface="Calibri" pitchFamily="34" charset="-122"/>
                <a:cs typeface="Calibri" pitchFamily="34" charset="-120"/>
              </a:rPr>
              <a:t>Filtrage</a:t>
            </a:r>
            <a:endParaRPr lang="en-US" sz="950" dirty="0"/>
          </a:p>
        </p:txBody>
      </p:sp>
      <p:sp>
        <p:nvSpPr>
          <p:cNvPr id="26" name="Shape 24"/>
          <p:cNvSpPr/>
          <p:nvPr/>
        </p:nvSpPr>
        <p:spPr>
          <a:xfrm>
            <a:off x="3300984" y="2423160"/>
            <a:ext cx="1261872" cy="1417320"/>
          </a:xfrm>
          <a:prstGeom prst="rect">
            <a:avLst/>
          </a:prstGeom>
          <a:solidFill>
            <a:srgbClr val="FFFFFF"/>
          </a:solidFill>
          <a:ln w="12700">
            <a:solidFill>
              <a:srgbClr val="DDE6F0"/>
            </a:solidFill>
            <a:prstDash val="solid"/>
          </a:ln>
          <a:effectLst>
            <a:outerShdw sx="100000" sy="100000" kx="0" ky="0" algn="bl" rotWithShape="0" blurRad="101600" dist="38100" dir="8100000">
              <a:srgbClr val="000000">
                <a:alpha val="10000"/>
              </a:srgbClr>
            </a:outerShdw>
          </a:effectLst>
        </p:spPr>
      </p:sp>
      <p:sp>
        <p:nvSpPr>
          <p:cNvPr id="27" name="Text 25"/>
          <p:cNvSpPr/>
          <p:nvPr/>
        </p:nvSpPr>
        <p:spPr>
          <a:xfrm>
            <a:off x="3374136" y="2468880"/>
            <a:ext cx="1115568" cy="1097280"/>
          </a:xfrm>
          <a:prstGeom prst="rect">
            <a:avLst/>
          </a:prstGeom>
          <a:noFill/>
          <a:ln/>
        </p:spPr>
        <p:txBody>
          <a:bodyPr wrap="square" lIns="0" tIns="0" rIns="0" bIns="0" rtlCol="0" anchor="t"/>
          <a:lstStyle/>
          <a:p>
            <a:pPr indent="0" marL="0">
              <a:lnSpc>
                <a:spcPct val="130000"/>
              </a:lnSpc>
              <a:buNone/>
            </a:pPr>
            <a:r>
              <a:rPr lang="en-US" sz="850" dirty="0">
                <a:solidFill>
                  <a:srgbClr val="1A2E4A"/>
                </a:solidFill>
                <a:latin typeface="Calibri" pitchFamily="34" charset="0"/>
                <a:ea typeface="Calibri" pitchFamily="34" charset="-122"/>
                <a:cs typeface="Calibri" pitchFamily="34" charset="-120"/>
              </a:rPr>
              <a:t>Applique des filtres : pays, secteur, années 2019–2024. Difficile de combiner.</a:t>
            </a:r>
            <a:endParaRPr lang="en-US" sz="850" dirty="0"/>
          </a:p>
        </p:txBody>
      </p:sp>
      <p:sp>
        <p:nvSpPr>
          <p:cNvPr id="28" name="Shape 26"/>
          <p:cNvSpPr/>
          <p:nvPr/>
        </p:nvSpPr>
        <p:spPr>
          <a:xfrm>
            <a:off x="3300984" y="3886200"/>
            <a:ext cx="1261872" cy="292608"/>
          </a:xfrm>
          <a:prstGeom prst="rect">
            <a:avLst/>
          </a:prstGeom>
          <a:solidFill>
            <a:srgbClr val="E08A00"/>
          </a:solidFill>
          <a:ln w="12700">
            <a:solidFill>
              <a:srgbClr val="E08A00"/>
            </a:solidFill>
            <a:prstDash val="solid"/>
          </a:ln>
        </p:spPr>
      </p:sp>
      <p:sp>
        <p:nvSpPr>
          <p:cNvPr id="29" name="Text 27"/>
          <p:cNvSpPr/>
          <p:nvPr/>
        </p:nvSpPr>
        <p:spPr>
          <a:xfrm>
            <a:off x="3300984" y="3886200"/>
            <a:ext cx="1261872" cy="292608"/>
          </a:xfrm>
          <a:prstGeom prst="rect">
            <a:avLst/>
          </a:prstGeom>
          <a:noFill/>
          <a:ln/>
        </p:spPr>
        <p:txBody>
          <a:bodyPr wrap="square" lIns="0" tIns="0" rIns="0" bIns="0" rtlCol="0" anchor="ctr"/>
          <a:lstStyle/>
          <a:p>
            <a:pPr algn="ctr" indent="0" marL="0">
              <a:buNone/>
            </a:pPr>
            <a:r>
              <a:rPr lang="en-US" sz="850" dirty="0">
                <a:solidFill>
                  <a:srgbClr val="FFFFFF"/>
                </a:solidFill>
                <a:latin typeface="Calibri" pitchFamily="34" charset="0"/>
                <a:ea typeface="Calibri" pitchFamily="34" charset="-122"/>
                <a:cs typeface="Calibri" pitchFamily="34" charset="-120"/>
              </a:rPr>
              <a:t>Confus·e</a:t>
            </a:r>
            <a:endParaRPr lang="en-US" sz="850" dirty="0"/>
          </a:p>
        </p:txBody>
      </p:sp>
      <p:sp>
        <p:nvSpPr>
          <p:cNvPr id="30" name="Shape 28"/>
          <p:cNvSpPr/>
          <p:nvPr/>
        </p:nvSpPr>
        <p:spPr>
          <a:xfrm>
            <a:off x="5129784" y="1938528"/>
            <a:ext cx="420624" cy="420624"/>
          </a:xfrm>
          <a:prstGeom prst="ellipse">
            <a:avLst/>
          </a:prstGeom>
          <a:solidFill>
            <a:srgbClr val="134E8E"/>
          </a:solidFill>
          <a:ln w="12700">
            <a:solidFill>
              <a:srgbClr val="FFFFFF"/>
            </a:solidFill>
            <a:prstDash val="solid"/>
          </a:ln>
        </p:spPr>
      </p:sp>
      <p:sp>
        <p:nvSpPr>
          <p:cNvPr id="31" name="Text 29"/>
          <p:cNvSpPr/>
          <p:nvPr/>
        </p:nvSpPr>
        <p:spPr>
          <a:xfrm>
            <a:off x="5129784" y="1938528"/>
            <a:ext cx="420624" cy="42062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32" name="Text 30"/>
          <p:cNvSpPr/>
          <p:nvPr/>
        </p:nvSpPr>
        <p:spPr>
          <a:xfrm>
            <a:off x="4681728" y="1115568"/>
            <a:ext cx="1316736" cy="411480"/>
          </a:xfrm>
          <a:prstGeom prst="rect">
            <a:avLst/>
          </a:prstGeom>
          <a:noFill/>
          <a:ln/>
        </p:spPr>
        <p:txBody>
          <a:bodyPr wrap="square" lIns="0" tIns="0" rIns="0" bIns="0" rtlCol="0" anchor="ctr"/>
          <a:lstStyle/>
          <a:p>
            <a:pPr algn="ctr" indent="0" marL="0">
              <a:buNone/>
            </a:pPr>
            <a:r>
              <a:rPr lang="en-US" sz="950" b="1" dirty="0">
                <a:solidFill>
                  <a:srgbClr val="134E8E"/>
                </a:solidFill>
                <a:latin typeface="Calibri" pitchFamily="34" charset="0"/>
                <a:ea typeface="Calibri" pitchFamily="34" charset="-122"/>
                <a:cs typeface="Calibri" pitchFamily="34" charset="-120"/>
              </a:rPr>
              <a:t>Analyse</a:t>
            </a:r>
            <a:endParaRPr lang="en-US" sz="950" dirty="0"/>
          </a:p>
        </p:txBody>
      </p:sp>
      <p:sp>
        <p:nvSpPr>
          <p:cNvPr id="33" name="Shape 31"/>
          <p:cNvSpPr/>
          <p:nvPr/>
        </p:nvSpPr>
        <p:spPr>
          <a:xfrm>
            <a:off x="4700016" y="2423160"/>
            <a:ext cx="1261872" cy="1417320"/>
          </a:xfrm>
          <a:prstGeom prst="rect">
            <a:avLst/>
          </a:prstGeom>
          <a:solidFill>
            <a:srgbClr val="FFFFFF"/>
          </a:solidFill>
          <a:ln w="12700">
            <a:solidFill>
              <a:srgbClr val="DDE6F0"/>
            </a:solidFill>
            <a:prstDash val="solid"/>
          </a:ln>
          <a:effectLst>
            <a:outerShdw sx="100000" sy="100000" kx="0" ky="0" algn="bl" rotWithShape="0" blurRad="101600" dist="38100" dir="8100000">
              <a:srgbClr val="000000">
                <a:alpha val="10000"/>
              </a:srgbClr>
            </a:outerShdw>
          </a:effectLst>
        </p:spPr>
      </p:sp>
      <p:sp>
        <p:nvSpPr>
          <p:cNvPr id="34" name="Text 32"/>
          <p:cNvSpPr/>
          <p:nvPr/>
        </p:nvSpPr>
        <p:spPr>
          <a:xfrm>
            <a:off x="4773168" y="2468880"/>
            <a:ext cx="1115568" cy="1097280"/>
          </a:xfrm>
          <a:prstGeom prst="rect">
            <a:avLst/>
          </a:prstGeom>
          <a:noFill/>
          <a:ln/>
        </p:spPr>
        <p:txBody>
          <a:bodyPr wrap="square" lIns="0" tIns="0" rIns="0" bIns="0" rtlCol="0" anchor="t"/>
          <a:lstStyle/>
          <a:p>
            <a:pPr indent="0" marL="0">
              <a:lnSpc>
                <a:spcPct val="130000"/>
              </a:lnSpc>
              <a:buNone/>
            </a:pPr>
            <a:r>
              <a:rPr lang="en-US" sz="850" dirty="0">
                <a:solidFill>
                  <a:srgbClr val="1A2E4A"/>
                </a:solidFill>
                <a:latin typeface="Calibri" pitchFamily="34" charset="0"/>
                <a:ea typeface="Calibri" pitchFamily="34" charset="-122"/>
                <a:cs typeface="Calibri" pitchFamily="34" charset="-120"/>
              </a:rPr>
              <a:t>Explore les graphiques. Compare les allocations. Pic 2021 inexpliqué.</a:t>
            </a:r>
            <a:endParaRPr lang="en-US" sz="850" dirty="0"/>
          </a:p>
        </p:txBody>
      </p:sp>
      <p:sp>
        <p:nvSpPr>
          <p:cNvPr id="35" name="Shape 33"/>
          <p:cNvSpPr/>
          <p:nvPr/>
        </p:nvSpPr>
        <p:spPr>
          <a:xfrm>
            <a:off x="4700016" y="3886200"/>
            <a:ext cx="1261872" cy="292608"/>
          </a:xfrm>
          <a:prstGeom prst="rect">
            <a:avLst/>
          </a:prstGeom>
          <a:solidFill>
            <a:srgbClr val="1A7A4A"/>
          </a:solidFill>
          <a:ln w="12700">
            <a:solidFill>
              <a:srgbClr val="1A7A4A"/>
            </a:solidFill>
            <a:prstDash val="solid"/>
          </a:ln>
        </p:spPr>
      </p:sp>
      <p:sp>
        <p:nvSpPr>
          <p:cNvPr id="36" name="Text 34"/>
          <p:cNvSpPr/>
          <p:nvPr/>
        </p:nvSpPr>
        <p:spPr>
          <a:xfrm>
            <a:off x="4700016" y="3886200"/>
            <a:ext cx="1261872" cy="292608"/>
          </a:xfrm>
          <a:prstGeom prst="rect">
            <a:avLst/>
          </a:prstGeom>
          <a:noFill/>
          <a:ln/>
        </p:spPr>
        <p:txBody>
          <a:bodyPr wrap="square" lIns="0" tIns="0" rIns="0" bIns="0" rtlCol="0" anchor="ctr"/>
          <a:lstStyle/>
          <a:p>
            <a:pPr algn="ctr" indent="0" marL="0">
              <a:buNone/>
            </a:pPr>
            <a:r>
              <a:rPr lang="en-US" sz="850" dirty="0">
                <a:solidFill>
                  <a:srgbClr val="FFFFFF"/>
                </a:solidFill>
                <a:latin typeface="Calibri" pitchFamily="34" charset="0"/>
                <a:ea typeface="Calibri" pitchFamily="34" charset="-122"/>
                <a:cs typeface="Calibri" pitchFamily="34" charset="-120"/>
              </a:rPr>
              <a:t>Curieux·se</a:t>
            </a:r>
            <a:endParaRPr lang="en-US" sz="850" dirty="0"/>
          </a:p>
        </p:txBody>
      </p:sp>
      <p:sp>
        <p:nvSpPr>
          <p:cNvPr id="37" name="Shape 35"/>
          <p:cNvSpPr/>
          <p:nvPr/>
        </p:nvSpPr>
        <p:spPr>
          <a:xfrm>
            <a:off x="6528816" y="1938528"/>
            <a:ext cx="420624" cy="420624"/>
          </a:xfrm>
          <a:prstGeom prst="ellipse">
            <a:avLst/>
          </a:prstGeom>
          <a:solidFill>
            <a:srgbClr val="134E8E"/>
          </a:solidFill>
          <a:ln w="12700">
            <a:solidFill>
              <a:srgbClr val="FFFFFF"/>
            </a:solidFill>
            <a:prstDash val="solid"/>
          </a:ln>
        </p:spPr>
      </p:sp>
      <p:sp>
        <p:nvSpPr>
          <p:cNvPr id="38" name="Text 36"/>
          <p:cNvSpPr/>
          <p:nvPr/>
        </p:nvSpPr>
        <p:spPr>
          <a:xfrm>
            <a:off x="6528816" y="1938528"/>
            <a:ext cx="420624" cy="42062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39" name="Text 37"/>
          <p:cNvSpPr/>
          <p:nvPr/>
        </p:nvSpPr>
        <p:spPr>
          <a:xfrm>
            <a:off x="6080760" y="1115568"/>
            <a:ext cx="1316736" cy="411480"/>
          </a:xfrm>
          <a:prstGeom prst="rect">
            <a:avLst/>
          </a:prstGeom>
          <a:noFill/>
          <a:ln/>
        </p:spPr>
        <p:txBody>
          <a:bodyPr wrap="square" lIns="0" tIns="0" rIns="0" bIns="0" rtlCol="0" anchor="ctr"/>
          <a:lstStyle/>
          <a:p>
            <a:pPr algn="ctr" indent="0" marL="0">
              <a:buNone/>
            </a:pPr>
            <a:r>
              <a:rPr lang="en-US" sz="950" b="1" dirty="0">
                <a:solidFill>
                  <a:srgbClr val="134E8E"/>
                </a:solidFill>
                <a:latin typeface="Calibri" pitchFamily="34" charset="0"/>
                <a:ea typeface="Calibri" pitchFamily="34" charset="-122"/>
                <a:cs typeface="Calibri" pitchFamily="34" charset="-120"/>
              </a:rPr>
              <a:t>Rédaction</a:t>
            </a:r>
            <a:endParaRPr lang="en-US" sz="950" dirty="0"/>
          </a:p>
        </p:txBody>
      </p:sp>
      <p:sp>
        <p:nvSpPr>
          <p:cNvPr id="40" name="Shape 38"/>
          <p:cNvSpPr/>
          <p:nvPr/>
        </p:nvSpPr>
        <p:spPr>
          <a:xfrm>
            <a:off x="6099048" y="2423160"/>
            <a:ext cx="1261872" cy="1417320"/>
          </a:xfrm>
          <a:prstGeom prst="rect">
            <a:avLst/>
          </a:prstGeom>
          <a:solidFill>
            <a:srgbClr val="FFFFFF"/>
          </a:solidFill>
          <a:ln w="12700">
            <a:solidFill>
              <a:srgbClr val="DDE6F0"/>
            </a:solidFill>
            <a:prstDash val="solid"/>
          </a:ln>
          <a:effectLst>
            <a:outerShdw sx="100000" sy="100000" kx="0" ky="0" algn="bl" rotWithShape="0" blurRad="101600" dist="38100" dir="8100000">
              <a:srgbClr val="000000">
                <a:alpha val="10000"/>
              </a:srgbClr>
            </a:outerShdw>
          </a:effectLst>
        </p:spPr>
      </p:sp>
      <p:sp>
        <p:nvSpPr>
          <p:cNvPr id="41" name="Text 39"/>
          <p:cNvSpPr/>
          <p:nvPr/>
        </p:nvSpPr>
        <p:spPr>
          <a:xfrm>
            <a:off x="6172200" y="2468880"/>
            <a:ext cx="1115568" cy="1097280"/>
          </a:xfrm>
          <a:prstGeom prst="rect">
            <a:avLst/>
          </a:prstGeom>
          <a:noFill/>
          <a:ln/>
        </p:spPr>
        <p:txBody>
          <a:bodyPr wrap="square" lIns="0" tIns="0" rIns="0" bIns="0" rtlCol="0" anchor="t"/>
          <a:lstStyle/>
          <a:p>
            <a:pPr indent="0" marL="0">
              <a:lnSpc>
                <a:spcPct val="130000"/>
              </a:lnSpc>
              <a:buNone/>
            </a:pPr>
            <a:r>
              <a:rPr lang="en-US" sz="850" dirty="0">
                <a:solidFill>
                  <a:srgbClr val="1A2E4A"/>
                </a:solidFill>
                <a:latin typeface="Calibri" pitchFamily="34" charset="0"/>
                <a:ea typeface="Calibri" pitchFamily="34" charset="-122"/>
                <a:cs typeface="Calibri" pitchFamily="34" charset="-120"/>
              </a:rPr>
              <a:t>Copie manuellement les chiffres clés. Captures d'écran dans PowerPoint.</a:t>
            </a:r>
            <a:endParaRPr lang="en-US" sz="850" dirty="0"/>
          </a:p>
        </p:txBody>
      </p:sp>
      <p:sp>
        <p:nvSpPr>
          <p:cNvPr id="42" name="Shape 40"/>
          <p:cNvSpPr/>
          <p:nvPr/>
        </p:nvSpPr>
        <p:spPr>
          <a:xfrm>
            <a:off x="6099048" y="3886200"/>
            <a:ext cx="1261872" cy="292608"/>
          </a:xfrm>
          <a:prstGeom prst="rect">
            <a:avLst/>
          </a:prstGeom>
          <a:solidFill>
            <a:srgbClr val="C00707"/>
          </a:solidFill>
          <a:ln w="12700">
            <a:solidFill>
              <a:srgbClr val="C00707"/>
            </a:solidFill>
            <a:prstDash val="solid"/>
          </a:ln>
        </p:spPr>
      </p:sp>
      <p:sp>
        <p:nvSpPr>
          <p:cNvPr id="43" name="Text 41"/>
          <p:cNvSpPr/>
          <p:nvPr/>
        </p:nvSpPr>
        <p:spPr>
          <a:xfrm>
            <a:off x="6099048" y="3886200"/>
            <a:ext cx="1261872" cy="292608"/>
          </a:xfrm>
          <a:prstGeom prst="rect">
            <a:avLst/>
          </a:prstGeom>
          <a:noFill/>
          <a:ln/>
        </p:spPr>
        <p:txBody>
          <a:bodyPr wrap="square" lIns="0" tIns="0" rIns="0" bIns="0" rtlCol="0" anchor="ctr"/>
          <a:lstStyle/>
          <a:p>
            <a:pPr algn="ctr" indent="0" marL="0">
              <a:buNone/>
            </a:pPr>
            <a:r>
              <a:rPr lang="en-US" sz="850" dirty="0">
                <a:solidFill>
                  <a:srgbClr val="FFFFFF"/>
                </a:solidFill>
                <a:latin typeface="Calibri" pitchFamily="34" charset="0"/>
                <a:ea typeface="Calibri" pitchFamily="34" charset="-122"/>
                <a:cs typeface="Calibri" pitchFamily="34" charset="-120"/>
              </a:rPr>
              <a:t>Frustré·e</a:t>
            </a:r>
            <a:endParaRPr lang="en-US" sz="850" dirty="0"/>
          </a:p>
        </p:txBody>
      </p:sp>
      <p:sp>
        <p:nvSpPr>
          <p:cNvPr id="44" name="Shape 42"/>
          <p:cNvSpPr/>
          <p:nvPr/>
        </p:nvSpPr>
        <p:spPr>
          <a:xfrm>
            <a:off x="7927848" y="1938528"/>
            <a:ext cx="420624" cy="420624"/>
          </a:xfrm>
          <a:prstGeom prst="ellipse">
            <a:avLst/>
          </a:prstGeom>
          <a:solidFill>
            <a:srgbClr val="134E8E"/>
          </a:solidFill>
          <a:ln w="12700">
            <a:solidFill>
              <a:srgbClr val="FFFFFF"/>
            </a:solidFill>
            <a:prstDash val="solid"/>
          </a:ln>
        </p:spPr>
      </p:sp>
      <p:sp>
        <p:nvSpPr>
          <p:cNvPr id="45" name="Text 43"/>
          <p:cNvSpPr/>
          <p:nvPr/>
        </p:nvSpPr>
        <p:spPr>
          <a:xfrm>
            <a:off x="7927848" y="1938528"/>
            <a:ext cx="420624" cy="42062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46" name="Text 44"/>
          <p:cNvSpPr/>
          <p:nvPr/>
        </p:nvSpPr>
        <p:spPr>
          <a:xfrm>
            <a:off x="7479792" y="1115568"/>
            <a:ext cx="1316736" cy="411480"/>
          </a:xfrm>
          <a:prstGeom prst="rect">
            <a:avLst/>
          </a:prstGeom>
          <a:noFill/>
          <a:ln/>
        </p:spPr>
        <p:txBody>
          <a:bodyPr wrap="square" lIns="0" tIns="0" rIns="0" bIns="0" rtlCol="0" anchor="ctr"/>
          <a:lstStyle/>
          <a:p>
            <a:pPr algn="ctr" indent="0" marL="0">
              <a:buNone/>
            </a:pPr>
            <a:r>
              <a:rPr lang="en-US" sz="950" b="1" dirty="0">
                <a:solidFill>
                  <a:srgbClr val="134E8E"/>
                </a:solidFill>
                <a:latin typeface="Calibri" pitchFamily="34" charset="0"/>
                <a:ea typeface="Calibri" pitchFamily="34" charset="-122"/>
                <a:cs typeface="Calibri" pitchFamily="34" charset="-120"/>
              </a:rPr>
              <a:t>Partage</a:t>
            </a:r>
            <a:endParaRPr lang="en-US" sz="950" dirty="0"/>
          </a:p>
        </p:txBody>
      </p:sp>
      <p:sp>
        <p:nvSpPr>
          <p:cNvPr id="47" name="Shape 45"/>
          <p:cNvSpPr/>
          <p:nvPr/>
        </p:nvSpPr>
        <p:spPr>
          <a:xfrm>
            <a:off x="7498080" y="2423160"/>
            <a:ext cx="1261872" cy="1417320"/>
          </a:xfrm>
          <a:prstGeom prst="rect">
            <a:avLst/>
          </a:prstGeom>
          <a:solidFill>
            <a:srgbClr val="FFFFFF"/>
          </a:solidFill>
          <a:ln w="12700">
            <a:solidFill>
              <a:srgbClr val="DDE6F0"/>
            </a:solidFill>
            <a:prstDash val="solid"/>
          </a:ln>
          <a:effectLst>
            <a:outerShdw sx="100000" sy="100000" kx="0" ky="0" algn="bl" rotWithShape="0" blurRad="101600" dist="38100" dir="8100000">
              <a:srgbClr val="000000">
                <a:alpha val="10000"/>
              </a:srgbClr>
            </a:outerShdw>
          </a:effectLst>
        </p:spPr>
      </p:sp>
      <p:sp>
        <p:nvSpPr>
          <p:cNvPr id="48" name="Text 46"/>
          <p:cNvSpPr/>
          <p:nvPr/>
        </p:nvSpPr>
        <p:spPr>
          <a:xfrm>
            <a:off x="7571232" y="2468880"/>
            <a:ext cx="1115568" cy="1097280"/>
          </a:xfrm>
          <a:prstGeom prst="rect">
            <a:avLst/>
          </a:prstGeom>
          <a:noFill/>
          <a:ln/>
        </p:spPr>
        <p:txBody>
          <a:bodyPr wrap="square" lIns="0" tIns="0" rIns="0" bIns="0" rtlCol="0" anchor="t"/>
          <a:lstStyle/>
          <a:p>
            <a:pPr indent="0" marL="0">
              <a:lnSpc>
                <a:spcPct val="130000"/>
              </a:lnSpc>
              <a:buNone/>
            </a:pPr>
            <a:r>
              <a:rPr lang="en-US" sz="850" dirty="0">
                <a:solidFill>
                  <a:srgbClr val="1A2E4A"/>
                </a:solidFill>
                <a:latin typeface="Calibri" pitchFamily="34" charset="0"/>
                <a:ea typeface="Calibri" pitchFamily="34" charset="-122"/>
                <a:cs typeface="Calibri" pitchFamily="34" charset="-120"/>
              </a:rPr>
              <a:t>Envoie le rapport. Aurait voulu partager un lien vers le dashboard.</a:t>
            </a:r>
            <a:endParaRPr lang="en-US" sz="850" dirty="0"/>
          </a:p>
        </p:txBody>
      </p:sp>
      <p:sp>
        <p:nvSpPr>
          <p:cNvPr id="49" name="Shape 47"/>
          <p:cNvSpPr/>
          <p:nvPr/>
        </p:nvSpPr>
        <p:spPr>
          <a:xfrm>
            <a:off x="7498080" y="3886200"/>
            <a:ext cx="1261872" cy="292608"/>
          </a:xfrm>
          <a:prstGeom prst="rect">
            <a:avLst/>
          </a:prstGeom>
          <a:solidFill>
            <a:srgbClr val="134E8E"/>
          </a:solidFill>
          <a:ln w="12700">
            <a:solidFill>
              <a:srgbClr val="134E8E"/>
            </a:solidFill>
            <a:prstDash val="solid"/>
          </a:ln>
        </p:spPr>
      </p:sp>
      <p:sp>
        <p:nvSpPr>
          <p:cNvPr id="50" name="Text 48"/>
          <p:cNvSpPr/>
          <p:nvPr/>
        </p:nvSpPr>
        <p:spPr>
          <a:xfrm>
            <a:off x="7498080" y="3886200"/>
            <a:ext cx="1261872" cy="292608"/>
          </a:xfrm>
          <a:prstGeom prst="rect">
            <a:avLst/>
          </a:prstGeom>
          <a:noFill/>
          <a:ln/>
        </p:spPr>
        <p:txBody>
          <a:bodyPr wrap="square" lIns="0" tIns="0" rIns="0" bIns="0" rtlCol="0" anchor="ctr"/>
          <a:lstStyle/>
          <a:p>
            <a:pPr algn="ctr" indent="0" marL="0">
              <a:buNone/>
            </a:pPr>
            <a:r>
              <a:rPr lang="en-US" sz="850" dirty="0">
                <a:solidFill>
                  <a:srgbClr val="FFFFFF"/>
                </a:solidFill>
                <a:latin typeface="Calibri" pitchFamily="34" charset="0"/>
                <a:ea typeface="Calibri" pitchFamily="34" charset="-122"/>
                <a:cs typeface="Calibri" pitchFamily="34" charset="-120"/>
              </a:rPr>
              <a:t>Déçu·e</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8F0"/>
        </a:solidFill>
      </p:bgPr>
    </p:bg>
    <p:spTree>
      <p:nvGrpSpPr>
        <p:cNvPr id="1" name=""/>
        <p:cNvGrpSpPr/>
        <p:nvPr/>
      </p:nvGrpSpPr>
      <p:grpSpPr>
        <a:xfrm>
          <a:off x="0" y="0"/>
          <a:ext cx="0" cy="0"/>
          <a:chOff x="0" y="0"/>
          <a:chExt cx="0" cy="0"/>
        </a:xfrm>
      </p:grpSpPr>
      <p:sp>
        <p:nvSpPr>
          <p:cNvPr id="2" name="Shape 0"/>
          <p:cNvSpPr/>
          <p:nvPr/>
        </p:nvSpPr>
        <p:spPr>
          <a:xfrm>
            <a:off x="0" y="0"/>
            <a:ext cx="9144000" cy="960120"/>
          </a:xfrm>
          <a:prstGeom prst="rect">
            <a:avLst/>
          </a:prstGeom>
          <a:solidFill>
            <a:srgbClr val="134E8E"/>
          </a:solidFill>
          <a:ln w="12700">
            <a:solidFill>
              <a:srgbClr val="134E8E"/>
            </a:solidFill>
            <a:prstDash val="solid"/>
          </a:ln>
        </p:spPr>
      </p:sp>
      <p:sp>
        <p:nvSpPr>
          <p:cNvPr id="3" name="Shape 1"/>
          <p:cNvSpPr/>
          <p:nvPr/>
        </p:nvSpPr>
        <p:spPr>
          <a:xfrm>
            <a:off x="0" y="0"/>
            <a:ext cx="137160" cy="960120"/>
          </a:xfrm>
          <a:prstGeom prst="rect">
            <a:avLst/>
          </a:prstGeom>
          <a:solidFill>
            <a:srgbClr val="C00707"/>
          </a:solidFill>
          <a:ln w="12700">
            <a:solidFill>
              <a:srgbClr val="C00707"/>
            </a:solidFill>
            <a:prstDash val="solid"/>
          </a:ln>
        </p:spPr>
      </p:sp>
      <p:sp>
        <p:nvSpPr>
          <p:cNvPr id="4" name="Text 2"/>
          <p:cNvSpPr/>
          <p:nvPr/>
        </p:nvSpPr>
        <p:spPr>
          <a:xfrm>
            <a:off x="320040" y="0"/>
            <a:ext cx="7772400" cy="594360"/>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05 — Benchmarks</a:t>
            </a:r>
            <a:endParaRPr lang="en-US" sz="2200" dirty="0"/>
          </a:p>
        </p:txBody>
      </p:sp>
      <p:sp>
        <p:nvSpPr>
          <p:cNvPr id="5" name="Text 3"/>
          <p:cNvSpPr/>
          <p:nvPr/>
        </p:nvSpPr>
        <p:spPr>
          <a:xfrm>
            <a:off x="320040" y="594360"/>
            <a:ext cx="8503920" cy="320040"/>
          </a:xfrm>
          <a:prstGeom prst="rect">
            <a:avLst/>
          </a:prstGeom>
          <a:noFill/>
          <a:ln/>
        </p:spPr>
        <p:txBody>
          <a:bodyPr wrap="square" lIns="0" tIns="0" rIns="0" bIns="0" rtlCol="0" anchor="ctr"/>
          <a:lstStyle/>
          <a:p>
            <a:pPr indent="0" marL="0">
              <a:buNone/>
            </a:pPr>
            <a:r>
              <a:rPr lang="en-US" sz="1050" i="1" dirty="0">
                <a:solidFill>
                  <a:srgbClr val="8AAFC8"/>
                </a:solidFill>
                <a:latin typeface="Calibri" pitchFamily="34" charset="0"/>
                <a:ea typeface="Calibri" pitchFamily="34" charset="-122"/>
                <a:cs typeface="Calibri" pitchFamily="34" charset="-120"/>
              </a:rPr>
              <a:t>4 solutions de référence analysées pour l'analyse des flux APD</a:t>
            </a:r>
            <a:endParaRPr lang="en-US" sz="1050" dirty="0"/>
          </a:p>
        </p:txBody>
      </p:sp>
      <p:sp>
        <p:nvSpPr>
          <p:cNvPr id="6" name="Shape 4"/>
          <p:cNvSpPr/>
          <p:nvPr/>
        </p:nvSpPr>
        <p:spPr>
          <a:xfrm>
            <a:off x="0" y="4956048"/>
            <a:ext cx="9144000" cy="182880"/>
          </a:xfrm>
          <a:prstGeom prst="rect">
            <a:avLst/>
          </a:prstGeom>
          <a:solidFill>
            <a:srgbClr val="134E8E"/>
          </a:solidFill>
          <a:ln w="12700">
            <a:solidFill>
              <a:srgbClr val="134E8E"/>
            </a:solidFill>
            <a:prstDash val="solid"/>
          </a:ln>
        </p:spPr>
      </p:sp>
      <p:sp>
        <p:nvSpPr>
          <p:cNvPr id="7" name="Text 5"/>
          <p:cNvSpPr/>
          <p:nvPr/>
        </p:nvSpPr>
        <p:spPr>
          <a:xfrm>
            <a:off x="182880" y="4919472"/>
            <a:ext cx="8778240" cy="219456"/>
          </a:xfrm>
          <a:prstGeom prst="rect">
            <a:avLst/>
          </a:prstGeom>
          <a:noFill/>
          <a:ln/>
        </p:spPr>
        <p:txBody>
          <a:bodyPr wrap="square" lIns="0" tIns="0" rIns="0" bIns="0" rtlCol="0" anchor="ctr"/>
          <a:lstStyle/>
          <a:p>
            <a:pPr algn="r" indent="0" marL="0">
              <a:buNone/>
            </a:pPr>
            <a:r>
              <a:rPr lang="en-US" sz="850" dirty="0">
                <a:solidFill>
                  <a:srgbClr val="FFFFFF"/>
                </a:solidFill>
                <a:latin typeface="Calibri" pitchFamily="34" charset="0"/>
                <a:ea typeface="Calibri" pitchFamily="34" charset="-122"/>
                <a:cs typeface="Calibri" pitchFamily="34" charset="-120"/>
              </a:rPr>
              <a:t>Application Data APD  ·  AFD  ·  DPM Project 2025</a:t>
            </a:r>
            <a:endParaRPr lang="en-US" sz="850" dirty="0"/>
          </a:p>
        </p:txBody>
      </p:sp>
      <p:sp>
        <p:nvSpPr>
          <p:cNvPr id="8" name="Shape 6"/>
          <p:cNvSpPr/>
          <p:nvPr/>
        </p:nvSpPr>
        <p:spPr>
          <a:xfrm>
            <a:off x="256032" y="1115568"/>
            <a:ext cx="4169664" cy="1719072"/>
          </a:xfrm>
          <a:prstGeom prst="rect">
            <a:avLst/>
          </a:prstGeom>
          <a:solidFill>
            <a:srgbClr val="FFFFFF"/>
          </a:solidFill>
          <a:ln w="12700">
            <a:solidFill>
              <a:srgbClr val="DDE6F0"/>
            </a:solidFill>
            <a:prstDash val="solid"/>
          </a:ln>
          <a:effectLst>
            <a:outerShdw sx="100000" sy="100000" kx="0" ky="0" algn="bl" rotWithShape="0" blurRad="101600" dist="38100" dir="8100000">
              <a:srgbClr val="000000">
                <a:alpha val="10000"/>
              </a:srgbClr>
            </a:outerShdw>
          </a:effectLst>
        </p:spPr>
      </p:sp>
      <p:sp>
        <p:nvSpPr>
          <p:cNvPr id="9" name="Shape 7"/>
          <p:cNvSpPr/>
          <p:nvPr/>
        </p:nvSpPr>
        <p:spPr>
          <a:xfrm>
            <a:off x="256032" y="1115568"/>
            <a:ext cx="109728" cy="1719072"/>
          </a:xfrm>
          <a:prstGeom prst="rect">
            <a:avLst/>
          </a:prstGeom>
          <a:solidFill>
            <a:srgbClr val="134E8E"/>
          </a:solidFill>
          <a:ln w="12700">
            <a:solidFill>
              <a:srgbClr val="134E8E"/>
            </a:solidFill>
            <a:prstDash val="solid"/>
          </a:ln>
        </p:spPr>
      </p:sp>
      <p:sp>
        <p:nvSpPr>
          <p:cNvPr id="10" name="Text 8"/>
          <p:cNvSpPr/>
          <p:nvPr/>
        </p:nvSpPr>
        <p:spPr>
          <a:xfrm>
            <a:off x="484632" y="1207008"/>
            <a:ext cx="3849624" cy="228600"/>
          </a:xfrm>
          <a:prstGeom prst="rect">
            <a:avLst/>
          </a:prstGeom>
          <a:noFill/>
          <a:ln/>
        </p:spPr>
        <p:txBody>
          <a:bodyPr wrap="square" lIns="0" tIns="0" rIns="0" bIns="0" rtlCol="0" anchor="ctr"/>
          <a:lstStyle/>
          <a:p>
            <a:pPr indent="0" marL="0">
              <a:buNone/>
            </a:pPr>
            <a:r>
              <a:rPr lang="en-US" sz="900" b="1" spc="100" kern="0" dirty="0">
                <a:solidFill>
                  <a:srgbClr val="6B7A8D"/>
                </a:solidFill>
                <a:latin typeface="Calibri" pitchFamily="34" charset="0"/>
                <a:ea typeface="Calibri" pitchFamily="34" charset="-122"/>
                <a:cs typeface="Calibri" pitchFamily="34" charset="-120"/>
              </a:rPr>
              <a:t>Commission Européenne</a:t>
            </a:r>
            <a:endParaRPr lang="en-US" sz="900" dirty="0"/>
          </a:p>
        </p:txBody>
      </p:sp>
      <p:sp>
        <p:nvSpPr>
          <p:cNvPr id="11" name="Text 9"/>
          <p:cNvSpPr/>
          <p:nvPr/>
        </p:nvSpPr>
        <p:spPr>
          <a:xfrm>
            <a:off x="484632" y="1389888"/>
            <a:ext cx="3849624" cy="292608"/>
          </a:xfrm>
          <a:prstGeom prst="rect">
            <a:avLst/>
          </a:prstGeom>
          <a:noFill/>
          <a:ln/>
        </p:spPr>
        <p:txBody>
          <a:bodyPr wrap="square" lIns="0" tIns="0" rIns="0" bIns="0" rtlCol="0" anchor="ctr"/>
          <a:lstStyle/>
          <a:p>
            <a:pPr indent="0" marL="0">
              <a:buNone/>
            </a:pPr>
            <a:r>
              <a:rPr lang="en-US" sz="1300" b="1" dirty="0">
                <a:solidFill>
                  <a:srgbClr val="134E8E"/>
                </a:solidFill>
                <a:latin typeface="Calibri" pitchFamily="34" charset="0"/>
                <a:ea typeface="Calibri" pitchFamily="34" charset="-122"/>
                <a:cs typeface="Calibri" pitchFamily="34" charset="-120"/>
              </a:rPr>
              <a:t>Team Europe Explorer</a:t>
            </a:r>
            <a:endParaRPr lang="en-US" sz="1300" dirty="0"/>
          </a:p>
        </p:txBody>
      </p:sp>
      <p:sp>
        <p:nvSpPr>
          <p:cNvPr id="12" name="Text 10"/>
          <p:cNvSpPr/>
          <p:nvPr/>
        </p:nvSpPr>
        <p:spPr>
          <a:xfrm>
            <a:off x="484632" y="1664208"/>
            <a:ext cx="3849624" cy="201168"/>
          </a:xfrm>
          <a:prstGeom prst="rect">
            <a:avLst/>
          </a:prstGeom>
          <a:noFill/>
          <a:ln/>
        </p:spPr>
        <p:txBody>
          <a:bodyPr wrap="square" lIns="0" tIns="0" rIns="0" bIns="0" rtlCol="0" anchor="ctr"/>
          <a:lstStyle/>
          <a:p>
            <a:pPr indent="0" marL="0">
              <a:buNone/>
            </a:pPr>
            <a:r>
              <a:rPr lang="en-US" sz="950" i="1" dirty="0">
                <a:solidFill>
                  <a:srgbClr val="7AAACE"/>
                </a:solidFill>
                <a:latin typeface="Calibri" pitchFamily="34" charset="0"/>
                <a:ea typeface="Calibri" pitchFamily="34" charset="-122"/>
                <a:cs typeface="Calibri" pitchFamily="34" charset="-120"/>
              </a:rPr>
              <a:t>Visualisation APD/TOSSD de l'UE</a:t>
            </a:r>
            <a:endParaRPr lang="en-US" sz="950" dirty="0"/>
          </a:p>
        </p:txBody>
      </p:sp>
      <p:sp>
        <p:nvSpPr>
          <p:cNvPr id="13" name="Shape 11"/>
          <p:cNvSpPr/>
          <p:nvPr/>
        </p:nvSpPr>
        <p:spPr>
          <a:xfrm>
            <a:off x="484632" y="1901952"/>
            <a:ext cx="3803904" cy="0"/>
          </a:xfrm>
          <a:prstGeom prst="line">
            <a:avLst/>
          </a:prstGeom>
          <a:noFill/>
          <a:ln w="12700">
            <a:solidFill>
              <a:srgbClr val="DDE6F0"/>
            </a:solidFill>
            <a:prstDash val="solid"/>
          </a:ln>
        </p:spPr>
      </p:sp>
      <p:sp>
        <p:nvSpPr>
          <p:cNvPr id="14" name="Text 12"/>
          <p:cNvSpPr/>
          <p:nvPr/>
        </p:nvSpPr>
        <p:spPr>
          <a:xfrm>
            <a:off x="484632" y="1956816"/>
            <a:ext cx="3849624" cy="411480"/>
          </a:xfrm>
          <a:prstGeom prst="rect">
            <a:avLst/>
          </a:prstGeom>
          <a:noFill/>
          <a:ln/>
        </p:spPr>
        <p:txBody>
          <a:bodyPr wrap="square" lIns="0" tIns="0" rIns="0" bIns="0" rtlCol="0" anchor="t"/>
          <a:lstStyle/>
          <a:p>
            <a:pPr indent="0" marL="0">
              <a:lnSpc>
                <a:spcPct val="125000"/>
              </a:lnSpc>
              <a:buNone/>
            </a:pPr>
            <a:r>
              <a:rPr lang="en-US" sz="950" dirty="0">
                <a:solidFill>
                  <a:srgbClr val="1A7A4A"/>
                </a:solidFill>
                <a:latin typeface="Calibri" pitchFamily="34" charset="0"/>
                <a:ea typeface="Calibri" pitchFamily="34" charset="-122"/>
                <a:cs typeface="Calibri" pitchFamily="34" charset="-120"/>
              </a:rPr>
              <a:t>✓  Dashboards par pays/région, fiches pays communication, narratif politique clair.</a:t>
            </a:r>
            <a:endParaRPr lang="en-US" sz="950" dirty="0"/>
          </a:p>
        </p:txBody>
      </p:sp>
      <p:sp>
        <p:nvSpPr>
          <p:cNvPr id="15" name="Text 13"/>
          <p:cNvSpPr/>
          <p:nvPr/>
        </p:nvSpPr>
        <p:spPr>
          <a:xfrm>
            <a:off x="484632" y="2395728"/>
            <a:ext cx="3849624" cy="384048"/>
          </a:xfrm>
          <a:prstGeom prst="rect">
            <a:avLst/>
          </a:prstGeom>
          <a:noFill/>
          <a:ln/>
        </p:spPr>
        <p:txBody>
          <a:bodyPr wrap="square" lIns="0" tIns="0" rIns="0" bIns="0" rtlCol="0" anchor="t"/>
          <a:lstStyle/>
          <a:p>
            <a:pPr indent="0" marL="0">
              <a:lnSpc>
                <a:spcPct val="125000"/>
              </a:lnSpc>
              <a:buNone/>
            </a:pPr>
            <a:r>
              <a:rPr lang="en-US" sz="950" dirty="0">
                <a:solidFill>
                  <a:srgbClr val="6B7A8D"/>
                </a:solidFill>
                <a:latin typeface="Calibri" pitchFamily="34" charset="0"/>
                <a:ea typeface="Calibri" pitchFamily="34" charset="-122"/>
                <a:cs typeface="Calibri" pitchFamily="34" charset="-120"/>
              </a:rPr>
              <a:t>⚠  Peu d'outils décisionnels pour les arbitrages internes AFD.</a:t>
            </a:r>
            <a:endParaRPr lang="en-US" sz="950" dirty="0"/>
          </a:p>
        </p:txBody>
      </p:sp>
      <p:sp>
        <p:nvSpPr>
          <p:cNvPr id="16" name="Shape 14"/>
          <p:cNvSpPr/>
          <p:nvPr/>
        </p:nvSpPr>
        <p:spPr>
          <a:xfrm>
            <a:off x="4681728" y="1115568"/>
            <a:ext cx="4169664" cy="1719072"/>
          </a:xfrm>
          <a:prstGeom prst="rect">
            <a:avLst/>
          </a:prstGeom>
          <a:solidFill>
            <a:srgbClr val="FFFFFF"/>
          </a:solidFill>
          <a:ln w="12700">
            <a:solidFill>
              <a:srgbClr val="DDE6F0"/>
            </a:solidFill>
            <a:prstDash val="solid"/>
          </a:ln>
          <a:effectLst>
            <a:outerShdw sx="100000" sy="100000" kx="0" ky="0" algn="bl" rotWithShape="0" blurRad="101600" dist="38100" dir="8100000">
              <a:srgbClr val="000000">
                <a:alpha val="10000"/>
              </a:srgbClr>
            </a:outerShdw>
          </a:effectLst>
        </p:spPr>
      </p:sp>
      <p:sp>
        <p:nvSpPr>
          <p:cNvPr id="17" name="Shape 15"/>
          <p:cNvSpPr/>
          <p:nvPr/>
        </p:nvSpPr>
        <p:spPr>
          <a:xfrm>
            <a:off x="4681728" y="1115568"/>
            <a:ext cx="109728" cy="1719072"/>
          </a:xfrm>
          <a:prstGeom prst="rect">
            <a:avLst/>
          </a:prstGeom>
          <a:solidFill>
            <a:srgbClr val="7AAACE"/>
          </a:solidFill>
          <a:ln w="12700">
            <a:solidFill>
              <a:srgbClr val="7AAACE"/>
            </a:solidFill>
            <a:prstDash val="solid"/>
          </a:ln>
        </p:spPr>
      </p:sp>
      <p:sp>
        <p:nvSpPr>
          <p:cNvPr id="18" name="Text 16"/>
          <p:cNvSpPr/>
          <p:nvPr/>
        </p:nvSpPr>
        <p:spPr>
          <a:xfrm>
            <a:off x="4910328" y="1207008"/>
            <a:ext cx="3849624" cy="228600"/>
          </a:xfrm>
          <a:prstGeom prst="rect">
            <a:avLst/>
          </a:prstGeom>
          <a:noFill/>
          <a:ln/>
        </p:spPr>
        <p:txBody>
          <a:bodyPr wrap="square" lIns="0" tIns="0" rIns="0" bIns="0" rtlCol="0" anchor="ctr"/>
          <a:lstStyle/>
          <a:p>
            <a:pPr indent="0" marL="0">
              <a:buNone/>
            </a:pPr>
            <a:r>
              <a:rPr lang="en-US" sz="900" b="1" spc="100" kern="0" dirty="0">
                <a:solidFill>
                  <a:srgbClr val="6B7A8D"/>
                </a:solidFill>
                <a:latin typeface="Calibri" pitchFamily="34" charset="0"/>
                <a:ea typeface="Calibri" pitchFamily="34" charset="-122"/>
                <a:cs typeface="Calibri" pitchFamily="34" charset="-120"/>
              </a:rPr>
              <a:t>OCDE</a:t>
            </a:r>
            <a:endParaRPr lang="en-US" sz="900" dirty="0"/>
          </a:p>
        </p:txBody>
      </p:sp>
      <p:sp>
        <p:nvSpPr>
          <p:cNvPr id="19" name="Text 17"/>
          <p:cNvSpPr/>
          <p:nvPr/>
        </p:nvSpPr>
        <p:spPr>
          <a:xfrm>
            <a:off x="4910328" y="1389888"/>
            <a:ext cx="3849624" cy="292608"/>
          </a:xfrm>
          <a:prstGeom prst="rect">
            <a:avLst/>
          </a:prstGeom>
          <a:noFill/>
          <a:ln/>
        </p:spPr>
        <p:txBody>
          <a:bodyPr wrap="square" lIns="0" tIns="0" rIns="0" bIns="0" rtlCol="0" anchor="ctr"/>
          <a:lstStyle/>
          <a:p>
            <a:pPr indent="0" marL="0">
              <a:buNone/>
            </a:pPr>
            <a:r>
              <a:rPr lang="en-US" sz="1300" b="1" dirty="0">
                <a:solidFill>
                  <a:srgbClr val="134E8E"/>
                </a:solidFill>
                <a:latin typeface="Calibri" pitchFamily="34" charset="0"/>
                <a:ea typeface="Calibri" pitchFamily="34" charset="-122"/>
                <a:cs typeface="Calibri" pitchFamily="34" charset="-120"/>
              </a:rPr>
              <a:t>DAC / Data Explorer / Aid at a Glance</a:t>
            </a:r>
            <a:endParaRPr lang="en-US" sz="1300" dirty="0"/>
          </a:p>
        </p:txBody>
      </p:sp>
      <p:sp>
        <p:nvSpPr>
          <p:cNvPr id="20" name="Text 18"/>
          <p:cNvSpPr/>
          <p:nvPr/>
        </p:nvSpPr>
        <p:spPr>
          <a:xfrm>
            <a:off x="4910328" y="1664208"/>
            <a:ext cx="3849624" cy="201168"/>
          </a:xfrm>
          <a:prstGeom prst="rect">
            <a:avLst/>
          </a:prstGeom>
          <a:noFill/>
          <a:ln/>
        </p:spPr>
        <p:txBody>
          <a:bodyPr wrap="square" lIns="0" tIns="0" rIns="0" bIns="0" rtlCol="0" anchor="ctr"/>
          <a:lstStyle/>
          <a:p>
            <a:pPr indent="0" marL="0">
              <a:buNone/>
            </a:pPr>
            <a:r>
              <a:rPr lang="en-US" sz="950" i="1" dirty="0">
                <a:solidFill>
                  <a:srgbClr val="7AAACE"/>
                </a:solidFill>
                <a:latin typeface="Calibri" pitchFamily="34" charset="0"/>
                <a:ea typeface="Calibri" pitchFamily="34" charset="-122"/>
                <a:cs typeface="Calibri" pitchFamily="34" charset="-120"/>
              </a:rPr>
              <a:t>Référence statistique mondiale APD</a:t>
            </a:r>
            <a:endParaRPr lang="en-US" sz="950" dirty="0"/>
          </a:p>
        </p:txBody>
      </p:sp>
      <p:sp>
        <p:nvSpPr>
          <p:cNvPr id="21" name="Shape 19"/>
          <p:cNvSpPr/>
          <p:nvPr/>
        </p:nvSpPr>
        <p:spPr>
          <a:xfrm>
            <a:off x="4910328" y="1901952"/>
            <a:ext cx="3803904" cy="0"/>
          </a:xfrm>
          <a:prstGeom prst="line">
            <a:avLst/>
          </a:prstGeom>
          <a:noFill/>
          <a:ln w="12700">
            <a:solidFill>
              <a:srgbClr val="DDE6F0"/>
            </a:solidFill>
            <a:prstDash val="solid"/>
          </a:ln>
        </p:spPr>
      </p:sp>
      <p:sp>
        <p:nvSpPr>
          <p:cNvPr id="22" name="Text 20"/>
          <p:cNvSpPr/>
          <p:nvPr/>
        </p:nvSpPr>
        <p:spPr>
          <a:xfrm>
            <a:off x="4910328" y="1956816"/>
            <a:ext cx="3849624" cy="411480"/>
          </a:xfrm>
          <a:prstGeom prst="rect">
            <a:avLst/>
          </a:prstGeom>
          <a:noFill/>
          <a:ln/>
        </p:spPr>
        <p:txBody>
          <a:bodyPr wrap="square" lIns="0" tIns="0" rIns="0" bIns="0" rtlCol="0" anchor="t"/>
          <a:lstStyle/>
          <a:p>
            <a:pPr indent="0" marL="0">
              <a:lnSpc>
                <a:spcPct val="125000"/>
              </a:lnSpc>
              <a:buNone/>
            </a:pPr>
            <a:r>
              <a:rPr lang="en-US" sz="950" dirty="0">
                <a:solidFill>
                  <a:srgbClr val="1A7A4A"/>
                </a:solidFill>
                <a:latin typeface="Calibri" pitchFamily="34" charset="0"/>
                <a:ea typeface="Calibri" pitchFamily="34" charset="-122"/>
                <a:cs typeface="Calibri" pitchFamily="34" charset="-120"/>
              </a:rPr>
              <a:t>✓  Filtres multi-dimensions (pays, secteur, type de flux), vues synthétiques, API.</a:t>
            </a:r>
            <a:endParaRPr lang="en-US" sz="950" dirty="0"/>
          </a:p>
        </p:txBody>
      </p:sp>
      <p:sp>
        <p:nvSpPr>
          <p:cNvPr id="23" name="Text 21"/>
          <p:cNvSpPr/>
          <p:nvPr/>
        </p:nvSpPr>
        <p:spPr>
          <a:xfrm>
            <a:off x="4910328" y="2395728"/>
            <a:ext cx="3849624" cy="384048"/>
          </a:xfrm>
          <a:prstGeom prst="rect">
            <a:avLst/>
          </a:prstGeom>
          <a:noFill/>
          <a:ln/>
        </p:spPr>
        <p:txBody>
          <a:bodyPr wrap="square" lIns="0" tIns="0" rIns="0" bIns="0" rtlCol="0" anchor="t"/>
          <a:lstStyle/>
          <a:p>
            <a:pPr indent="0" marL="0">
              <a:lnSpc>
                <a:spcPct val="125000"/>
              </a:lnSpc>
              <a:buNone/>
            </a:pPr>
            <a:r>
              <a:rPr lang="en-US" sz="950" dirty="0">
                <a:solidFill>
                  <a:srgbClr val="6B7A8D"/>
                </a:solidFill>
                <a:latin typeface="Calibri" pitchFamily="34" charset="0"/>
                <a:ea typeface="Calibri" pitchFamily="34" charset="-122"/>
                <a:cs typeface="Calibri" pitchFamily="34" charset="-120"/>
              </a:rPr>
              <a:t>⚠  Vision macro, peu de profondeur sur les spécificités internes d'un bailleur.</a:t>
            </a:r>
            <a:endParaRPr lang="en-US" sz="950" dirty="0"/>
          </a:p>
        </p:txBody>
      </p:sp>
      <p:sp>
        <p:nvSpPr>
          <p:cNvPr id="24" name="Shape 22"/>
          <p:cNvSpPr/>
          <p:nvPr/>
        </p:nvSpPr>
        <p:spPr>
          <a:xfrm>
            <a:off x="256032" y="2971800"/>
            <a:ext cx="4169664" cy="1719072"/>
          </a:xfrm>
          <a:prstGeom prst="rect">
            <a:avLst/>
          </a:prstGeom>
          <a:solidFill>
            <a:srgbClr val="FFFFFF"/>
          </a:solidFill>
          <a:ln w="12700">
            <a:solidFill>
              <a:srgbClr val="DDE6F0"/>
            </a:solidFill>
            <a:prstDash val="solid"/>
          </a:ln>
          <a:effectLst>
            <a:outerShdw sx="100000" sy="100000" kx="0" ky="0" algn="bl" rotWithShape="0" blurRad="101600" dist="38100" dir="8100000">
              <a:srgbClr val="000000">
                <a:alpha val="10000"/>
              </a:srgbClr>
            </a:outerShdw>
          </a:effectLst>
        </p:spPr>
      </p:sp>
      <p:sp>
        <p:nvSpPr>
          <p:cNvPr id="25" name="Shape 23"/>
          <p:cNvSpPr/>
          <p:nvPr/>
        </p:nvSpPr>
        <p:spPr>
          <a:xfrm>
            <a:off x="256032" y="2971800"/>
            <a:ext cx="109728" cy="1719072"/>
          </a:xfrm>
          <a:prstGeom prst="rect">
            <a:avLst/>
          </a:prstGeom>
          <a:solidFill>
            <a:srgbClr val="134E8E"/>
          </a:solidFill>
          <a:ln w="12700">
            <a:solidFill>
              <a:srgbClr val="134E8E"/>
            </a:solidFill>
            <a:prstDash val="solid"/>
          </a:ln>
        </p:spPr>
      </p:sp>
      <p:sp>
        <p:nvSpPr>
          <p:cNvPr id="26" name="Text 24"/>
          <p:cNvSpPr/>
          <p:nvPr/>
        </p:nvSpPr>
        <p:spPr>
          <a:xfrm>
            <a:off x="484632" y="3063240"/>
            <a:ext cx="3849624" cy="228600"/>
          </a:xfrm>
          <a:prstGeom prst="rect">
            <a:avLst/>
          </a:prstGeom>
          <a:noFill/>
          <a:ln/>
        </p:spPr>
        <p:txBody>
          <a:bodyPr wrap="square" lIns="0" tIns="0" rIns="0" bIns="0" rtlCol="0" anchor="ctr"/>
          <a:lstStyle/>
          <a:p>
            <a:pPr indent="0" marL="0">
              <a:buNone/>
            </a:pPr>
            <a:r>
              <a:rPr lang="en-US" sz="900" b="1" spc="100" kern="0" dirty="0">
                <a:solidFill>
                  <a:srgbClr val="6B7A8D"/>
                </a:solidFill>
                <a:latin typeface="Calibri" pitchFamily="34" charset="0"/>
                <a:ea typeface="Calibri" pitchFamily="34" charset="-122"/>
                <a:cs typeface="Calibri" pitchFamily="34" charset="-120"/>
              </a:rPr>
              <a:t>Dev. Initiatives / IATI</a:t>
            </a:r>
            <a:endParaRPr lang="en-US" sz="900" dirty="0"/>
          </a:p>
        </p:txBody>
      </p:sp>
      <p:sp>
        <p:nvSpPr>
          <p:cNvPr id="27" name="Text 25"/>
          <p:cNvSpPr/>
          <p:nvPr/>
        </p:nvSpPr>
        <p:spPr>
          <a:xfrm>
            <a:off x="484632" y="3246120"/>
            <a:ext cx="3849624" cy="292608"/>
          </a:xfrm>
          <a:prstGeom prst="rect">
            <a:avLst/>
          </a:prstGeom>
          <a:noFill/>
          <a:ln/>
        </p:spPr>
        <p:txBody>
          <a:bodyPr wrap="square" lIns="0" tIns="0" rIns="0" bIns="0" rtlCol="0" anchor="ctr"/>
          <a:lstStyle/>
          <a:p>
            <a:pPr indent="0" marL="0">
              <a:buNone/>
            </a:pPr>
            <a:r>
              <a:rPr lang="en-US" sz="1300" b="1" dirty="0">
                <a:solidFill>
                  <a:srgbClr val="134E8E"/>
                </a:solidFill>
                <a:latin typeface="Calibri" pitchFamily="34" charset="0"/>
                <a:ea typeface="Calibri" pitchFamily="34" charset="-122"/>
                <a:cs typeface="Calibri" pitchFamily="34" charset="-120"/>
              </a:rPr>
              <a:t>Outils temps réel</a:t>
            </a:r>
            <a:endParaRPr lang="en-US" sz="1300" dirty="0"/>
          </a:p>
        </p:txBody>
      </p:sp>
      <p:sp>
        <p:nvSpPr>
          <p:cNvPr id="28" name="Text 26"/>
          <p:cNvSpPr/>
          <p:nvPr/>
        </p:nvSpPr>
        <p:spPr>
          <a:xfrm>
            <a:off x="484632" y="3520440"/>
            <a:ext cx="3849624" cy="201168"/>
          </a:xfrm>
          <a:prstGeom prst="rect">
            <a:avLst/>
          </a:prstGeom>
          <a:noFill/>
          <a:ln/>
        </p:spPr>
        <p:txBody>
          <a:bodyPr wrap="square" lIns="0" tIns="0" rIns="0" bIns="0" rtlCol="0" anchor="ctr"/>
          <a:lstStyle/>
          <a:p>
            <a:pPr indent="0" marL="0">
              <a:buNone/>
            </a:pPr>
            <a:r>
              <a:rPr lang="en-US" sz="950" i="1" dirty="0">
                <a:solidFill>
                  <a:srgbClr val="7AAACE"/>
                </a:solidFill>
                <a:latin typeface="Calibri" pitchFamily="34" charset="0"/>
                <a:ea typeface="Calibri" pitchFamily="34" charset="-122"/>
                <a:cs typeface="Calibri" pitchFamily="34" charset="-120"/>
              </a:rPr>
              <a:t>Suivi quasi temps réel des engagements</a:t>
            </a:r>
            <a:endParaRPr lang="en-US" sz="950" dirty="0"/>
          </a:p>
        </p:txBody>
      </p:sp>
      <p:sp>
        <p:nvSpPr>
          <p:cNvPr id="29" name="Shape 27"/>
          <p:cNvSpPr/>
          <p:nvPr/>
        </p:nvSpPr>
        <p:spPr>
          <a:xfrm>
            <a:off x="484632" y="3758184"/>
            <a:ext cx="3803904" cy="0"/>
          </a:xfrm>
          <a:prstGeom prst="line">
            <a:avLst/>
          </a:prstGeom>
          <a:noFill/>
          <a:ln w="12700">
            <a:solidFill>
              <a:srgbClr val="DDE6F0"/>
            </a:solidFill>
            <a:prstDash val="solid"/>
          </a:ln>
        </p:spPr>
      </p:sp>
      <p:sp>
        <p:nvSpPr>
          <p:cNvPr id="30" name="Text 28"/>
          <p:cNvSpPr/>
          <p:nvPr/>
        </p:nvSpPr>
        <p:spPr>
          <a:xfrm>
            <a:off x="484632" y="3813048"/>
            <a:ext cx="3849624" cy="411480"/>
          </a:xfrm>
          <a:prstGeom prst="rect">
            <a:avLst/>
          </a:prstGeom>
          <a:noFill/>
          <a:ln/>
        </p:spPr>
        <p:txBody>
          <a:bodyPr wrap="square" lIns="0" tIns="0" rIns="0" bIns="0" rtlCol="0" anchor="t"/>
          <a:lstStyle/>
          <a:p>
            <a:pPr indent="0" marL="0">
              <a:lnSpc>
                <a:spcPct val="125000"/>
              </a:lnSpc>
              <a:buNone/>
            </a:pPr>
            <a:r>
              <a:rPr lang="en-US" sz="950" dirty="0">
                <a:solidFill>
                  <a:srgbClr val="1A7A4A"/>
                </a:solidFill>
                <a:latin typeface="Calibri" pitchFamily="34" charset="0"/>
                <a:ea typeface="Calibri" pitchFamily="34" charset="-122"/>
                <a:cs typeface="Calibri" pitchFamily="34" charset="-120"/>
              </a:rPr>
              <a:t>✓  Distinction engagements/décaissements, forte dynamique temporelle multi-années.</a:t>
            </a:r>
            <a:endParaRPr lang="en-US" sz="950" dirty="0"/>
          </a:p>
        </p:txBody>
      </p:sp>
      <p:sp>
        <p:nvSpPr>
          <p:cNvPr id="31" name="Text 29"/>
          <p:cNvSpPr/>
          <p:nvPr/>
        </p:nvSpPr>
        <p:spPr>
          <a:xfrm>
            <a:off x="484632" y="4251960"/>
            <a:ext cx="3849624" cy="384048"/>
          </a:xfrm>
          <a:prstGeom prst="rect">
            <a:avLst/>
          </a:prstGeom>
          <a:noFill/>
          <a:ln/>
        </p:spPr>
        <p:txBody>
          <a:bodyPr wrap="square" lIns="0" tIns="0" rIns="0" bIns="0" rtlCol="0" anchor="t"/>
          <a:lstStyle/>
          <a:p>
            <a:pPr indent="0" marL="0">
              <a:lnSpc>
                <a:spcPct val="125000"/>
              </a:lnSpc>
              <a:buNone/>
            </a:pPr>
            <a:r>
              <a:rPr lang="en-US" sz="950" dirty="0">
                <a:solidFill>
                  <a:srgbClr val="6B7A8D"/>
                </a:solidFill>
                <a:latin typeface="Calibri" pitchFamily="34" charset="0"/>
                <a:ea typeface="Calibri" pitchFamily="34" charset="-122"/>
                <a:cs typeface="Calibri" pitchFamily="34" charset="-120"/>
              </a:rPr>
              <a:t>⚠  Moins centré sur la prévision et la planification stratégique propre à un bailleur.</a:t>
            </a:r>
            <a:endParaRPr lang="en-US" sz="950" dirty="0"/>
          </a:p>
        </p:txBody>
      </p:sp>
      <p:sp>
        <p:nvSpPr>
          <p:cNvPr id="32" name="Shape 30"/>
          <p:cNvSpPr/>
          <p:nvPr/>
        </p:nvSpPr>
        <p:spPr>
          <a:xfrm>
            <a:off x="4681728" y="2971800"/>
            <a:ext cx="4169664" cy="1719072"/>
          </a:xfrm>
          <a:prstGeom prst="rect">
            <a:avLst/>
          </a:prstGeom>
          <a:solidFill>
            <a:srgbClr val="FFFFFF"/>
          </a:solidFill>
          <a:ln w="12700">
            <a:solidFill>
              <a:srgbClr val="DDE6F0"/>
            </a:solidFill>
            <a:prstDash val="solid"/>
          </a:ln>
          <a:effectLst>
            <a:outerShdw sx="100000" sy="100000" kx="0" ky="0" algn="bl" rotWithShape="0" blurRad="101600" dist="38100" dir="8100000">
              <a:srgbClr val="000000">
                <a:alpha val="10000"/>
              </a:srgbClr>
            </a:outerShdw>
          </a:effectLst>
        </p:spPr>
      </p:sp>
      <p:sp>
        <p:nvSpPr>
          <p:cNvPr id="33" name="Shape 31"/>
          <p:cNvSpPr/>
          <p:nvPr/>
        </p:nvSpPr>
        <p:spPr>
          <a:xfrm>
            <a:off x="4681728" y="2971800"/>
            <a:ext cx="109728" cy="1719072"/>
          </a:xfrm>
          <a:prstGeom prst="rect">
            <a:avLst/>
          </a:prstGeom>
          <a:solidFill>
            <a:srgbClr val="7AAACE"/>
          </a:solidFill>
          <a:ln w="12700">
            <a:solidFill>
              <a:srgbClr val="7AAACE"/>
            </a:solidFill>
            <a:prstDash val="solid"/>
          </a:ln>
        </p:spPr>
      </p:sp>
      <p:sp>
        <p:nvSpPr>
          <p:cNvPr id="34" name="Text 32"/>
          <p:cNvSpPr/>
          <p:nvPr/>
        </p:nvSpPr>
        <p:spPr>
          <a:xfrm>
            <a:off x="4910328" y="3063240"/>
            <a:ext cx="3849624" cy="228600"/>
          </a:xfrm>
          <a:prstGeom prst="rect">
            <a:avLst/>
          </a:prstGeom>
          <a:noFill/>
          <a:ln/>
        </p:spPr>
        <p:txBody>
          <a:bodyPr wrap="square" lIns="0" tIns="0" rIns="0" bIns="0" rtlCol="0" anchor="ctr"/>
          <a:lstStyle/>
          <a:p>
            <a:pPr indent="0" marL="0">
              <a:buNone/>
            </a:pPr>
            <a:r>
              <a:rPr lang="en-US" sz="900" b="1" spc="100" kern="0" dirty="0">
                <a:solidFill>
                  <a:srgbClr val="6B7A8D"/>
                </a:solidFill>
                <a:latin typeface="Calibri" pitchFamily="34" charset="0"/>
                <a:ea typeface="Calibri" pitchFamily="34" charset="-122"/>
                <a:cs typeface="Calibri" pitchFamily="34" charset="-120"/>
              </a:rPr>
              <a:t>World Aid Flow</a:t>
            </a:r>
            <a:endParaRPr lang="en-US" sz="900" dirty="0"/>
          </a:p>
        </p:txBody>
      </p:sp>
      <p:sp>
        <p:nvSpPr>
          <p:cNvPr id="35" name="Text 33"/>
          <p:cNvSpPr/>
          <p:nvPr/>
        </p:nvSpPr>
        <p:spPr>
          <a:xfrm>
            <a:off x="4910328" y="3246120"/>
            <a:ext cx="3849624" cy="292608"/>
          </a:xfrm>
          <a:prstGeom prst="rect">
            <a:avLst/>
          </a:prstGeom>
          <a:noFill/>
          <a:ln/>
        </p:spPr>
        <p:txBody>
          <a:bodyPr wrap="square" lIns="0" tIns="0" rIns="0" bIns="0" rtlCol="0" anchor="ctr"/>
          <a:lstStyle/>
          <a:p>
            <a:pPr indent="0" marL="0">
              <a:buNone/>
            </a:pPr>
            <a:r>
              <a:rPr lang="en-US" sz="1300" b="1" dirty="0">
                <a:solidFill>
                  <a:srgbClr val="134E8E"/>
                </a:solidFill>
                <a:latin typeface="Calibri" pitchFamily="34" charset="0"/>
                <a:ea typeface="Calibri" pitchFamily="34" charset="-122"/>
                <a:cs typeface="Calibri" pitchFamily="34" charset="-120"/>
              </a:rPr>
              <a:t>Visualisations avancées des flux</a:t>
            </a:r>
            <a:endParaRPr lang="en-US" sz="1300" dirty="0"/>
          </a:p>
        </p:txBody>
      </p:sp>
      <p:sp>
        <p:nvSpPr>
          <p:cNvPr id="36" name="Text 34"/>
          <p:cNvSpPr/>
          <p:nvPr/>
        </p:nvSpPr>
        <p:spPr>
          <a:xfrm>
            <a:off x="4910328" y="3520440"/>
            <a:ext cx="3849624" cy="201168"/>
          </a:xfrm>
          <a:prstGeom prst="rect">
            <a:avLst/>
          </a:prstGeom>
          <a:noFill/>
          <a:ln/>
        </p:spPr>
        <p:txBody>
          <a:bodyPr wrap="square" lIns="0" tIns="0" rIns="0" bIns="0" rtlCol="0" anchor="ctr"/>
          <a:lstStyle/>
          <a:p>
            <a:pPr indent="0" marL="0">
              <a:buNone/>
            </a:pPr>
            <a:r>
              <a:rPr lang="en-US" sz="950" i="1" dirty="0">
                <a:solidFill>
                  <a:srgbClr val="7AAACE"/>
                </a:solidFill>
                <a:latin typeface="Calibri" pitchFamily="34" charset="0"/>
                <a:ea typeface="Calibri" pitchFamily="34" charset="-122"/>
                <a:cs typeface="Calibri" pitchFamily="34" charset="-120"/>
              </a:rPr>
              <a:t>Visualisation pédagogique des flux</a:t>
            </a:r>
            <a:endParaRPr lang="en-US" sz="950" dirty="0"/>
          </a:p>
        </p:txBody>
      </p:sp>
      <p:sp>
        <p:nvSpPr>
          <p:cNvPr id="37" name="Shape 35"/>
          <p:cNvSpPr/>
          <p:nvPr/>
        </p:nvSpPr>
        <p:spPr>
          <a:xfrm>
            <a:off x="4910328" y="3758184"/>
            <a:ext cx="3803904" cy="0"/>
          </a:xfrm>
          <a:prstGeom prst="line">
            <a:avLst/>
          </a:prstGeom>
          <a:noFill/>
          <a:ln w="12700">
            <a:solidFill>
              <a:srgbClr val="DDE6F0"/>
            </a:solidFill>
            <a:prstDash val="solid"/>
          </a:ln>
        </p:spPr>
      </p:sp>
      <p:sp>
        <p:nvSpPr>
          <p:cNvPr id="38" name="Text 36"/>
          <p:cNvSpPr/>
          <p:nvPr/>
        </p:nvSpPr>
        <p:spPr>
          <a:xfrm>
            <a:off x="4910328" y="3813048"/>
            <a:ext cx="3849624" cy="411480"/>
          </a:xfrm>
          <a:prstGeom prst="rect">
            <a:avLst/>
          </a:prstGeom>
          <a:noFill/>
          <a:ln/>
        </p:spPr>
        <p:txBody>
          <a:bodyPr wrap="square" lIns="0" tIns="0" rIns="0" bIns="0" rtlCol="0" anchor="t"/>
          <a:lstStyle/>
          <a:p>
            <a:pPr indent="0" marL="0">
              <a:lnSpc>
                <a:spcPct val="125000"/>
              </a:lnSpc>
              <a:buNone/>
            </a:pPr>
            <a:r>
              <a:rPr lang="en-US" sz="950" dirty="0">
                <a:solidFill>
                  <a:srgbClr val="1A7A4A"/>
                </a:solidFill>
                <a:latin typeface="Calibri" pitchFamily="34" charset="0"/>
                <a:ea typeface="Calibri" pitchFamily="34" charset="-122"/>
                <a:cs typeface="Calibri" pitchFamily="34" charset="-120"/>
              </a:rPr>
              <a:t>✓  Cartes, arcs de flux, classements, couplage avec indicateurs de développement.</a:t>
            </a:r>
            <a:endParaRPr lang="en-US" sz="950" dirty="0"/>
          </a:p>
        </p:txBody>
      </p:sp>
      <p:sp>
        <p:nvSpPr>
          <p:cNvPr id="39" name="Text 37"/>
          <p:cNvSpPr/>
          <p:nvPr/>
        </p:nvSpPr>
        <p:spPr>
          <a:xfrm>
            <a:off x="4910328" y="4251960"/>
            <a:ext cx="3849624" cy="384048"/>
          </a:xfrm>
          <a:prstGeom prst="rect">
            <a:avLst/>
          </a:prstGeom>
          <a:noFill/>
          <a:ln/>
        </p:spPr>
        <p:txBody>
          <a:bodyPr wrap="square" lIns="0" tIns="0" rIns="0" bIns="0" rtlCol="0" anchor="t"/>
          <a:lstStyle/>
          <a:p>
            <a:pPr indent="0" marL="0">
              <a:lnSpc>
                <a:spcPct val="125000"/>
              </a:lnSpc>
              <a:buNone/>
            </a:pPr>
            <a:r>
              <a:rPr lang="en-US" sz="950" dirty="0">
                <a:solidFill>
                  <a:srgbClr val="6B7A8D"/>
                </a:solidFill>
                <a:latin typeface="Calibri" pitchFamily="34" charset="0"/>
                <a:ea typeface="Calibri" pitchFamily="34" charset="-122"/>
                <a:cs typeface="Calibri" pitchFamily="34" charset="-120"/>
              </a:rPr>
              <a:t>⚠  Approche exploratoire à adapter à la charte AFD et aux priorités géo/sectorielles.</a:t>
            </a:r>
            <a:endParaRPr lang="en-US" sz="9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8F0"/>
        </a:solidFill>
      </p:bgPr>
    </p:bg>
    <p:spTree>
      <p:nvGrpSpPr>
        <p:cNvPr id="1" name=""/>
        <p:cNvGrpSpPr/>
        <p:nvPr/>
      </p:nvGrpSpPr>
      <p:grpSpPr>
        <a:xfrm>
          <a:off x="0" y="0"/>
          <a:ext cx="0" cy="0"/>
          <a:chOff x="0" y="0"/>
          <a:chExt cx="0" cy="0"/>
        </a:xfrm>
      </p:grpSpPr>
      <p:sp>
        <p:nvSpPr>
          <p:cNvPr id="2" name="Shape 0"/>
          <p:cNvSpPr/>
          <p:nvPr/>
        </p:nvSpPr>
        <p:spPr>
          <a:xfrm>
            <a:off x="0" y="0"/>
            <a:ext cx="9144000" cy="960120"/>
          </a:xfrm>
          <a:prstGeom prst="rect">
            <a:avLst/>
          </a:prstGeom>
          <a:solidFill>
            <a:srgbClr val="134E8E"/>
          </a:solidFill>
          <a:ln w="12700">
            <a:solidFill>
              <a:srgbClr val="134E8E"/>
            </a:solidFill>
            <a:prstDash val="solid"/>
          </a:ln>
        </p:spPr>
      </p:sp>
      <p:sp>
        <p:nvSpPr>
          <p:cNvPr id="3" name="Shape 1"/>
          <p:cNvSpPr/>
          <p:nvPr/>
        </p:nvSpPr>
        <p:spPr>
          <a:xfrm>
            <a:off x="0" y="0"/>
            <a:ext cx="137160" cy="960120"/>
          </a:xfrm>
          <a:prstGeom prst="rect">
            <a:avLst/>
          </a:prstGeom>
          <a:solidFill>
            <a:srgbClr val="C00707"/>
          </a:solidFill>
          <a:ln w="12700">
            <a:solidFill>
              <a:srgbClr val="C00707"/>
            </a:solidFill>
            <a:prstDash val="solid"/>
          </a:ln>
        </p:spPr>
      </p:sp>
      <p:sp>
        <p:nvSpPr>
          <p:cNvPr id="4" name="Text 2"/>
          <p:cNvSpPr/>
          <p:nvPr/>
        </p:nvSpPr>
        <p:spPr>
          <a:xfrm>
            <a:off x="320040" y="0"/>
            <a:ext cx="7772400" cy="594360"/>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06 — Business Model Canvas</a:t>
            </a:r>
            <a:endParaRPr lang="en-US" sz="2200" dirty="0"/>
          </a:p>
        </p:txBody>
      </p:sp>
      <p:sp>
        <p:nvSpPr>
          <p:cNvPr id="5" name="Text 3"/>
          <p:cNvSpPr/>
          <p:nvPr/>
        </p:nvSpPr>
        <p:spPr>
          <a:xfrm>
            <a:off x="320040" y="594360"/>
            <a:ext cx="8503920" cy="320040"/>
          </a:xfrm>
          <a:prstGeom prst="rect">
            <a:avLst/>
          </a:prstGeom>
          <a:noFill/>
          <a:ln/>
        </p:spPr>
        <p:txBody>
          <a:bodyPr wrap="square" lIns="0" tIns="0" rIns="0" bIns="0" rtlCol="0" anchor="ctr"/>
          <a:lstStyle/>
          <a:p>
            <a:pPr indent="0" marL="0">
              <a:buNone/>
            </a:pPr>
            <a:r>
              <a:rPr lang="en-US" sz="1050" i="1" dirty="0">
                <a:solidFill>
                  <a:srgbClr val="8AAFC8"/>
                </a:solidFill>
                <a:latin typeface="Calibri" pitchFamily="34" charset="0"/>
                <a:ea typeface="Calibri" pitchFamily="34" charset="-122"/>
                <a:cs typeface="Calibri" pitchFamily="34" charset="-120"/>
              </a:rPr>
              <a:t>Agence Française de Développement · Modèle économique</a:t>
            </a:r>
            <a:endParaRPr lang="en-US" sz="1050" dirty="0"/>
          </a:p>
        </p:txBody>
      </p:sp>
      <p:sp>
        <p:nvSpPr>
          <p:cNvPr id="6" name="Shape 4"/>
          <p:cNvSpPr/>
          <p:nvPr/>
        </p:nvSpPr>
        <p:spPr>
          <a:xfrm>
            <a:off x="0" y="4956048"/>
            <a:ext cx="9144000" cy="182880"/>
          </a:xfrm>
          <a:prstGeom prst="rect">
            <a:avLst/>
          </a:prstGeom>
          <a:solidFill>
            <a:srgbClr val="134E8E"/>
          </a:solidFill>
          <a:ln w="12700">
            <a:solidFill>
              <a:srgbClr val="134E8E"/>
            </a:solidFill>
            <a:prstDash val="solid"/>
          </a:ln>
        </p:spPr>
      </p:sp>
      <p:sp>
        <p:nvSpPr>
          <p:cNvPr id="7" name="Text 5"/>
          <p:cNvSpPr/>
          <p:nvPr/>
        </p:nvSpPr>
        <p:spPr>
          <a:xfrm>
            <a:off x="182880" y="4919472"/>
            <a:ext cx="8778240" cy="219456"/>
          </a:xfrm>
          <a:prstGeom prst="rect">
            <a:avLst/>
          </a:prstGeom>
          <a:noFill/>
          <a:ln/>
        </p:spPr>
        <p:txBody>
          <a:bodyPr wrap="square" lIns="0" tIns="0" rIns="0" bIns="0" rtlCol="0" anchor="ctr"/>
          <a:lstStyle/>
          <a:p>
            <a:pPr algn="r" indent="0" marL="0">
              <a:buNone/>
            </a:pPr>
            <a:r>
              <a:rPr lang="en-US" sz="850" dirty="0">
                <a:solidFill>
                  <a:srgbClr val="FFFFFF"/>
                </a:solidFill>
                <a:latin typeface="Calibri" pitchFamily="34" charset="0"/>
                <a:ea typeface="Calibri" pitchFamily="34" charset="-122"/>
                <a:cs typeface="Calibri" pitchFamily="34" charset="-120"/>
              </a:rPr>
              <a:t>Application Data APD  ·  AFD  ·  DPM Project 2025</a:t>
            </a:r>
            <a:endParaRPr lang="en-US" sz="850" dirty="0"/>
          </a:p>
        </p:txBody>
      </p:sp>
      <p:sp>
        <p:nvSpPr>
          <p:cNvPr id="8" name="Shape 6"/>
          <p:cNvSpPr/>
          <p:nvPr/>
        </p:nvSpPr>
        <p:spPr>
          <a:xfrm>
            <a:off x="256032" y="1115568"/>
            <a:ext cx="1664208" cy="3776472"/>
          </a:xfrm>
          <a:prstGeom prst="rect">
            <a:avLst/>
          </a:prstGeom>
          <a:solidFill>
            <a:srgbClr val="FFFFFF"/>
          </a:solidFill>
          <a:ln w="12700">
            <a:solidFill>
              <a:srgbClr val="DDE6F0"/>
            </a:solidFill>
            <a:prstDash val="solid"/>
          </a:ln>
        </p:spPr>
      </p:sp>
      <p:sp>
        <p:nvSpPr>
          <p:cNvPr id="9" name="Shape 7"/>
          <p:cNvSpPr/>
          <p:nvPr/>
        </p:nvSpPr>
        <p:spPr>
          <a:xfrm>
            <a:off x="256032" y="1115568"/>
            <a:ext cx="1664208" cy="301752"/>
          </a:xfrm>
          <a:prstGeom prst="rect">
            <a:avLst/>
          </a:prstGeom>
          <a:solidFill>
            <a:srgbClr val="134E8E"/>
          </a:solidFill>
          <a:ln w="12700">
            <a:solidFill>
              <a:srgbClr val="134E8E"/>
            </a:solidFill>
            <a:prstDash val="solid"/>
          </a:ln>
        </p:spPr>
      </p:sp>
      <p:sp>
        <p:nvSpPr>
          <p:cNvPr id="10" name="Text 8"/>
          <p:cNvSpPr/>
          <p:nvPr/>
        </p:nvSpPr>
        <p:spPr>
          <a:xfrm>
            <a:off x="310896" y="1133856"/>
            <a:ext cx="1572768" cy="274320"/>
          </a:xfrm>
          <a:prstGeom prst="rect">
            <a:avLst/>
          </a:prstGeom>
          <a:noFill/>
          <a:ln/>
        </p:spPr>
        <p:txBody>
          <a:bodyPr wrap="square" lIns="0" tIns="0" rIns="0" bIns="0" rtlCol="0" anchor="ctr"/>
          <a:lstStyle/>
          <a:p>
            <a:pPr indent="0" marL="0">
              <a:buNone/>
            </a:pPr>
            <a:r>
              <a:rPr lang="en-US" sz="850" b="1" dirty="0">
                <a:solidFill>
                  <a:srgbClr val="FFFFFF"/>
                </a:solidFill>
                <a:latin typeface="Calibri" pitchFamily="34" charset="0"/>
                <a:ea typeface="Calibri" pitchFamily="34" charset="-122"/>
                <a:cs typeface="Calibri" pitchFamily="34" charset="-120"/>
              </a:rPr>
              <a:t>Partenaires Clés</a:t>
            </a:r>
            <a:endParaRPr lang="en-US" sz="850" dirty="0"/>
          </a:p>
        </p:txBody>
      </p:sp>
      <p:sp>
        <p:nvSpPr>
          <p:cNvPr id="11" name="Text 9"/>
          <p:cNvSpPr/>
          <p:nvPr/>
        </p:nvSpPr>
        <p:spPr>
          <a:xfrm>
            <a:off x="329184" y="1463040"/>
            <a:ext cx="1536192" cy="685800"/>
          </a:xfrm>
          <a:prstGeom prst="rect">
            <a:avLst/>
          </a:prstGeom>
          <a:noFill/>
          <a:ln/>
        </p:spPr>
        <p:txBody>
          <a:bodyPr wrap="square" lIns="0" tIns="0" rIns="0" bIns="0" rtlCol="0" anchor="t"/>
          <a:lstStyle/>
          <a:p>
            <a:pPr indent="0" marL="0">
              <a:lnSpc>
                <a:spcPct val="120000"/>
              </a:lnSpc>
              <a:buNone/>
            </a:pPr>
            <a:r>
              <a:rPr lang="en-US" sz="850" dirty="0">
                <a:solidFill>
                  <a:srgbClr val="1A2E4A"/>
                </a:solidFill>
                <a:latin typeface="Calibri" pitchFamily="34" charset="0"/>
                <a:ea typeface="Calibri" pitchFamily="34" charset="-122"/>
                <a:cs typeface="Calibri" pitchFamily="34" charset="-120"/>
              </a:rPr>
              <a:t>· État français (MAE, DGT)</a:t>
            </a:r>
            <a:endParaRPr lang="en-US" sz="850" dirty="0"/>
          </a:p>
        </p:txBody>
      </p:sp>
      <p:sp>
        <p:nvSpPr>
          <p:cNvPr id="12" name="Text 10"/>
          <p:cNvSpPr/>
          <p:nvPr/>
        </p:nvSpPr>
        <p:spPr>
          <a:xfrm>
            <a:off x="329184" y="2148840"/>
            <a:ext cx="1536192" cy="685800"/>
          </a:xfrm>
          <a:prstGeom prst="rect">
            <a:avLst/>
          </a:prstGeom>
          <a:noFill/>
          <a:ln/>
        </p:spPr>
        <p:txBody>
          <a:bodyPr wrap="square" lIns="0" tIns="0" rIns="0" bIns="0" rtlCol="0" anchor="t"/>
          <a:lstStyle/>
          <a:p>
            <a:pPr indent="0" marL="0">
              <a:lnSpc>
                <a:spcPct val="120000"/>
              </a:lnSpc>
              <a:buNone/>
            </a:pPr>
            <a:r>
              <a:rPr lang="en-US" sz="850" dirty="0">
                <a:solidFill>
                  <a:srgbClr val="1A2E4A"/>
                </a:solidFill>
                <a:latin typeface="Calibri" pitchFamily="34" charset="0"/>
                <a:ea typeface="Calibri" pitchFamily="34" charset="-122"/>
                <a:cs typeface="Calibri" pitchFamily="34" charset="-120"/>
              </a:rPr>
              <a:t>· Banque Mondiale</a:t>
            </a:r>
            <a:endParaRPr lang="en-US" sz="850" dirty="0"/>
          </a:p>
        </p:txBody>
      </p:sp>
      <p:sp>
        <p:nvSpPr>
          <p:cNvPr id="13" name="Text 11"/>
          <p:cNvSpPr/>
          <p:nvPr/>
        </p:nvSpPr>
        <p:spPr>
          <a:xfrm>
            <a:off x="329184" y="2834640"/>
            <a:ext cx="1536192" cy="685800"/>
          </a:xfrm>
          <a:prstGeom prst="rect">
            <a:avLst/>
          </a:prstGeom>
          <a:noFill/>
          <a:ln/>
        </p:spPr>
        <p:txBody>
          <a:bodyPr wrap="square" lIns="0" tIns="0" rIns="0" bIns="0" rtlCol="0" anchor="t"/>
          <a:lstStyle/>
          <a:p>
            <a:pPr indent="0" marL="0">
              <a:lnSpc>
                <a:spcPct val="120000"/>
              </a:lnSpc>
              <a:buNone/>
            </a:pPr>
            <a:r>
              <a:rPr lang="en-US" sz="850" dirty="0">
                <a:solidFill>
                  <a:srgbClr val="1A2E4A"/>
                </a:solidFill>
                <a:latin typeface="Calibri" pitchFamily="34" charset="0"/>
                <a:ea typeface="Calibri" pitchFamily="34" charset="-122"/>
                <a:cs typeface="Calibri" pitchFamily="34" charset="-120"/>
              </a:rPr>
              <a:t>· Union Européenne</a:t>
            </a:r>
            <a:endParaRPr lang="en-US" sz="850" dirty="0"/>
          </a:p>
        </p:txBody>
      </p:sp>
      <p:sp>
        <p:nvSpPr>
          <p:cNvPr id="14" name="Text 12"/>
          <p:cNvSpPr/>
          <p:nvPr/>
        </p:nvSpPr>
        <p:spPr>
          <a:xfrm>
            <a:off x="329184" y="3520440"/>
            <a:ext cx="1536192" cy="685800"/>
          </a:xfrm>
          <a:prstGeom prst="rect">
            <a:avLst/>
          </a:prstGeom>
          <a:noFill/>
          <a:ln/>
        </p:spPr>
        <p:txBody>
          <a:bodyPr wrap="square" lIns="0" tIns="0" rIns="0" bIns="0" rtlCol="0" anchor="t"/>
          <a:lstStyle/>
          <a:p>
            <a:pPr indent="0" marL="0">
              <a:lnSpc>
                <a:spcPct val="120000"/>
              </a:lnSpc>
              <a:buNone/>
            </a:pPr>
            <a:r>
              <a:rPr lang="en-US" sz="850" dirty="0">
                <a:solidFill>
                  <a:srgbClr val="1A2E4A"/>
                </a:solidFill>
                <a:latin typeface="Calibri" pitchFamily="34" charset="0"/>
                <a:ea typeface="Calibri" pitchFamily="34" charset="-122"/>
                <a:cs typeface="Calibri" pitchFamily="34" charset="-120"/>
              </a:rPr>
              <a:t>· Proparco / Expertise France</a:t>
            </a:r>
            <a:endParaRPr lang="en-US" sz="850" dirty="0"/>
          </a:p>
        </p:txBody>
      </p:sp>
      <p:sp>
        <p:nvSpPr>
          <p:cNvPr id="15" name="Text 13"/>
          <p:cNvSpPr/>
          <p:nvPr/>
        </p:nvSpPr>
        <p:spPr>
          <a:xfrm>
            <a:off x="329184" y="4206240"/>
            <a:ext cx="1536192" cy="685800"/>
          </a:xfrm>
          <a:prstGeom prst="rect">
            <a:avLst/>
          </a:prstGeom>
          <a:noFill/>
          <a:ln/>
        </p:spPr>
        <p:txBody>
          <a:bodyPr wrap="square" lIns="0" tIns="0" rIns="0" bIns="0" rtlCol="0" anchor="t"/>
          <a:lstStyle/>
          <a:p>
            <a:pPr indent="0" marL="0">
              <a:lnSpc>
                <a:spcPct val="120000"/>
              </a:lnSpc>
              <a:buNone/>
            </a:pPr>
            <a:r>
              <a:rPr lang="en-US" sz="850" dirty="0">
                <a:solidFill>
                  <a:srgbClr val="1A2E4A"/>
                </a:solidFill>
                <a:latin typeface="Calibri" pitchFamily="34" charset="0"/>
                <a:ea typeface="Calibri" pitchFamily="34" charset="-122"/>
                <a:cs typeface="Calibri" pitchFamily="34" charset="-120"/>
              </a:rPr>
              <a:t>· ONG françaises &amp; locales</a:t>
            </a:r>
            <a:endParaRPr lang="en-US" sz="850" dirty="0"/>
          </a:p>
        </p:txBody>
      </p:sp>
      <p:sp>
        <p:nvSpPr>
          <p:cNvPr id="16" name="Shape 14"/>
          <p:cNvSpPr/>
          <p:nvPr/>
        </p:nvSpPr>
        <p:spPr>
          <a:xfrm>
            <a:off x="1993392" y="1115568"/>
            <a:ext cx="1664208" cy="1737177"/>
          </a:xfrm>
          <a:prstGeom prst="rect">
            <a:avLst/>
          </a:prstGeom>
          <a:solidFill>
            <a:srgbClr val="FFFFFF"/>
          </a:solidFill>
          <a:ln w="12700">
            <a:solidFill>
              <a:srgbClr val="DDE6F0"/>
            </a:solidFill>
            <a:prstDash val="solid"/>
          </a:ln>
        </p:spPr>
      </p:sp>
      <p:sp>
        <p:nvSpPr>
          <p:cNvPr id="17" name="Shape 15"/>
          <p:cNvSpPr/>
          <p:nvPr/>
        </p:nvSpPr>
        <p:spPr>
          <a:xfrm>
            <a:off x="1993392" y="1115568"/>
            <a:ext cx="1664208" cy="301752"/>
          </a:xfrm>
          <a:prstGeom prst="rect">
            <a:avLst/>
          </a:prstGeom>
          <a:solidFill>
            <a:srgbClr val="7AAACE"/>
          </a:solidFill>
          <a:ln w="12700">
            <a:solidFill>
              <a:srgbClr val="7AAACE"/>
            </a:solidFill>
            <a:prstDash val="solid"/>
          </a:ln>
        </p:spPr>
      </p:sp>
      <p:sp>
        <p:nvSpPr>
          <p:cNvPr id="18" name="Text 16"/>
          <p:cNvSpPr/>
          <p:nvPr/>
        </p:nvSpPr>
        <p:spPr>
          <a:xfrm>
            <a:off x="2048256" y="1133856"/>
            <a:ext cx="1572768" cy="274320"/>
          </a:xfrm>
          <a:prstGeom prst="rect">
            <a:avLst/>
          </a:prstGeom>
          <a:noFill/>
          <a:ln/>
        </p:spPr>
        <p:txBody>
          <a:bodyPr wrap="square" lIns="0" tIns="0" rIns="0" bIns="0" rtlCol="0" anchor="ctr"/>
          <a:lstStyle/>
          <a:p>
            <a:pPr indent="0" marL="0">
              <a:buNone/>
            </a:pPr>
            <a:r>
              <a:rPr lang="en-US" sz="850" b="1" dirty="0">
                <a:solidFill>
                  <a:srgbClr val="FFFFFF"/>
                </a:solidFill>
                <a:latin typeface="Calibri" pitchFamily="34" charset="0"/>
                <a:ea typeface="Calibri" pitchFamily="34" charset="-122"/>
                <a:cs typeface="Calibri" pitchFamily="34" charset="-120"/>
              </a:rPr>
              <a:t>Activités Clés</a:t>
            </a:r>
            <a:endParaRPr lang="en-US" sz="850" dirty="0"/>
          </a:p>
        </p:txBody>
      </p:sp>
      <p:sp>
        <p:nvSpPr>
          <p:cNvPr id="19" name="Text 17"/>
          <p:cNvSpPr/>
          <p:nvPr/>
        </p:nvSpPr>
        <p:spPr>
          <a:xfrm>
            <a:off x="2066544" y="1463040"/>
            <a:ext cx="1536192" cy="347426"/>
          </a:xfrm>
          <a:prstGeom prst="rect">
            <a:avLst/>
          </a:prstGeom>
          <a:noFill/>
          <a:ln/>
        </p:spPr>
        <p:txBody>
          <a:bodyPr wrap="square" lIns="0" tIns="0" rIns="0" bIns="0" rtlCol="0" anchor="t"/>
          <a:lstStyle/>
          <a:p>
            <a:pPr indent="0" marL="0">
              <a:lnSpc>
                <a:spcPct val="120000"/>
              </a:lnSpc>
              <a:buNone/>
            </a:pPr>
            <a:r>
              <a:rPr lang="en-US" sz="850" dirty="0">
                <a:solidFill>
                  <a:srgbClr val="1A2E4A"/>
                </a:solidFill>
                <a:latin typeface="Calibri" pitchFamily="34" charset="0"/>
                <a:ea typeface="Calibri" pitchFamily="34" charset="-122"/>
                <a:cs typeface="Calibri" pitchFamily="34" charset="-120"/>
              </a:rPr>
              <a:t>· Financement projets (prêts, dons)</a:t>
            </a:r>
            <a:endParaRPr lang="en-US" sz="850" dirty="0"/>
          </a:p>
        </p:txBody>
      </p:sp>
      <p:sp>
        <p:nvSpPr>
          <p:cNvPr id="20" name="Text 18"/>
          <p:cNvSpPr/>
          <p:nvPr/>
        </p:nvSpPr>
        <p:spPr>
          <a:xfrm>
            <a:off x="2066544" y="1810466"/>
            <a:ext cx="1536192" cy="347426"/>
          </a:xfrm>
          <a:prstGeom prst="rect">
            <a:avLst/>
          </a:prstGeom>
          <a:noFill/>
          <a:ln/>
        </p:spPr>
        <p:txBody>
          <a:bodyPr wrap="square" lIns="0" tIns="0" rIns="0" bIns="0" rtlCol="0" anchor="t"/>
          <a:lstStyle/>
          <a:p>
            <a:pPr indent="0" marL="0">
              <a:lnSpc>
                <a:spcPct val="120000"/>
              </a:lnSpc>
              <a:buNone/>
            </a:pPr>
            <a:r>
              <a:rPr lang="en-US" sz="850" dirty="0">
                <a:solidFill>
                  <a:srgbClr val="1A2E4A"/>
                </a:solidFill>
                <a:latin typeface="Calibri" pitchFamily="34" charset="0"/>
                <a:ea typeface="Calibri" pitchFamily="34" charset="-122"/>
                <a:cs typeface="Calibri" pitchFamily="34" charset="-120"/>
              </a:rPr>
              <a:t>· Identification &amp; évaluation</a:t>
            </a:r>
            <a:endParaRPr lang="en-US" sz="850" dirty="0"/>
          </a:p>
        </p:txBody>
      </p:sp>
      <p:sp>
        <p:nvSpPr>
          <p:cNvPr id="21" name="Text 19"/>
          <p:cNvSpPr/>
          <p:nvPr/>
        </p:nvSpPr>
        <p:spPr>
          <a:xfrm>
            <a:off x="2066544" y="2157893"/>
            <a:ext cx="1536192" cy="347426"/>
          </a:xfrm>
          <a:prstGeom prst="rect">
            <a:avLst/>
          </a:prstGeom>
          <a:noFill/>
          <a:ln/>
        </p:spPr>
        <p:txBody>
          <a:bodyPr wrap="square" lIns="0" tIns="0" rIns="0" bIns="0" rtlCol="0" anchor="t"/>
          <a:lstStyle/>
          <a:p>
            <a:pPr indent="0" marL="0">
              <a:lnSpc>
                <a:spcPct val="120000"/>
              </a:lnSpc>
              <a:buNone/>
            </a:pPr>
            <a:r>
              <a:rPr lang="en-US" sz="850" dirty="0">
                <a:solidFill>
                  <a:srgbClr val="1A2E4A"/>
                </a:solidFill>
                <a:latin typeface="Calibri" pitchFamily="34" charset="0"/>
                <a:ea typeface="Calibri" pitchFamily="34" charset="-122"/>
                <a:cs typeface="Calibri" pitchFamily="34" charset="-120"/>
              </a:rPr>
              <a:t>· Coopération internationale</a:t>
            </a:r>
            <a:endParaRPr lang="en-US" sz="850" dirty="0"/>
          </a:p>
        </p:txBody>
      </p:sp>
      <p:sp>
        <p:nvSpPr>
          <p:cNvPr id="22" name="Text 20"/>
          <p:cNvSpPr/>
          <p:nvPr/>
        </p:nvSpPr>
        <p:spPr>
          <a:xfrm>
            <a:off x="2066544" y="2505319"/>
            <a:ext cx="1536192" cy="347426"/>
          </a:xfrm>
          <a:prstGeom prst="rect">
            <a:avLst/>
          </a:prstGeom>
          <a:noFill/>
          <a:ln/>
        </p:spPr>
        <p:txBody>
          <a:bodyPr wrap="square" lIns="0" tIns="0" rIns="0" bIns="0" rtlCol="0" anchor="t"/>
          <a:lstStyle/>
          <a:p>
            <a:pPr indent="0" marL="0">
              <a:lnSpc>
                <a:spcPct val="120000"/>
              </a:lnSpc>
              <a:buNone/>
            </a:pPr>
            <a:r>
              <a:rPr lang="en-US" sz="850" dirty="0">
                <a:solidFill>
                  <a:srgbClr val="1A2E4A"/>
                </a:solidFill>
                <a:latin typeface="Calibri" pitchFamily="34" charset="0"/>
                <a:ea typeface="Calibri" pitchFamily="34" charset="-122"/>
                <a:cs typeface="Calibri" pitchFamily="34" charset="-120"/>
              </a:rPr>
              <a:t>· Reporting &amp; transparence APD</a:t>
            </a:r>
            <a:endParaRPr lang="en-US" sz="850" dirty="0"/>
          </a:p>
        </p:txBody>
      </p:sp>
      <p:sp>
        <p:nvSpPr>
          <p:cNvPr id="23" name="Shape 21"/>
          <p:cNvSpPr/>
          <p:nvPr/>
        </p:nvSpPr>
        <p:spPr>
          <a:xfrm>
            <a:off x="1993392" y="2928275"/>
            <a:ext cx="1664208" cy="1963765"/>
          </a:xfrm>
          <a:prstGeom prst="rect">
            <a:avLst/>
          </a:prstGeom>
          <a:solidFill>
            <a:srgbClr val="FFFFFF"/>
          </a:solidFill>
          <a:ln w="12700">
            <a:solidFill>
              <a:srgbClr val="DDE6F0"/>
            </a:solidFill>
            <a:prstDash val="solid"/>
          </a:ln>
        </p:spPr>
      </p:sp>
      <p:sp>
        <p:nvSpPr>
          <p:cNvPr id="24" name="Shape 22"/>
          <p:cNvSpPr/>
          <p:nvPr/>
        </p:nvSpPr>
        <p:spPr>
          <a:xfrm>
            <a:off x="1993392" y="2928275"/>
            <a:ext cx="1664208" cy="301752"/>
          </a:xfrm>
          <a:prstGeom prst="rect">
            <a:avLst/>
          </a:prstGeom>
          <a:solidFill>
            <a:srgbClr val="7AAACE"/>
          </a:solidFill>
          <a:ln w="12700">
            <a:solidFill>
              <a:srgbClr val="7AAACE"/>
            </a:solidFill>
            <a:prstDash val="solid"/>
          </a:ln>
        </p:spPr>
      </p:sp>
      <p:sp>
        <p:nvSpPr>
          <p:cNvPr id="25" name="Text 23"/>
          <p:cNvSpPr/>
          <p:nvPr/>
        </p:nvSpPr>
        <p:spPr>
          <a:xfrm>
            <a:off x="2048256" y="2946563"/>
            <a:ext cx="1572768" cy="274320"/>
          </a:xfrm>
          <a:prstGeom prst="rect">
            <a:avLst/>
          </a:prstGeom>
          <a:noFill/>
          <a:ln/>
        </p:spPr>
        <p:txBody>
          <a:bodyPr wrap="square" lIns="0" tIns="0" rIns="0" bIns="0" rtlCol="0" anchor="ctr"/>
          <a:lstStyle/>
          <a:p>
            <a:pPr indent="0" marL="0">
              <a:buNone/>
            </a:pPr>
            <a:r>
              <a:rPr lang="en-US" sz="850" b="1" dirty="0">
                <a:solidFill>
                  <a:srgbClr val="FFFFFF"/>
                </a:solidFill>
                <a:latin typeface="Calibri" pitchFamily="34" charset="0"/>
                <a:ea typeface="Calibri" pitchFamily="34" charset="-122"/>
                <a:cs typeface="Calibri" pitchFamily="34" charset="-120"/>
              </a:rPr>
              <a:t>Ressources Clés</a:t>
            </a:r>
            <a:endParaRPr lang="en-US" sz="850" dirty="0"/>
          </a:p>
        </p:txBody>
      </p:sp>
      <p:sp>
        <p:nvSpPr>
          <p:cNvPr id="26" name="Text 24"/>
          <p:cNvSpPr/>
          <p:nvPr/>
        </p:nvSpPr>
        <p:spPr>
          <a:xfrm>
            <a:off x="2066544" y="3275747"/>
            <a:ext cx="1536192" cy="404073"/>
          </a:xfrm>
          <a:prstGeom prst="rect">
            <a:avLst/>
          </a:prstGeom>
          <a:noFill/>
          <a:ln/>
        </p:spPr>
        <p:txBody>
          <a:bodyPr wrap="square" lIns="0" tIns="0" rIns="0" bIns="0" rtlCol="0" anchor="t"/>
          <a:lstStyle/>
          <a:p>
            <a:pPr indent="0" marL="0">
              <a:lnSpc>
                <a:spcPct val="120000"/>
              </a:lnSpc>
              <a:buNone/>
            </a:pPr>
            <a:r>
              <a:rPr lang="en-US" sz="850" dirty="0">
                <a:solidFill>
                  <a:srgbClr val="1A2E4A"/>
                </a:solidFill>
                <a:latin typeface="Calibri" pitchFamily="34" charset="0"/>
                <a:ea typeface="Calibri" pitchFamily="34" charset="-122"/>
                <a:cs typeface="Calibri" pitchFamily="34" charset="-120"/>
              </a:rPr>
              <a:t>· 13,7 Md€ d'engagements (2025)</a:t>
            </a:r>
            <a:endParaRPr lang="en-US" sz="850" dirty="0"/>
          </a:p>
        </p:txBody>
      </p:sp>
      <p:sp>
        <p:nvSpPr>
          <p:cNvPr id="27" name="Text 25"/>
          <p:cNvSpPr/>
          <p:nvPr/>
        </p:nvSpPr>
        <p:spPr>
          <a:xfrm>
            <a:off x="2066544" y="3679820"/>
            <a:ext cx="1536192" cy="404073"/>
          </a:xfrm>
          <a:prstGeom prst="rect">
            <a:avLst/>
          </a:prstGeom>
          <a:noFill/>
          <a:ln/>
        </p:spPr>
        <p:txBody>
          <a:bodyPr wrap="square" lIns="0" tIns="0" rIns="0" bIns="0" rtlCol="0" anchor="t"/>
          <a:lstStyle/>
          <a:p>
            <a:pPr indent="0" marL="0">
              <a:lnSpc>
                <a:spcPct val="120000"/>
              </a:lnSpc>
              <a:buNone/>
            </a:pPr>
            <a:r>
              <a:rPr lang="en-US" sz="850" dirty="0">
                <a:solidFill>
                  <a:srgbClr val="1A2E4A"/>
                </a:solidFill>
                <a:latin typeface="Calibri" pitchFamily="34" charset="0"/>
                <a:ea typeface="Calibri" pitchFamily="34" charset="-122"/>
                <a:cs typeface="Calibri" pitchFamily="34" charset="-120"/>
              </a:rPr>
              <a:t>· Réseau : 150+ pays</a:t>
            </a:r>
            <a:endParaRPr lang="en-US" sz="850" dirty="0"/>
          </a:p>
        </p:txBody>
      </p:sp>
      <p:sp>
        <p:nvSpPr>
          <p:cNvPr id="28" name="Text 26"/>
          <p:cNvSpPr/>
          <p:nvPr/>
        </p:nvSpPr>
        <p:spPr>
          <a:xfrm>
            <a:off x="2066544" y="4083893"/>
            <a:ext cx="1536192" cy="404073"/>
          </a:xfrm>
          <a:prstGeom prst="rect">
            <a:avLst/>
          </a:prstGeom>
          <a:noFill/>
          <a:ln/>
        </p:spPr>
        <p:txBody>
          <a:bodyPr wrap="square" lIns="0" tIns="0" rIns="0" bIns="0" rtlCol="0" anchor="t"/>
          <a:lstStyle/>
          <a:p>
            <a:pPr indent="0" marL="0">
              <a:lnSpc>
                <a:spcPct val="120000"/>
              </a:lnSpc>
              <a:buNone/>
            </a:pPr>
            <a:r>
              <a:rPr lang="en-US" sz="850" dirty="0">
                <a:solidFill>
                  <a:srgbClr val="1A2E4A"/>
                </a:solidFill>
                <a:latin typeface="Calibri" pitchFamily="34" charset="0"/>
                <a:ea typeface="Calibri" pitchFamily="34" charset="-122"/>
                <a:cs typeface="Calibri" pitchFamily="34" charset="-120"/>
              </a:rPr>
              <a:t>· Notation financière AAA</a:t>
            </a:r>
            <a:endParaRPr lang="en-US" sz="850" dirty="0"/>
          </a:p>
        </p:txBody>
      </p:sp>
      <p:sp>
        <p:nvSpPr>
          <p:cNvPr id="29" name="Text 27"/>
          <p:cNvSpPr/>
          <p:nvPr/>
        </p:nvSpPr>
        <p:spPr>
          <a:xfrm>
            <a:off x="2066544" y="4487967"/>
            <a:ext cx="1536192" cy="404073"/>
          </a:xfrm>
          <a:prstGeom prst="rect">
            <a:avLst/>
          </a:prstGeom>
          <a:noFill/>
          <a:ln/>
        </p:spPr>
        <p:txBody>
          <a:bodyPr wrap="square" lIns="0" tIns="0" rIns="0" bIns="0" rtlCol="0" anchor="t"/>
          <a:lstStyle/>
          <a:p>
            <a:pPr indent="0" marL="0">
              <a:lnSpc>
                <a:spcPct val="120000"/>
              </a:lnSpc>
              <a:buNone/>
            </a:pPr>
            <a:r>
              <a:rPr lang="en-US" sz="850" dirty="0">
                <a:solidFill>
                  <a:srgbClr val="1A2E4A"/>
                </a:solidFill>
                <a:latin typeface="Calibri" pitchFamily="34" charset="0"/>
                <a:ea typeface="Calibri" pitchFamily="34" charset="-122"/>
                <a:cs typeface="Calibri" pitchFamily="34" charset="-120"/>
              </a:rPr>
              <a:t>· Data &amp; outils d'analyse</a:t>
            </a:r>
            <a:endParaRPr lang="en-US" sz="850" dirty="0"/>
          </a:p>
        </p:txBody>
      </p:sp>
      <p:sp>
        <p:nvSpPr>
          <p:cNvPr id="30" name="Shape 28"/>
          <p:cNvSpPr/>
          <p:nvPr/>
        </p:nvSpPr>
        <p:spPr>
          <a:xfrm>
            <a:off x="3730752" y="1115568"/>
            <a:ext cx="1901952" cy="3776472"/>
          </a:xfrm>
          <a:prstGeom prst="rect">
            <a:avLst/>
          </a:prstGeom>
          <a:solidFill>
            <a:srgbClr val="FFFFFF"/>
          </a:solidFill>
          <a:ln w="12700">
            <a:solidFill>
              <a:srgbClr val="DDE6F0"/>
            </a:solidFill>
            <a:prstDash val="solid"/>
          </a:ln>
        </p:spPr>
      </p:sp>
      <p:sp>
        <p:nvSpPr>
          <p:cNvPr id="31" name="Shape 29"/>
          <p:cNvSpPr/>
          <p:nvPr/>
        </p:nvSpPr>
        <p:spPr>
          <a:xfrm>
            <a:off x="3730752" y="1115568"/>
            <a:ext cx="1901952" cy="301752"/>
          </a:xfrm>
          <a:prstGeom prst="rect">
            <a:avLst/>
          </a:prstGeom>
          <a:solidFill>
            <a:srgbClr val="C00707"/>
          </a:solidFill>
          <a:ln w="12700">
            <a:solidFill>
              <a:srgbClr val="C00707"/>
            </a:solidFill>
            <a:prstDash val="solid"/>
          </a:ln>
        </p:spPr>
      </p:sp>
      <p:sp>
        <p:nvSpPr>
          <p:cNvPr id="32" name="Text 30"/>
          <p:cNvSpPr/>
          <p:nvPr/>
        </p:nvSpPr>
        <p:spPr>
          <a:xfrm>
            <a:off x="3785616" y="1133856"/>
            <a:ext cx="1810512" cy="274320"/>
          </a:xfrm>
          <a:prstGeom prst="rect">
            <a:avLst/>
          </a:prstGeom>
          <a:noFill/>
          <a:ln/>
        </p:spPr>
        <p:txBody>
          <a:bodyPr wrap="square" lIns="0" tIns="0" rIns="0" bIns="0" rtlCol="0" anchor="ctr"/>
          <a:lstStyle/>
          <a:p>
            <a:pPr indent="0" marL="0">
              <a:buNone/>
            </a:pPr>
            <a:r>
              <a:rPr lang="en-US" sz="850" b="1" dirty="0">
                <a:solidFill>
                  <a:srgbClr val="FFFFFF"/>
                </a:solidFill>
                <a:latin typeface="Calibri" pitchFamily="34" charset="0"/>
                <a:ea typeface="Calibri" pitchFamily="34" charset="-122"/>
                <a:cs typeface="Calibri" pitchFamily="34" charset="-120"/>
              </a:rPr>
              <a:t>Proposition de Valeur</a:t>
            </a:r>
            <a:endParaRPr lang="en-US" sz="850" dirty="0"/>
          </a:p>
        </p:txBody>
      </p:sp>
      <p:sp>
        <p:nvSpPr>
          <p:cNvPr id="33" name="Text 31"/>
          <p:cNvSpPr/>
          <p:nvPr/>
        </p:nvSpPr>
        <p:spPr>
          <a:xfrm>
            <a:off x="3803904" y="1463040"/>
            <a:ext cx="1773936" cy="685800"/>
          </a:xfrm>
          <a:prstGeom prst="rect">
            <a:avLst/>
          </a:prstGeom>
          <a:noFill/>
          <a:ln/>
        </p:spPr>
        <p:txBody>
          <a:bodyPr wrap="square" lIns="0" tIns="0" rIns="0" bIns="0" rtlCol="0" anchor="t"/>
          <a:lstStyle/>
          <a:p>
            <a:pPr indent="0" marL="0">
              <a:lnSpc>
                <a:spcPct val="120000"/>
              </a:lnSpc>
              <a:buNone/>
            </a:pPr>
            <a:r>
              <a:rPr lang="en-US" sz="850" dirty="0">
                <a:solidFill>
                  <a:srgbClr val="1A2E4A"/>
                </a:solidFill>
                <a:latin typeface="Calibri" pitchFamily="34" charset="0"/>
                <a:ea typeface="Calibri" pitchFamily="34" charset="-122"/>
                <a:cs typeface="Calibri" pitchFamily="34" charset="-120"/>
              </a:rPr>
              <a:t>· Financement développement durable</a:t>
            </a:r>
            <a:endParaRPr lang="en-US" sz="850" dirty="0"/>
          </a:p>
        </p:txBody>
      </p:sp>
      <p:sp>
        <p:nvSpPr>
          <p:cNvPr id="34" name="Text 32"/>
          <p:cNvSpPr/>
          <p:nvPr/>
        </p:nvSpPr>
        <p:spPr>
          <a:xfrm>
            <a:off x="3803904" y="2148840"/>
            <a:ext cx="1773936" cy="685800"/>
          </a:xfrm>
          <a:prstGeom prst="rect">
            <a:avLst/>
          </a:prstGeom>
          <a:noFill/>
          <a:ln/>
        </p:spPr>
        <p:txBody>
          <a:bodyPr wrap="square" lIns="0" tIns="0" rIns="0" bIns="0" rtlCol="0" anchor="t"/>
          <a:lstStyle/>
          <a:p>
            <a:pPr indent="0" marL="0">
              <a:lnSpc>
                <a:spcPct val="120000"/>
              </a:lnSpc>
              <a:buNone/>
            </a:pPr>
            <a:r>
              <a:rPr lang="en-US" sz="850" dirty="0">
                <a:solidFill>
                  <a:srgbClr val="1A2E4A"/>
                </a:solidFill>
                <a:latin typeface="Calibri" pitchFamily="34" charset="0"/>
                <a:ea typeface="Calibri" pitchFamily="34" charset="-122"/>
                <a:cs typeface="Calibri" pitchFamily="34" charset="-120"/>
              </a:rPr>
              <a:t>· Lutte contre le changement climatique</a:t>
            </a:r>
            <a:endParaRPr lang="en-US" sz="850" dirty="0"/>
          </a:p>
        </p:txBody>
      </p:sp>
      <p:sp>
        <p:nvSpPr>
          <p:cNvPr id="35" name="Text 33"/>
          <p:cNvSpPr/>
          <p:nvPr/>
        </p:nvSpPr>
        <p:spPr>
          <a:xfrm>
            <a:off x="3803904" y="2834640"/>
            <a:ext cx="1773936" cy="685800"/>
          </a:xfrm>
          <a:prstGeom prst="rect">
            <a:avLst/>
          </a:prstGeom>
          <a:noFill/>
          <a:ln/>
        </p:spPr>
        <p:txBody>
          <a:bodyPr wrap="square" lIns="0" tIns="0" rIns="0" bIns="0" rtlCol="0" anchor="t"/>
          <a:lstStyle/>
          <a:p>
            <a:pPr indent="0" marL="0">
              <a:lnSpc>
                <a:spcPct val="120000"/>
              </a:lnSpc>
              <a:buNone/>
            </a:pPr>
            <a:r>
              <a:rPr lang="en-US" sz="850" dirty="0">
                <a:solidFill>
                  <a:srgbClr val="1A2E4A"/>
                </a:solidFill>
                <a:latin typeface="Calibri" pitchFamily="34" charset="0"/>
                <a:ea typeface="Calibri" pitchFamily="34" charset="-122"/>
                <a:cs typeface="Calibri" pitchFamily="34" charset="-120"/>
              </a:rPr>
              <a:t>· Pour 1€ public → 12€ investis</a:t>
            </a:r>
            <a:endParaRPr lang="en-US" sz="850" dirty="0"/>
          </a:p>
        </p:txBody>
      </p:sp>
      <p:sp>
        <p:nvSpPr>
          <p:cNvPr id="36" name="Text 34"/>
          <p:cNvSpPr/>
          <p:nvPr/>
        </p:nvSpPr>
        <p:spPr>
          <a:xfrm>
            <a:off x="3803904" y="3520440"/>
            <a:ext cx="1773936" cy="685800"/>
          </a:xfrm>
          <a:prstGeom prst="rect">
            <a:avLst/>
          </a:prstGeom>
          <a:noFill/>
          <a:ln/>
        </p:spPr>
        <p:txBody>
          <a:bodyPr wrap="square" lIns="0" tIns="0" rIns="0" bIns="0" rtlCol="0" anchor="t"/>
          <a:lstStyle/>
          <a:p>
            <a:pPr indent="0" marL="0">
              <a:lnSpc>
                <a:spcPct val="120000"/>
              </a:lnSpc>
              <a:buNone/>
            </a:pPr>
            <a:r>
              <a:rPr lang="en-US" sz="850" dirty="0">
                <a:solidFill>
                  <a:srgbClr val="1A2E4A"/>
                </a:solidFill>
                <a:latin typeface="Calibri" pitchFamily="34" charset="0"/>
                <a:ea typeface="Calibri" pitchFamily="34" charset="-122"/>
                <a:cs typeface="Calibri" pitchFamily="34" charset="-120"/>
              </a:rPr>
              <a:t>· Alignement 100% Accord de Paris</a:t>
            </a:r>
            <a:endParaRPr lang="en-US" sz="850" dirty="0"/>
          </a:p>
        </p:txBody>
      </p:sp>
      <p:sp>
        <p:nvSpPr>
          <p:cNvPr id="37" name="Text 35"/>
          <p:cNvSpPr/>
          <p:nvPr/>
        </p:nvSpPr>
        <p:spPr>
          <a:xfrm>
            <a:off x="3803904" y="4206240"/>
            <a:ext cx="1773936" cy="685800"/>
          </a:xfrm>
          <a:prstGeom prst="rect">
            <a:avLst/>
          </a:prstGeom>
          <a:noFill/>
          <a:ln/>
        </p:spPr>
        <p:txBody>
          <a:bodyPr wrap="square" lIns="0" tIns="0" rIns="0" bIns="0" rtlCol="0" anchor="t"/>
          <a:lstStyle/>
          <a:p>
            <a:pPr indent="0" marL="0">
              <a:lnSpc>
                <a:spcPct val="120000"/>
              </a:lnSpc>
              <a:buNone/>
            </a:pPr>
            <a:r>
              <a:rPr lang="en-US" sz="850" dirty="0">
                <a:solidFill>
                  <a:srgbClr val="1A2E4A"/>
                </a:solidFill>
                <a:latin typeface="Calibri" pitchFamily="34" charset="0"/>
                <a:ea typeface="Calibri" pitchFamily="34" charset="-122"/>
                <a:cs typeface="Calibri" pitchFamily="34" charset="-120"/>
              </a:rPr>
              <a:t>· ~3,5M personnes/an : accès soins</a:t>
            </a:r>
            <a:endParaRPr lang="en-US" sz="850" dirty="0"/>
          </a:p>
        </p:txBody>
      </p:sp>
      <p:sp>
        <p:nvSpPr>
          <p:cNvPr id="38" name="Shape 36"/>
          <p:cNvSpPr/>
          <p:nvPr/>
        </p:nvSpPr>
        <p:spPr>
          <a:xfrm>
            <a:off x="5687568" y="1115568"/>
            <a:ext cx="1536192" cy="1737177"/>
          </a:xfrm>
          <a:prstGeom prst="rect">
            <a:avLst/>
          </a:prstGeom>
          <a:solidFill>
            <a:srgbClr val="FFFFFF"/>
          </a:solidFill>
          <a:ln w="12700">
            <a:solidFill>
              <a:srgbClr val="DDE6F0"/>
            </a:solidFill>
            <a:prstDash val="solid"/>
          </a:ln>
        </p:spPr>
      </p:sp>
      <p:sp>
        <p:nvSpPr>
          <p:cNvPr id="39" name="Shape 37"/>
          <p:cNvSpPr/>
          <p:nvPr/>
        </p:nvSpPr>
        <p:spPr>
          <a:xfrm>
            <a:off x="5687568" y="1115568"/>
            <a:ext cx="1536192" cy="301752"/>
          </a:xfrm>
          <a:prstGeom prst="rect">
            <a:avLst/>
          </a:prstGeom>
          <a:solidFill>
            <a:srgbClr val="7AAACE"/>
          </a:solidFill>
          <a:ln w="12700">
            <a:solidFill>
              <a:srgbClr val="7AAACE"/>
            </a:solidFill>
            <a:prstDash val="solid"/>
          </a:ln>
        </p:spPr>
      </p:sp>
      <p:sp>
        <p:nvSpPr>
          <p:cNvPr id="40" name="Text 38"/>
          <p:cNvSpPr/>
          <p:nvPr/>
        </p:nvSpPr>
        <p:spPr>
          <a:xfrm>
            <a:off x="5742432" y="1133856"/>
            <a:ext cx="1444752" cy="274320"/>
          </a:xfrm>
          <a:prstGeom prst="rect">
            <a:avLst/>
          </a:prstGeom>
          <a:noFill/>
          <a:ln/>
        </p:spPr>
        <p:txBody>
          <a:bodyPr wrap="square" lIns="0" tIns="0" rIns="0" bIns="0" rtlCol="0" anchor="ctr"/>
          <a:lstStyle/>
          <a:p>
            <a:pPr indent="0" marL="0">
              <a:buNone/>
            </a:pPr>
            <a:r>
              <a:rPr lang="en-US" sz="850" b="1" dirty="0">
                <a:solidFill>
                  <a:srgbClr val="FFFFFF"/>
                </a:solidFill>
                <a:latin typeface="Calibri" pitchFamily="34" charset="0"/>
                <a:ea typeface="Calibri" pitchFamily="34" charset="-122"/>
                <a:cs typeface="Calibri" pitchFamily="34" charset="-120"/>
              </a:rPr>
              <a:t>Relations Clients</a:t>
            </a:r>
            <a:endParaRPr lang="en-US" sz="850" dirty="0"/>
          </a:p>
        </p:txBody>
      </p:sp>
      <p:sp>
        <p:nvSpPr>
          <p:cNvPr id="41" name="Text 39"/>
          <p:cNvSpPr/>
          <p:nvPr/>
        </p:nvSpPr>
        <p:spPr>
          <a:xfrm>
            <a:off x="5760720" y="1463040"/>
            <a:ext cx="1408176" cy="347426"/>
          </a:xfrm>
          <a:prstGeom prst="rect">
            <a:avLst/>
          </a:prstGeom>
          <a:noFill/>
          <a:ln/>
        </p:spPr>
        <p:txBody>
          <a:bodyPr wrap="square" lIns="0" tIns="0" rIns="0" bIns="0" rtlCol="0" anchor="t"/>
          <a:lstStyle/>
          <a:p>
            <a:pPr indent="0" marL="0">
              <a:lnSpc>
                <a:spcPct val="120000"/>
              </a:lnSpc>
              <a:buNone/>
            </a:pPr>
            <a:r>
              <a:rPr lang="en-US" sz="850" dirty="0">
                <a:solidFill>
                  <a:srgbClr val="1A2E4A"/>
                </a:solidFill>
                <a:latin typeface="Calibri" pitchFamily="34" charset="0"/>
                <a:ea typeface="Calibri" pitchFamily="34" charset="-122"/>
                <a:cs typeface="Calibri" pitchFamily="34" charset="-120"/>
              </a:rPr>
              <a:t>· Partenariats long terme États</a:t>
            </a:r>
            <a:endParaRPr lang="en-US" sz="850" dirty="0"/>
          </a:p>
        </p:txBody>
      </p:sp>
      <p:sp>
        <p:nvSpPr>
          <p:cNvPr id="42" name="Text 40"/>
          <p:cNvSpPr/>
          <p:nvPr/>
        </p:nvSpPr>
        <p:spPr>
          <a:xfrm>
            <a:off x="5760720" y="1810466"/>
            <a:ext cx="1408176" cy="347426"/>
          </a:xfrm>
          <a:prstGeom prst="rect">
            <a:avLst/>
          </a:prstGeom>
          <a:noFill/>
          <a:ln/>
        </p:spPr>
        <p:txBody>
          <a:bodyPr wrap="square" lIns="0" tIns="0" rIns="0" bIns="0" rtlCol="0" anchor="t"/>
          <a:lstStyle/>
          <a:p>
            <a:pPr indent="0" marL="0">
              <a:lnSpc>
                <a:spcPct val="120000"/>
              </a:lnSpc>
              <a:buNone/>
            </a:pPr>
            <a:r>
              <a:rPr lang="en-US" sz="850" dirty="0">
                <a:solidFill>
                  <a:srgbClr val="1A2E4A"/>
                </a:solidFill>
                <a:latin typeface="Calibri" pitchFamily="34" charset="0"/>
                <a:ea typeface="Calibri" pitchFamily="34" charset="-122"/>
                <a:cs typeface="Calibri" pitchFamily="34" charset="-120"/>
              </a:rPr>
              <a:t>· Accompagnement co-construction</a:t>
            </a:r>
            <a:endParaRPr lang="en-US" sz="850" dirty="0"/>
          </a:p>
        </p:txBody>
      </p:sp>
      <p:sp>
        <p:nvSpPr>
          <p:cNvPr id="43" name="Text 41"/>
          <p:cNvSpPr/>
          <p:nvPr/>
        </p:nvSpPr>
        <p:spPr>
          <a:xfrm>
            <a:off x="5760720" y="2157893"/>
            <a:ext cx="1408176" cy="347426"/>
          </a:xfrm>
          <a:prstGeom prst="rect">
            <a:avLst/>
          </a:prstGeom>
          <a:noFill/>
          <a:ln/>
        </p:spPr>
        <p:txBody>
          <a:bodyPr wrap="square" lIns="0" tIns="0" rIns="0" bIns="0" rtlCol="0" anchor="t"/>
          <a:lstStyle/>
          <a:p>
            <a:pPr indent="0" marL="0">
              <a:lnSpc>
                <a:spcPct val="120000"/>
              </a:lnSpc>
              <a:buNone/>
            </a:pPr>
            <a:r>
              <a:rPr lang="en-US" sz="850" dirty="0">
                <a:solidFill>
                  <a:srgbClr val="1A2E4A"/>
                </a:solidFill>
                <a:latin typeface="Calibri" pitchFamily="34" charset="0"/>
                <a:ea typeface="Calibri" pitchFamily="34" charset="-122"/>
                <a:cs typeface="Calibri" pitchFamily="34" charset="-120"/>
              </a:rPr>
              <a:t>· Plateforme data interactive (APD)</a:t>
            </a:r>
            <a:endParaRPr lang="en-US" sz="850" dirty="0"/>
          </a:p>
        </p:txBody>
      </p:sp>
      <p:sp>
        <p:nvSpPr>
          <p:cNvPr id="44" name="Text 42"/>
          <p:cNvSpPr/>
          <p:nvPr/>
        </p:nvSpPr>
        <p:spPr>
          <a:xfrm>
            <a:off x="5760720" y="2505319"/>
            <a:ext cx="1408176" cy="347426"/>
          </a:xfrm>
          <a:prstGeom prst="rect">
            <a:avLst/>
          </a:prstGeom>
          <a:noFill/>
          <a:ln/>
        </p:spPr>
        <p:txBody>
          <a:bodyPr wrap="square" lIns="0" tIns="0" rIns="0" bIns="0" rtlCol="0" anchor="t"/>
          <a:lstStyle/>
          <a:p>
            <a:pPr indent="0" marL="0">
              <a:lnSpc>
                <a:spcPct val="120000"/>
              </a:lnSpc>
              <a:buNone/>
            </a:pPr>
            <a:r>
              <a:rPr lang="en-US" sz="850" dirty="0">
                <a:solidFill>
                  <a:srgbClr val="1A2E4A"/>
                </a:solidFill>
                <a:latin typeface="Calibri" pitchFamily="34" charset="0"/>
                <a:ea typeface="Calibri" pitchFamily="34" charset="-122"/>
                <a:cs typeface="Calibri" pitchFamily="34" charset="-120"/>
              </a:rPr>
              <a:t>· Assistance technique dédiée</a:t>
            </a:r>
            <a:endParaRPr lang="en-US" sz="850" dirty="0"/>
          </a:p>
        </p:txBody>
      </p:sp>
      <p:sp>
        <p:nvSpPr>
          <p:cNvPr id="45" name="Shape 43"/>
          <p:cNvSpPr/>
          <p:nvPr/>
        </p:nvSpPr>
        <p:spPr>
          <a:xfrm>
            <a:off x="5687568" y="2928275"/>
            <a:ext cx="1536192" cy="1963765"/>
          </a:xfrm>
          <a:prstGeom prst="rect">
            <a:avLst/>
          </a:prstGeom>
          <a:solidFill>
            <a:srgbClr val="FFFFFF"/>
          </a:solidFill>
          <a:ln w="12700">
            <a:solidFill>
              <a:srgbClr val="DDE6F0"/>
            </a:solidFill>
            <a:prstDash val="solid"/>
          </a:ln>
        </p:spPr>
      </p:sp>
      <p:sp>
        <p:nvSpPr>
          <p:cNvPr id="46" name="Shape 44"/>
          <p:cNvSpPr/>
          <p:nvPr/>
        </p:nvSpPr>
        <p:spPr>
          <a:xfrm>
            <a:off x="5687568" y="2928275"/>
            <a:ext cx="1536192" cy="301752"/>
          </a:xfrm>
          <a:prstGeom prst="rect">
            <a:avLst/>
          </a:prstGeom>
          <a:solidFill>
            <a:srgbClr val="7AAACE"/>
          </a:solidFill>
          <a:ln w="12700">
            <a:solidFill>
              <a:srgbClr val="7AAACE"/>
            </a:solidFill>
            <a:prstDash val="solid"/>
          </a:ln>
        </p:spPr>
      </p:sp>
      <p:sp>
        <p:nvSpPr>
          <p:cNvPr id="47" name="Text 45"/>
          <p:cNvSpPr/>
          <p:nvPr/>
        </p:nvSpPr>
        <p:spPr>
          <a:xfrm>
            <a:off x="5742432" y="2946563"/>
            <a:ext cx="1444752" cy="274320"/>
          </a:xfrm>
          <a:prstGeom prst="rect">
            <a:avLst/>
          </a:prstGeom>
          <a:noFill/>
          <a:ln/>
        </p:spPr>
        <p:txBody>
          <a:bodyPr wrap="square" lIns="0" tIns="0" rIns="0" bIns="0" rtlCol="0" anchor="ctr"/>
          <a:lstStyle/>
          <a:p>
            <a:pPr indent="0" marL="0">
              <a:buNone/>
            </a:pPr>
            <a:r>
              <a:rPr lang="en-US" sz="850" b="1" dirty="0">
                <a:solidFill>
                  <a:srgbClr val="FFFFFF"/>
                </a:solidFill>
                <a:latin typeface="Calibri" pitchFamily="34" charset="0"/>
                <a:ea typeface="Calibri" pitchFamily="34" charset="-122"/>
                <a:cs typeface="Calibri" pitchFamily="34" charset="-120"/>
              </a:rPr>
              <a:t>Canaux</a:t>
            </a:r>
            <a:endParaRPr lang="en-US" sz="850" dirty="0"/>
          </a:p>
        </p:txBody>
      </p:sp>
      <p:sp>
        <p:nvSpPr>
          <p:cNvPr id="48" name="Text 46"/>
          <p:cNvSpPr/>
          <p:nvPr/>
        </p:nvSpPr>
        <p:spPr>
          <a:xfrm>
            <a:off x="5760720" y="3275747"/>
            <a:ext cx="1408176" cy="404073"/>
          </a:xfrm>
          <a:prstGeom prst="rect">
            <a:avLst/>
          </a:prstGeom>
          <a:noFill/>
          <a:ln/>
        </p:spPr>
        <p:txBody>
          <a:bodyPr wrap="square" lIns="0" tIns="0" rIns="0" bIns="0" rtlCol="0" anchor="t"/>
          <a:lstStyle/>
          <a:p>
            <a:pPr indent="0" marL="0">
              <a:lnSpc>
                <a:spcPct val="120000"/>
              </a:lnSpc>
              <a:buNone/>
            </a:pPr>
            <a:r>
              <a:rPr lang="en-US" sz="850" dirty="0">
                <a:solidFill>
                  <a:srgbClr val="1A2E4A"/>
                </a:solidFill>
                <a:latin typeface="Calibri" pitchFamily="34" charset="0"/>
                <a:ea typeface="Calibri" pitchFamily="34" charset="-122"/>
                <a:cs typeface="Calibri" pitchFamily="34" charset="-120"/>
              </a:rPr>
              <a:t>· Bureaux locaux (85+ pays)</a:t>
            </a:r>
            <a:endParaRPr lang="en-US" sz="850" dirty="0"/>
          </a:p>
        </p:txBody>
      </p:sp>
      <p:sp>
        <p:nvSpPr>
          <p:cNvPr id="49" name="Text 47"/>
          <p:cNvSpPr/>
          <p:nvPr/>
        </p:nvSpPr>
        <p:spPr>
          <a:xfrm>
            <a:off x="5760720" y="3679820"/>
            <a:ext cx="1408176" cy="404073"/>
          </a:xfrm>
          <a:prstGeom prst="rect">
            <a:avLst/>
          </a:prstGeom>
          <a:noFill/>
          <a:ln/>
        </p:spPr>
        <p:txBody>
          <a:bodyPr wrap="square" lIns="0" tIns="0" rIns="0" bIns="0" rtlCol="0" anchor="t"/>
          <a:lstStyle/>
          <a:p>
            <a:pPr indent="0" marL="0">
              <a:lnSpc>
                <a:spcPct val="120000"/>
              </a:lnSpc>
              <a:buNone/>
            </a:pPr>
            <a:r>
              <a:rPr lang="en-US" sz="850" dirty="0">
                <a:solidFill>
                  <a:srgbClr val="1A2E4A"/>
                </a:solidFill>
                <a:latin typeface="Calibri" pitchFamily="34" charset="0"/>
                <a:ea typeface="Calibri" pitchFamily="34" charset="-122"/>
                <a:cs typeface="Calibri" pitchFamily="34" charset="-120"/>
              </a:rPr>
              <a:t>· Proparco / Expertise France</a:t>
            </a:r>
            <a:endParaRPr lang="en-US" sz="850" dirty="0"/>
          </a:p>
        </p:txBody>
      </p:sp>
      <p:sp>
        <p:nvSpPr>
          <p:cNvPr id="50" name="Text 48"/>
          <p:cNvSpPr/>
          <p:nvPr/>
        </p:nvSpPr>
        <p:spPr>
          <a:xfrm>
            <a:off x="5760720" y="4083893"/>
            <a:ext cx="1408176" cy="404073"/>
          </a:xfrm>
          <a:prstGeom prst="rect">
            <a:avLst/>
          </a:prstGeom>
          <a:noFill/>
          <a:ln/>
        </p:spPr>
        <p:txBody>
          <a:bodyPr wrap="square" lIns="0" tIns="0" rIns="0" bIns="0" rtlCol="0" anchor="t"/>
          <a:lstStyle/>
          <a:p>
            <a:pPr indent="0" marL="0">
              <a:lnSpc>
                <a:spcPct val="120000"/>
              </a:lnSpc>
              <a:buNone/>
            </a:pPr>
            <a:r>
              <a:rPr lang="en-US" sz="850" dirty="0">
                <a:solidFill>
                  <a:srgbClr val="1A2E4A"/>
                </a:solidFill>
                <a:latin typeface="Calibri" pitchFamily="34" charset="0"/>
                <a:ea typeface="Calibri" pitchFamily="34" charset="-122"/>
                <a:cs typeface="Calibri" pitchFamily="34" charset="-120"/>
              </a:rPr>
              <a:t>· Site web &amp; outils digitaux</a:t>
            </a:r>
            <a:endParaRPr lang="en-US" sz="850" dirty="0"/>
          </a:p>
        </p:txBody>
      </p:sp>
      <p:sp>
        <p:nvSpPr>
          <p:cNvPr id="51" name="Text 49"/>
          <p:cNvSpPr/>
          <p:nvPr/>
        </p:nvSpPr>
        <p:spPr>
          <a:xfrm>
            <a:off x="5760720" y="4487967"/>
            <a:ext cx="1408176" cy="404073"/>
          </a:xfrm>
          <a:prstGeom prst="rect">
            <a:avLst/>
          </a:prstGeom>
          <a:noFill/>
          <a:ln/>
        </p:spPr>
        <p:txBody>
          <a:bodyPr wrap="square" lIns="0" tIns="0" rIns="0" bIns="0" rtlCol="0" anchor="t"/>
          <a:lstStyle/>
          <a:p>
            <a:pPr indent="0" marL="0">
              <a:lnSpc>
                <a:spcPct val="120000"/>
              </a:lnSpc>
              <a:buNone/>
            </a:pPr>
            <a:r>
              <a:rPr lang="en-US" sz="850" dirty="0">
                <a:solidFill>
                  <a:srgbClr val="1A2E4A"/>
                </a:solidFill>
                <a:latin typeface="Calibri" pitchFamily="34" charset="0"/>
                <a:ea typeface="Calibri" pitchFamily="34" charset="-122"/>
                <a:cs typeface="Calibri" pitchFamily="34" charset="-120"/>
              </a:rPr>
              <a:t>· Application data APD</a:t>
            </a:r>
            <a:endParaRPr lang="en-US" sz="850" dirty="0"/>
          </a:p>
        </p:txBody>
      </p:sp>
      <p:sp>
        <p:nvSpPr>
          <p:cNvPr id="52" name="Shape 50"/>
          <p:cNvSpPr/>
          <p:nvPr/>
        </p:nvSpPr>
        <p:spPr>
          <a:xfrm>
            <a:off x="7296912" y="1115568"/>
            <a:ext cx="1572768" cy="3776472"/>
          </a:xfrm>
          <a:prstGeom prst="rect">
            <a:avLst/>
          </a:prstGeom>
          <a:solidFill>
            <a:srgbClr val="FFFFFF"/>
          </a:solidFill>
          <a:ln w="12700">
            <a:solidFill>
              <a:srgbClr val="DDE6F0"/>
            </a:solidFill>
            <a:prstDash val="solid"/>
          </a:ln>
        </p:spPr>
      </p:sp>
      <p:sp>
        <p:nvSpPr>
          <p:cNvPr id="53" name="Shape 51"/>
          <p:cNvSpPr/>
          <p:nvPr/>
        </p:nvSpPr>
        <p:spPr>
          <a:xfrm>
            <a:off x="7296912" y="1115568"/>
            <a:ext cx="1572768" cy="301752"/>
          </a:xfrm>
          <a:prstGeom prst="rect">
            <a:avLst/>
          </a:prstGeom>
          <a:solidFill>
            <a:srgbClr val="134E8E"/>
          </a:solidFill>
          <a:ln w="12700">
            <a:solidFill>
              <a:srgbClr val="134E8E"/>
            </a:solidFill>
            <a:prstDash val="solid"/>
          </a:ln>
        </p:spPr>
      </p:sp>
      <p:sp>
        <p:nvSpPr>
          <p:cNvPr id="54" name="Text 52"/>
          <p:cNvSpPr/>
          <p:nvPr/>
        </p:nvSpPr>
        <p:spPr>
          <a:xfrm>
            <a:off x="7351776" y="1133856"/>
            <a:ext cx="1481328" cy="274320"/>
          </a:xfrm>
          <a:prstGeom prst="rect">
            <a:avLst/>
          </a:prstGeom>
          <a:noFill/>
          <a:ln/>
        </p:spPr>
        <p:txBody>
          <a:bodyPr wrap="square" lIns="0" tIns="0" rIns="0" bIns="0" rtlCol="0" anchor="ctr"/>
          <a:lstStyle/>
          <a:p>
            <a:pPr indent="0" marL="0">
              <a:buNone/>
            </a:pPr>
            <a:r>
              <a:rPr lang="en-US" sz="850" b="1" dirty="0">
                <a:solidFill>
                  <a:srgbClr val="FFFFFF"/>
                </a:solidFill>
                <a:latin typeface="Calibri" pitchFamily="34" charset="0"/>
                <a:ea typeface="Calibri" pitchFamily="34" charset="-122"/>
                <a:cs typeface="Calibri" pitchFamily="34" charset="-120"/>
              </a:rPr>
              <a:t>Segments Clients</a:t>
            </a:r>
            <a:endParaRPr lang="en-US" sz="850" dirty="0"/>
          </a:p>
        </p:txBody>
      </p:sp>
      <p:sp>
        <p:nvSpPr>
          <p:cNvPr id="55" name="Text 53"/>
          <p:cNvSpPr/>
          <p:nvPr/>
        </p:nvSpPr>
        <p:spPr>
          <a:xfrm>
            <a:off x="7370064" y="1463040"/>
            <a:ext cx="1444752" cy="685800"/>
          </a:xfrm>
          <a:prstGeom prst="rect">
            <a:avLst/>
          </a:prstGeom>
          <a:noFill/>
          <a:ln/>
        </p:spPr>
        <p:txBody>
          <a:bodyPr wrap="square" lIns="0" tIns="0" rIns="0" bIns="0" rtlCol="0" anchor="t"/>
          <a:lstStyle/>
          <a:p>
            <a:pPr indent="0" marL="0">
              <a:lnSpc>
                <a:spcPct val="120000"/>
              </a:lnSpc>
              <a:buNone/>
            </a:pPr>
            <a:r>
              <a:rPr lang="en-US" sz="850" dirty="0">
                <a:solidFill>
                  <a:srgbClr val="1A2E4A"/>
                </a:solidFill>
                <a:latin typeface="Calibri" pitchFamily="34" charset="0"/>
                <a:ea typeface="Calibri" pitchFamily="34" charset="-122"/>
                <a:cs typeface="Calibri" pitchFamily="34" charset="-120"/>
              </a:rPr>
              <a:t>· Gouvernements pays en dév.</a:t>
            </a:r>
            <a:endParaRPr lang="en-US" sz="850" dirty="0"/>
          </a:p>
        </p:txBody>
      </p:sp>
      <p:sp>
        <p:nvSpPr>
          <p:cNvPr id="56" name="Text 54"/>
          <p:cNvSpPr/>
          <p:nvPr/>
        </p:nvSpPr>
        <p:spPr>
          <a:xfrm>
            <a:off x="7370064" y="2148840"/>
            <a:ext cx="1444752" cy="685800"/>
          </a:xfrm>
          <a:prstGeom prst="rect">
            <a:avLst/>
          </a:prstGeom>
          <a:noFill/>
          <a:ln/>
        </p:spPr>
        <p:txBody>
          <a:bodyPr wrap="square" lIns="0" tIns="0" rIns="0" bIns="0" rtlCol="0" anchor="t"/>
          <a:lstStyle/>
          <a:p>
            <a:pPr indent="0" marL="0">
              <a:lnSpc>
                <a:spcPct val="120000"/>
              </a:lnSpc>
              <a:buNone/>
            </a:pPr>
            <a:r>
              <a:rPr lang="en-US" sz="850" dirty="0">
                <a:solidFill>
                  <a:srgbClr val="1A2E4A"/>
                </a:solidFill>
                <a:latin typeface="Calibri" pitchFamily="34" charset="0"/>
                <a:ea typeface="Calibri" pitchFamily="34" charset="-122"/>
                <a:cs typeface="Calibri" pitchFamily="34" charset="-120"/>
              </a:rPr>
              <a:t>· ONG &amp; société civile</a:t>
            </a:r>
            <a:endParaRPr lang="en-US" sz="850" dirty="0"/>
          </a:p>
        </p:txBody>
      </p:sp>
      <p:sp>
        <p:nvSpPr>
          <p:cNvPr id="57" name="Text 55"/>
          <p:cNvSpPr/>
          <p:nvPr/>
        </p:nvSpPr>
        <p:spPr>
          <a:xfrm>
            <a:off x="7370064" y="2834640"/>
            <a:ext cx="1444752" cy="685800"/>
          </a:xfrm>
          <a:prstGeom prst="rect">
            <a:avLst/>
          </a:prstGeom>
          <a:noFill/>
          <a:ln/>
        </p:spPr>
        <p:txBody>
          <a:bodyPr wrap="square" lIns="0" tIns="0" rIns="0" bIns="0" rtlCol="0" anchor="t"/>
          <a:lstStyle/>
          <a:p>
            <a:pPr indent="0" marL="0">
              <a:lnSpc>
                <a:spcPct val="120000"/>
              </a:lnSpc>
              <a:buNone/>
            </a:pPr>
            <a:r>
              <a:rPr lang="en-US" sz="850" dirty="0">
                <a:solidFill>
                  <a:srgbClr val="1A2E4A"/>
                </a:solidFill>
                <a:latin typeface="Calibri" pitchFamily="34" charset="0"/>
                <a:ea typeface="Calibri" pitchFamily="34" charset="-122"/>
                <a:cs typeface="Calibri" pitchFamily="34" charset="-120"/>
              </a:rPr>
              <a:t>· Chercheurs &amp; institutions</a:t>
            </a:r>
            <a:endParaRPr lang="en-US" sz="850" dirty="0"/>
          </a:p>
        </p:txBody>
      </p:sp>
      <p:sp>
        <p:nvSpPr>
          <p:cNvPr id="58" name="Text 56"/>
          <p:cNvSpPr/>
          <p:nvPr/>
        </p:nvSpPr>
        <p:spPr>
          <a:xfrm>
            <a:off x="7370064" y="3520440"/>
            <a:ext cx="1444752" cy="685800"/>
          </a:xfrm>
          <a:prstGeom prst="rect">
            <a:avLst/>
          </a:prstGeom>
          <a:noFill/>
          <a:ln/>
        </p:spPr>
        <p:txBody>
          <a:bodyPr wrap="square" lIns="0" tIns="0" rIns="0" bIns="0" rtlCol="0" anchor="t"/>
          <a:lstStyle/>
          <a:p>
            <a:pPr indent="0" marL="0">
              <a:lnSpc>
                <a:spcPct val="120000"/>
              </a:lnSpc>
              <a:buNone/>
            </a:pPr>
            <a:r>
              <a:rPr lang="en-US" sz="850" dirty="0">
                <a:solidFill>
                  <a:srgbClr val="1A2E4A"/>
                </a:solidFill>
                <a:latin typeface="Calibri" pitchFamily="34" charset="0"/>
                <a:ea typeface="Calibri" pitchFamily="34" charset="-122"/>
                <a:cs typeface="Calibri" pitchFamily="34" charset="-120"/>
              </a:rPr>
              <a:t>· Décideurs publics (MAE)</a:t>
            </a:r>
            <a:endParaRPr lang="en-US" sz="850" dirty="0"/>
          </a:p>
        </p:txBody>
      </p:sp>
      <p:sp>
        <p:nvSpPr>
          <p:cNvPr id="59" name="Text 57"/>
          <p:cNvSpPr/>
          <p:nvPr/>
        </p:nvSpPr>
        <p:spPr>
          <a:xfrm>
            <a:off x="7370064" y="4206240"/>
            <a:ext cx="1444752" cy="685800"/>
          </a:xfrm>
          <a:prstGeom prst="rect">
            <a:avLst/>
          </a:prstGeom>
          <a:noFill/>
          <a:ln/>
        </p:spPr>
        <p:txBody>
          <a:bodyPr wrap="square" lIns="0" tIns="0" rIns="0" bIns="0" rtlCol="0" anchor="t"/>
          <a:lstStyle/>
          <a:p>
            <a:pPr indent="0" marL="0">
              <a:lnSpc>
                <a:spcPct val="120000"/>
              </a:lnSpc>
              <a:buNone/>
            </a:pPr>
            <a:r>
              <a:rPr lang="en-US" sz="850" dirty="0">
                <a:solidFill>
                  <a:srgbClr val="1A2E4A"/>
                </a:solidFill>
                <a:latin typeface="Calibri" pitchFamily="34" charset="0"/>
                <a:ea typeface="Calibri" pitchFamily="34" charset="-122"/>
                <a:cs typeface="Calibri" pitchFamily="34" charset="-120"/>
              </a:rPr>
              <a:t>· Responsables AFD</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8F0"/>
        </a:solidFill>
      </p:bgPr>
    </p:bg>
    <p:spTree>
      <p:nvGrpSpPr>
        <p:cNvPr id="1" name=""/>
        <p:cNvGrpSpPr/>
        <p:nvPr/>
      </p:nvGrpSpPr>
      <p:grpSpPr>
        <a:xfrm>
          <a:off x="0" y="0"/>
          <a:ext cx="0" cy="0"/>
          <a:chOff x="0" y="0"/>
          <a:chExt cx="0" cy="0"/>
        </a:xfrm>
      </p:grpSpPr>
      <p:sp>
        <p:nvSpPr>
          <p:cNvPr id="2" name="Shape 0"/>
          <p:cNvSpPr/>
          <p:nvPr/>
        </p:nvSpPr>
        <p:spPr>
          <a:xfrm>
            <a:off x="0" y="0"/>
            <a:ext cx="9144000" cy="960120"/>
          </a:xfrm>
          <a:prstGeom prst="rect">
            <a:avLst/>
          </a:prstGeom>
          <a:solidFill>
            <a:srgbClr val="134E8E"/>
          </a:solidFill>
          <a:ln w="12700">
            <a:solidFill>
              <a:srgbClr val="134E8E"/>
            </a:solidFill>
            <a:prstDash val="solid"/>
          </a:ln>
        </p:spPr>
      </p:sp>
      <p:sp>
        <p:nvSpPr>
          <p:cNvPr id="3" name="Shape 1"/>
          <p:cNvSpPr/>
          <p:nvPr/>
        </p:nvSpPr>
        <p:spPr>
          <a:xfrm>
            <a:off x="0" y="0"/>
            <a:ext cx="137160" cy="960120"/>
          </a:xfrm>
          <a:prstGeom prst="rect">
            <a:avLst/>
          </a:prstGeom>
          <a:solidFill>
            <a:srgbClr val="C00707"/>
          </a:solidFill>
          <a:ln w="12700">
            <a:solidFill>
              <a:srgbClr val="C00707"/>
            </a:solidFill>
            <a:prstDash val="solid"/>
          </a:ln>
        </p:spPr>
      </p:sp>
      <p:sp>
        <p:nvSpPr>
          <p:cNvPr id="4" name="Text 2"/>
          <p:cNvSpPr/>
          <p:nvPr/>
        </p:nvSpPr>
        <p:spPr>
          <a:xfrm>
            <a:off x="320040" y="0"/>
            <a:ext cx="7772400" cy="594360"/>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07 — Priorisation &amp; KPIs</a:t>
            </a:r>
            <a:endParaRPr lang="en-US" sz="2200" dirty="0"/>
          </a:p>
        </p:txBody>
      </p:sp>
      <p:sp>
        <p:nvSpPr>
          <p:cNvPr id="5" name="Text 3"/>
          <p:cNvSpPr/>
          <p:nvPr/>
        </p:nvSpPr>
        <p:spPr>
          <a:xfrm>
            <a:off x="320040" y="594360"/>
            <a:ext cx="8503920" cy="320040"/>
          </a:xfrm>
          <a:prstGeom prst="rect">
            <a:avLst/>
          </a:prstGeom>
          <a:noFill/>
          <a:ln/>
        </p:spPr>
        <p:txBody>
          <a:bodyPr wrap="square" lIns="0" tIns="0" rIns="0" bIns="0" rtlCol="0" anchor="ctr"/>
          <a:lstStyle/>
          <a:p>
            <a:pPr indent="0" marL="0">
              <a:buNone/>
            </a:pPr>
            <a:r>
              <a:rPr lang="en-US" sz="1050" i="1" dirty="0">
                <a:solidFill>
                  <a:srgbClr val="8AAFC8"/>
                </a:solidFill>
                <a:latin typeface="Calibri" pitchFamily="34" charset="0"/>
                <a:ea typeface="Calibri" pitchFamily="34" charset="-122"/>
                <a:cs typeface="Calibri" pitchFamily="34" charset="-120"/>
              </a:rPr>
              <a:t>6 fonctionnalités scorées · 5 indicateurs clés de performance</a:t>
            </a:r>
            <a:endParaRPr lang="en-US" sz="1050" dirty="0"/>
          </a:p>
        </p:txBody>
      </p:sp>
      <p:sp>
        <p:nvSpPr>
          <p:cNvPr id="6" name="Shape 4"/>
          <p:cNvSpPr/>
          <p:nvPr/>
        </p:nvSpPr>
        <p:spPr>
          <a:xfrm>
            <a:off x="0" y="4956048"/>
            <a:ext cx="9144000" cy="182880"/>
          </a:xfrm>
          <a:prstGeom prst="rect">
            <a:avLst/>
          </a:prstGeom>
          <a:solidFill>
            <a:srgbClr val="134E8E"/>
          </a:solidFill>
          <a:ln w="12700">
            <a:solidFill>
              <a:srgbClr val="134E8E"/>
            </a:solidFill>
            <a:prstDash val="solid"/>
          </a:ln>
        </p:spPr>
      </p:sp>
      <p:sp>
        <p:nvSpPr>
          <p:cNvPr id="7" name="Text 5"/>
          <p:cNvSpPr/>
          <p:nvPr/>
        </p:nvSpPr>
        <p:spPr>
          <a:xfrm>
            <a:off x="182880" y="4919472"/>
            <a:ext cx="8778240" cy="219456"/>
          </a:xfrm>
          <a:prstGeom prst="rect">
            <a:avLst/>
          </a:prstGeom>
          <a:noFill/>
          <a:ln/>
        </p:spPr>
        <p:txBody>
          <a:bodyPr wrap="square" lIns="0" tIns="0" rIns="0" bIns="0" rtlCol="0" anchor="ctr"/>
          <a:lstStyle/>
          <a:p>
            <a:pPr algn="r" indent="0" marL="0">
              <a:buNone/>
            </a:pPr>
            <a:r>
              <a:rPr lang="en-US" sz="850" dirty="0">
                <a:solidFill>
                  <a:srgbClr val="FFFFFF"/>
                </a:solidFill>
                <a:latin typeface="Calibri" pitchFamily="34" charset="0"/>
                <a:ea typeface="Calibri" pitchFamily="34" charset="-122"/>
                <a:cs typeface="Calibri" pitchFamily="34" charset="-120"/>
              </a:rPr>
              <a:t>Application Data APD  ·  AFD  ·  DPM Project 2025</a:t>
            </a:r>
            <a:endParaRPr lang="en-US" sz="850" dirty="0"/>
          </a:p>
        </p:txBody>
      </p:sp>
      <p:sp>
        <p:nvSpPr>
          <p:cNvPr id="8" name="Shape 6"/>
          <p:cNvSpPr/>
          <p:nvPr/>
        </p:nvSpPr>
        <p:spPr>
          <a:xfrm>
            <a:off x="256032" y="1115568"/>
            <a:ext cx="2971800" cy="502920"/>
          </a:xfrm>
          <a:prstGeom prst="rect">
            <a:avLst/>
          </a:prstGeom>
          <a:solidFill>
            <a:srgbClr val="134E8E"/>
          </a:solidFill>
          <a:ln w="12700">
            <a:solidFill>
              <a:srgbClr val="134E8E"/>
            </a:solidFill>
            <a:prstDash val="solid"/>
          </a:ln>
        </p:spPr>
      </p:sp>
      <p:sp>
        <p:nvSpPr>
          <p:cNvPr id="9" name="Text 7"/>
          <p:cNvSpPr/>
          <p:nvPr/>
        </p:nvSpPr>
        <p:spPr>
          <a:xfrm>
            <a:off x="301752" y="1115568"/>
            <a:ext cx="2880360" cy="502920"/>
          </a:xfrm>
          <a:prstGeom prst="rect">
            <a:avLst/>
          </a:prstGeom>
          <a:noFill/>
          <a:ln/>
        </p:spPr>
        <p:txBody>
          <a:bodyPr wrap="square" lIns="0" tIns="0" rIns="0" bIns="0" rtlCol="0" anchor="ctr"/>
          <a:lstStyle/>
          <a:p>
            <a:pPr algn="l" indent="0" marL="0">
              <a:buNone/>
            </a:pPr>
            <a:r>
              <a:rPr lang="en-US" sz="1000" b="1" dirty="0">
                <a:solidFill>
                  <a:srgbClr val="FFFFFF"/>
                </a:solidFill>
                <a:latin typeface="Calibri" pitchFamily="34" charset="0"/>
                <a:ea typeface="Calibri" pitchFamily="34" charset="-122"/>
                <a:cs typeface="Calibri" pitchFamily="34" charset="-120"/>
              </a:rPr>
              <a:t>Fonctionnalité</a:t>
            </a:r>
            <a:endParaRPr lang="en-US" sz="1000" dirty="0"/>
          </a:p>
        </p:txBody>
      </p:sp>
      <p:sp>
        <p:nvSpPr>
          <p:cNvPr id="10" name="Shape 8"/>
          <p:cNvSpPr/>
          <p:nvPr/>
        </p:nvSpPr>
        <p:spPr>
          <a:xfrm>
            <a:off x="3227832" y="1115568"/>
            <a:ext cx="868680" cy="502920"/>
          </a:xfrm>
          <a:prstGeom prst="rect">
            <a:avLst/>
          </a:prstGeom>
          <a:solidFill>
            <a:srgbClr val="134E8E"/>
          </a:solidFill>
          <a:ln w="12700">
            <a:solidFill>
              <a:srgbClr val="134E8E"/>
            </a:solidFill>
            <a:prstDash val="solid"/>
          </a:ln>
        </p:spPr>
      </p:sp>
      <p:sp>
        <p:nvSpPr>
          <p:cNvPr id="11" name="Text 9"/>
          <p:cNvSpPr/>
          <p:nvPr/>
        </p:nvSpPr>
        <p:spPr>
          <a:xfrm>
            <a:off x="3273552" y="1115568"/>
            <a:ext cx="777240" cy="502920"/>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Satisfaction</a:t>
            </a:r>
            <a:endParaRPr lang="en-US" sz="850" dirty="0"/>
          </a:p>
        </p:txBody>
      </p:sp>
      <p:sp>
        <p:nvSpPr>
          <p:cNvPr id="12" name="Shape 10"/>
          <p:cNvSpPr/>
          <p:nvPr/>
        </p:nvSpPr>
        <p:spPr>
          <a:xfrm>
            <a:off x="4096512" y="1115568"/>
            <a:ext cx="868680" cy="502920"/>
          </a:xfrm>
          <a:prstGeom prst="rect">
            <a:avLst/>
          </a:prstGeom>
          <a:solidFill>
            <a:srgbClr val="134E8E"/>
          </a:solidFill>
          <a:ln w="12700">
            <a:solidFill>
              <a:srgbClr val="134E8E"/>
            </a:solidFill>
            <a:prstDash val="solid"/>
          </a:ln>
        </p:spPr>
      </p:sp>
      <p:sp>
        <p:nvSpPr>
          <p:cNvPr id="13" name="Text 11"/>
          <p:cNvSpPr/>
          <p:nvPr/>
        </p:nvSpPr>
        <p:spPr>
          <a:xfrm>
            <a:off x="4142232" y="1115568"/>
            <a:ext cx="777240" cy="502920"/>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Nouveau</a:t>
            </a:r>
            <a:endParaRPr lang="en-US" sz="850" dirty="0"/>
          </a:p>
          <a:p>
            <a:pPr algn="ctr" indent="0" marL="0">
              <a:buNone/>
            </a:pPr>
            <a:r>
              <a:rPr lang="en-US" sz="850" b="1" dirty="0">
                <a:solidFill>
                  <a:srgbClr val="FFFFFF"/>
                </a:solidFill>
                <a:latin typeface="Calibri" pitchFamily="34" charset="0"/>
                <a:ea typeface="Calibri" pitchFamily="34" charset="-122"/>
                <a:cs typeface="Calibri" pitchFamily="34" charset="-120"/>
              </a:rPr>
              <a:t>business</a:t>
            </a:r>
            <a:endParaRPr lang="en-US" sz="850" dirty="0"/>
          </a:p>
        </p:txBody>
      </p:sp>
      <p:sp>
        <p:nvSpPr>
          <p:cNvPr id="14" name="Shape 12"/>
          <p:cNvSpPr/>
          <p:nvPr/>
        </p:nvSpPr>
        <p:spPr>
          <a:xfrm>
            <a:off x="4965192" y="1115568"/>
            <a:ext cx="868680" cy="502920"/>
          </a:xfrm>
          <a:prstGeom prst="rect">
            <a:avLst/>
          </a:prstGeom>
          <a:solidFill>
            <a:srgbClr val="134E8E"/>
          </a:solidFill>
          <a:ln w="12700">
            <a:solidFill>
              <a:srgbClr val="134E8E"/>
            </a:solidFill>
            <a:prstDash val="solid"/>
          </a:ln>
        </p:spPr>
      </p:sp>
      <p:sp>
        <p:nvSpPr>
          <p:cNvPr id="15" name="Text 13"/>
          <p:cNvSpPr/>
          <p:nvPr/>
        </p:nvSpPr>
        <p:spPr>
          <a:xfrm>
            <a:off x="5010912" y="1115568"/>
            <a:ext cx="777240" cy="502920"/>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Efficience</a:t>
            </a:r>
            <a:endParaRPr lang="en-US" sz="850" dirty="0"/>
          </a:p>
          <a:p>
            <a:pPr algn="ctr" indent="0" marL="0">
              <a:buNone/>
            </a:pPr>
            <a:r>
              <a:rPr lang="en-US" sz="850" b="1" dirty="0">
                <a:solidFill>
                  <a:srgbClr val="FFFFFF"/>
                </a:solidFill>
                <a:latin typeface="Calibri" pitchFamily="34" charset="0"/>
                <a:ea typeface="Calibri" pitchFamily="34" charset="-122"/>
                <a:cs typeface="Calibri" pitchFamily="34" charset="-120"/>
              </a:rPr>
              <a:t>interne</a:t>
            </a:r>
            <a:endParaRPr lang="en-US" sz="850" dirty="0"/>
          </a:p>
        </p:txBody>
      </p:sp>
      <p:sp>
        <p:nvSpPr>
          <p:cNvPr id="16" name="Shape 14"/>
          <p:cNvSpPr/>
          <p:nvPr/>
        </p:nvSpPr>
        <p:spPr>
          <a:xfrm>
            <a:off x="5833872" y="1115568"/>
            <a:ext cx="868680" cy="502920"/>
          </a:xfrm>
          <a:prstGeom prst="rect">
            <a:avLst/>
          </a:prstGeom>
          <a:solidFill>
            <a:srgbClr val="134E8E"/>
          </a:solidFill>
          <a:ln w="12700">
            <a:solidFill>
              <a:srgbClr val="134E8E"/>
            </a:solidFill>
            <a:prstDash val="solid"/>
          </a:ln>
        </p:spPr>
      </p:sp>
      <p:sp>
        <p:nvSpPr>
          <p:cNvPr id="17" name="Text 15"/>
          <p:cNvSpPr/>
          <p:nvPr/>
        </p:nvSpPr>
        <p:spPr>
          <a:xfrm>
            <a:off x="5879592" y="1115568"/>
            <a:ext cx="777240" cy="502920"/>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Croissance</a:t>
            </a:r>
            <a:endParaRPr lang="en-US" sz="850" dirty="0"/>
          </a:p>
          <a:p>
            <a:pPr algn="ctr" indent="0" marL="0">
              <a:buNone/>
            </a:pPr>
            <a:r>
              <a:rPr lang="en-US" sz="850" b="1" dirty="0">
                <a:solidFill>
                  <a:srgbClr val="FFFFFF"/>
                </a:solidFill>
                <a:latin typeface="Calibri" pitchFamily="34" charset="0"/>
                <a:ea typeface="Calibri" pitchFamily="34" charset="-122"/>
                <a:cs typeface="Calibri" pitchFamily="34" charset="-120"/>
              </a:rPr>
              <a:t>revenu</a:t>
            </a:r>
            <a:endParaRPr lang="en-US" sz="850" dirty="0"/>
          </a:p>
        </p:txBody>
      </p:sp>
      <p:sp>
        <p:nvSpPr>
          <p:cNvPr id="18" name="Shape 16"/>
          <p:cNvSpPr/>
          <p:nvPr/>
        </p:nvSpPr>
        <p:spPr>
          <a:xfrm>
            <a:off x="6702552" y="1115568"/>
            <a:ext cx="658368" cy="502920"/>
          </a:xfrm>
          <a:prstGeom prst="rect">
            <a:avLst/>
          </a:prstGeom>
          <a:solidFill>
            <a:srgbClr val="134E8E"/>
          </a:solidFill>
          <a:ln w="12700">
            <a:solidFill>
              <a:srgbClr val="134E8E"/>
            </a:solidFill>
            <a:prstDash val="solid"/>
          </a:ln>
        </p:spPr>
      </p:sp>
      <p:sp>
        <p:nvSpPr>
          <p:cNvPr id="19" name="Text 17"/>
          <p:cNvSpPr/>
          <p:nvPr/>
        </p:nvSpPr>
        <p:spPr>
          <a:xfrm>
            <a:off x="6748272" y="1115568"/>
            <a:ext cx="566928" cy="502920"/>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Score</a:t>
            </a:r>
            <a:endParaRPr lang="en-US" sz="850" dirty="0"/>
          </a:p>
        </p:txBody>
      </p:sp>
      <p:sp>
        <p:nvSpPr>
          <p:cNvPr id="20" name="Shape 18"/>
          <p:cNvSpPr/>
          <p:nvPr/>
        </p:nvSpPr>
        <p:spPr>
          <a:xfrm>
            <a:off x="256032" y="1618488"/>
            <a:ext cx="2971800" cy="466344"/>
          </a:xfrm>
          <a:prstGeom prst="rect">
            <a:avLst/>
          </a:prstGeom>
          <a:solidFill>
            <a:srgbClr val="F7F8F0"/>
          </a:solidFill>
          <a:ln w="12700">
            <a:solidFill>
              <a:srgbClr val="DDE6F0"/>
            </a:solidFill>
            <a:prstDash val="solid"/>
          </a:ln>
        </p:spPr>
      </p:sp>
      <p:sp>
        <p:nvSpPr>
          <p:cNvPr id="21" name="Text 19"/>
          <p:cNvSpPr/>
          <p:nvPr/>
        </p:nvSpPr>
        <p:spPr>
          <a:xfrm>
            <a:off x="301752" y="1645920"/>
            <a:ext cx="2880360" cy="411480"/>
          </a:xfrm>
          <a:prstGeom prst="rect">
            <a:avLst/>
          </a:prstGeom>
          <a:noFill/>
          <a:ln/>
        </p:spPr>
        <p:txBody>
          <a:bodyPr wrap="square" lIns="0" tIns="0" rIns="0" bIns="0" rtlCol="0" anchor="ctr"/>
          <a:lstStyle/>
          <a:p>
            <a:pPr algn="l" indent="0" marL="0">
              <a:buNone/>
            </a:pPr>
            <a:r>
              <a:rPr lang="en-US" sz="900" b="1" dirty="0">
                <a:solidFill>
                  <a:srgbClr val="1A2E4A"/>
                </a:solidFill>
                <a:latin typeface="Calibri" pitchFamily="34" charset="0"/>
                <a:ea typeface="Calibri" pitchFamily="34" charset="-122"/>
                <a:cs typeface="Calibri" pitchFamily="34" charset="-120"/>
              </a:rPr>
              <a:t>Segmentation ODD / Climat / Géographie</a:t>
            </a:r>
            <a:endParaRPr lang="en-US" sz="900" dirty="0"/>
          </a:p>
        </p:txBody>
      </p:sp>
      <p:sp>
        <p:nvSpPr>
          <p:cNvPr id="22" name="Shape 20"/>
          <p:cNvSpPr/>
          <p:nvPr/>
        </p:nvSpPr>
        <p:spPr>
          <a:xfrm>
            <a:off x="3227832" y="1618488"/>
            <a:ext cx="868680" cy="466344"/>
          </a:xfrm>
          <a:prstGeom prst="rect">
            <a:avLst/>
          </a:prstGeom>
          <a:solidFill>
            <a:srgbClr val="F7F8F0"/>
          </a:solidFill>
          <a:ln w="12700">
            <a:solidFill>
              <a:srgbClr val="DDE6F0"/>
            </a:solidFill>
            <a:prstDash val="solid"/>
          </a:ln>
        </p:spPr>
      </p:sp>
      <p:sp>
        <p:nvSpPr>
          <p:cNvPr id="23" name="Text 21"/>
          <p:cNvSpPr/>
          <p:nvPr/>
        </p:nvSpPr>
        <p:spPr>
          <a:xfrm>
            <a:off x="3273552" y="1645920"/>
            <a:ext cx="777240" cy="411480"/>
          </a:xfrm>
          <a:prstGeom prst="rect">
            <a:avLst/>
          </a:prstGeom>
          <a:noFill/>
          <a:ln/>
        </p:spPr>
        <p:txBody>
          <a:bodyPr wrap="square" lIns="0" tIns="0" rIns="0" bIns="0" rtlCol="0" anchor="ctr"/>
          <a:lstStyle/>
          <a:p>
            <a:pPr algn="ctr" indent="0" marL="0">
              <a:buNone/>
            </a:pPr>
            <a:r>
              <a:rPr lang="en-US" sz="1100" dirty="0">
                <a:solidFill>
                  <a:srgbClr val="134E8E"/>
                </a:solidFill>
                <a:latin typeface="Calibri" pitchFamily="34" charset="0"/>
                <a:ea typeface="Calibri" pitchFamily="34" charset="-122"/>
                <a:cs typeface="Calibri" pitchFamily="34" charset="-120"/>
              </a:rPr>
              <a:t>3</a:t>
            </a:r>
            <a:endParaRPr lang="en-US" sz="1100" dirty="0"/>
          </a:p>
        </p:txBody>
      </p:sp>
      <p:sp>
        <p:nvSpPr>
          <p:cNvPr id="24" name="Shape 22"/>
          <p:cNvSpPr/>
          <p:nvPr/>
        </p:nvSpPr>
        <p:spPr>
          <a:xfrm>
            <a:off x="4096512" y="1618488"/>
            <a:ext cx="868680" cy="466344"/>
          </a:xfrm>
          <a:prstGeom prst="rect">
            <a:avLst/>
          </a:prstGeom>
          <a:solidFill>
            <a:srgbClr val="F7F8F0"/>
          </a:solidFill>
          <a:ln w="12700">
            <a:solidFill>
              <a:srgbClr val="DDE6F0"/>
            </a:solidFill>
            <a:prstDash val="solid"/>
          </a:ln>
        </p:spPr>
      </p:sp>
      <p:sp>
        <p:nvSpPr>
          <p:cNvPr id="25" name="Text 23"/>
          <p:cNvSpPr/>
          <p:nvPr/>
        </p:nvSpPr>
        <p:spPr>
          <a:xfrm>
            <a:off x="4142232" y="1645920"/>
            <a:ext cx="777240" cy="411480"/>
          </a:xfrm>
          <a:prstGeom prst="rect">
            <a:avLst/>
          </a:prstGeom>
          <a:noFill/>
          <a:ln/>
        </p:spPr>
        <p:txBody>
          <a:bodyPr wrap="square" lIns="0" tIns="0" rIns="0" bIns="0" rtlCol="0" anchor="ctr"/>
          <a:lstStyle/>
          <a:p>
            <a:pPr algn="ctr" indent="0" marL="0">
              <a:buNone/>
            </a:pPr>
            <a:r>
              <a:rPr lang="en-US" sz="1100" dirty="0">
                <a:solidFill>
                  <a:srgbClr val="134E8E"/>
                </a:solidFill>
                <a:latin typeface="Calibri" pitchFamily="34" charset="0"/>
                <a:ea typeface="Calibri" pitchFamily="34" charset="-122"/>
                <a:cs typeface="Calibri" pitchFamily="34" charset="-120"/>
              </a:rPr>
              <a:t>3</a:t>
            </a:r>
            <a:endParaRPr lang="en-US" sz="1100" dirty="0"/>
          </a:p>
        </p:txBody>
      </p:sp>
      <p:sp>
        <p:nvSpPr>
          <p:cNvPr id="26" name="Shape 24"/>
          <p:cNvSpPr/>
          <p:nvPr/>
        </p:nvSpPr>
        <p:spPr>
          <a:xfrm>
            <a:off x="4965192" y="1618488"/>
            <a:ext cx="868680" cy="466344"/>
          </a:xfrm>
          <a:prstGeom prst="rect">
            <a:avLst/>
          </a:prstGeom>
          <a:solidFill>
            <a:srgbClr val="F7F8F0"/>
          </a:solidFill>
          <a:ln w="12700">
            <a:solidFill>
              <a:srgbClr val="DDE6F0"/>
            </a:solidFill>
            <a:prstDash val="solid"/>
          </a:ln>
        </p:spPr>
      </p:sp>
      <p:sp>
        <p:nvSpPr>
          <p:cNvPr id="27" name="Text 25"/>
          <p:cNvSpPr/>
          <p:nvPr/>
        </p:nvSpPr>
        <p:spPr>
          <a:xfrm>
            <a:off x="5010912" y="1645920"/>
            <a:ext cx="777240" cy="411480"/>
          </a:xfrm>
          <a:prstGeom prst="rect">
            <a:avLst/>
          </a:prstGeom>
          <a:noFill/>
          <a:ln/>
        </p:spPr>
        <p:txBody>
          <a:bodyPr wrap="square" lIns="0" tIns="0" rIns="0" bIns="0" rtlCol="0" anchor="ctr"/>
          <a:lstStyle/>
          <a:p>
            <a:pPr algn="ctr" indent="0" marL="0">
              <a:buNone/>
            </a:pPr>
            <a:r>
              <a:rPr lang="en-US" sz="1100" dirty="0">
                <a:solidFill>
                  <a:srgbClr val="134E8E"/>
                </a:solidFill>
                <a:latin typeface="Calibri" pitchFamily="34" charset="0"/>
                <a:ea typeface="Calibri" pitchFamily="34" charset="-122"/>
                <a:cs typeface="Calibri" pitchFamily="34" charset="-120"/>
              </a:rPr>
              <a:t>2</a:t>
            </a:r>
            <a:endParaRPr lang="en-US" sz="1100" dirty="0"/>
          </a:p>
        </p:txBody>
      </p:sp>
      <p:sp>
        <p:nvSpPr>
          <p:cNvPr id="28" name="Shape 26"/>
          <p:cNvSpPr/>
          <p:nvPr/>
        </p:nvSpPr>
        <p:spPr>
          <a:xfrm>
            <a:off x="5833872" y="1618488"/>
            <a:ext cx="868680" cy="466344"/>
          </a:xfrm>
          <a:prstGeom prst="rect">
            <a:avLst/>
          </a:prstGeom>
          <a:solidFill>
            <a:srgbClr val="F7F8F0"/>
          </a:solidFill>
          <a:ln w="12700">
            <a:solidFill>
              <a:srgbClr val="DDE6F0"/>
            </a:solidFill>
            <a:prstDash val="solid"/>
          </a:ln>
        </p:spPr>
      </p:sp>
      <p:sp>
        <p:nvSpPr>
          <p:cNvPr id="29" name="Text 27"/>
          <p:cNvSpPr/>
          <p:nvPr/>
        </p:nvSpPr>
        <p:spPr>
          <a:xfrm>
            <a:off x="5879592" y="1645920"/>
            <a:ext cx="777240" cy="411480"/>
          </a:xfrm>
          <a:prstGeom prst="rect">
            <a:avLst/>
          </a:prstGeom>
          <a:noFill/>
          <a:ln/>
        </p:spPr>
        <p:txBody>
          <a:bodyPr wrap="square" lIns="0" tIns="0" rIns="0" bIns="0" rtlCol="0" anchor="ctr"/>
          <a:lstStyle/>
          <a:p>
            <a:pPr algn="ctr" indent="0" marL="0">
              <a:buNone/>
            </a:pPr>
            <a:r>
              <a:rPr lang="en-US" sz="1100" dirty="0">
                <a:solidFill>
                  <a:srgbClr val="134E8E"/>
                </a:solidFill>
                <a:latin typeface="Calibri" pitchFamily="34" charset="0"/>
                <a:ea typeface="Calibri" pitchFamily="34" charset="-122"/>
                <a:cs typeface="Calibri" pitchFamily="34" charset="-120"/>
              </a:rPr>
              <a:t>3</a:t>
            </a:r>
            <a:endParaRPr lang="en-US" sz="1100" dirty="0"/>
          </a:p>
        </p:txBody>
      </p:sp>
      <p:sp>
        <p:nvSpPr>
          <p:cNvPr id="30" name="Shape 28"/>
          <p:cNvSpPr/>
          <p:nvPr/>
        </p:nvSpPr>
        <p:spPr>
          <a:xfrm>
            <a:off x="6702552" y="1618488"/>
            <a:ext cx="658368" cy="466344"/>
          </a:xfrm>
          <a:prstGeom prst="rect">
            <a:avLst/>
          </a:prstGeom>
          <a:solidFill>
            <a:srgbClr val="F7F8F0"/>
          </a:solidFill>
          <a:ln w="12700">
            <a:solidFill>
              <a:srgbClr val="DDE6F0"/>
            </a:solidFill>
            <a:prstDash val="solid"/>
          </a:ln>
        </p:spPr>
      </p:sp>
      <p:sp>
        <p:nvSpPr>
          <p:cNvPr id="31" name="Text 29"/>
          <p:cNvSpPr/>
          <p:nvPr/>
        </p:nvSpPr>
        <p:spPr>
          <a:xfrm>
            <a:off x="6748272" y="1645920"/>
            <a:ext cx="566928" cy="411480"/>
          </a:xfrm>
          <a:prstGeom prst="rect">
            <a:avLst/>
          </a:prstGeom>
          <a:noFill/>
          <a:ln/>
        </p:spPr>
        <p:txBody>
          <a:bodyPr wrap="square" lIns="0" tIns="0" rIns="0" bIns="0" rtlCol="0" anchor="ctr"/>
          <a:lstStyle/>
          <a:p>
            <a:pPr algn="ctr" indent="0" marL="0">
              <a:buNone/>
            </a:pPr>
            <a:r>
              <a:rPr lang="en-US" sz="1300" b="1" dirty="0">
                <a:solidFill>
                  <a:srgbClr val="C00707"/>
                </a:solidFill>
                <a:latin typeface="Calibri" pitchFamily="34" charset="0"/>
                <a:ea typeface="Calibri" pitchFamily="34" charset="-122"/>
                <a:cs typeface="Calibri" pitchFamily="34" charset="-120"/>
              </a:rPr>
              <a:t>11</a:t>
            </a:r>
            <a:endParaRPr lang="en-US" sz="1300" dirty="0"/>
          </a:p>
        </p:txBody>
      </p:sp>
      <p:sp>
        <p:nvSpPr>
          <p:cNvPr id="32" name="Shape 30"/>
          <p:cNvSpPr/>
          <p:nvPr/>
        </p:nvSpPr>
        <p:spPr>
          <a:xfrm>
            <a:off x="256032" y="2084832"/>
            <a:ext cx="2971800" cy="466344"/>
          </a:xfrm>
          <a:prstGeom prst="rect">
            <a:avLst/>
          </a:prstGeom>
          <a:solidFill>
            <a:srgbClr val="FFFFFF"/>
          </a:solidFill>
          <a:ln w="12700">
            <a:solidFill>
              <a:srgbClr val="DDE6F0"/>
            </a:solidFill>
            <a:prstDash val="solid"/>
          </a:ln>
        </p:spPr>
      </p:sp>
      <p:sp>
        <p:nvSpPr>
          <p:cNvPr id="33" name="Text 31"/>
          <p:cNvSpPr/>
          <p:nvPr/>
        </p:nvSpPr>
        <p:spPr>
          <a:xfrm>
            <a:off x="301752" y="2112264"/>
            <a:ext cx="2880360" cy="411480"/>
          </a:xfrm>
          <a:prstGeom prst="rect">
            <a:avLst/>
          </a:prstGeom>
          <a:noFill/>
          <a:ln/>
        </p:spPr>
        <p:txBody>
          <a:bodyPr wrap="square" lIns="0" tIns="0" rIns="0" bIns="0" rtlCol="0" anchor="ctr"/>
          <a:lstStyle/>
          <a:p>
            <a:pPr algn="l" indent="0" marL="0">
              <a:buNone/>
            </a:pPr>
            <a:r>
              <a:rPr lang="en-US" sz="900" b="1" dirty="0">
                <a:solidFill>
                  <a:srgbClr val="1A2E4A"/>
                </a:solidFill>
                <a:latin typeface="Calibri" pitchFamily="34" charset="0"/>
                <a:ea typeface="Calibri" pitchFamily="34" charset="-122"/>
                <a:cs typeface="Calibri" pitchFamily="34" charset="-120"/>
              </a:rPr>
              <a:t>Modèles prédictifs (simulations budgétaires)</a:t>
            </a:r>
            <a:endParaRPr lang="en-US" sz="900" dirty="0"/>
          </a:p>
        </p:txBody>
      </p:sp>
      <p:sp>
        <p:nvSpPr>
          <p:cNvPr id="34" name="Shape 32"/>
          <p:cNvSpPr/>
          <p:nvPr/>
        </p:nvSpPr>
        <p:spPr>
          <a:xfrm>
            <a:off x="3227832" y="2084832"/>
            <a:ext cx="868680" cy="466344"/>
          </a:xfrm>
          <a:prstGeom prst="rect">
            <a:avLst/>
          </a:prstGeom>
          <a:solidFill>
            <a:srgbClr val="FFFFFF"/>
          </a:solidFill>
          <a:ln w="12700">
            <a:solidFill>
              <a:srgbClr val="DDE6F0"/>
            </a:solidFill>
            <a:prstDash val="solid"/>
          </a:ln>
        </p:spPr>
      </p:sp>
      <p:sp>
        <p:nvSpPr>
          <p:cNvPr id="35" name="Text 33"/>
          <p:cNvSpPr/>
          <p:nvPr/>
        </p:nvSpPr>
        <p:spPr>
          <a:xfrm>
            <a:off x="3273552" y="2112264"/>
            <a:ext cx="777240" cy="411480"/>
          </a:xfrm>
          <a:prstGeom prst="rect">
            <a:avLst/>
          </a:prstGeom>
          <a:noFill/>
          <a:ln/>
        </p:spPr>
        <p:txBody>
          <a:bodyPr wrap="square" lIns="0" tIns="0" rIns="0" bIns="0" rtlCol="0" anchor="ctr"/>
          <a:lstStyle/>
          <a:p>
            <a:pPr algn="ctr" indent="0" marL="0">
              <a:buNone/>
            </a:pPr>
            <a:r>
              <a:rPr lang="en-US" sz="1100" dirty="0">
                <a:solidFill>
                  <a:srgbClr val="134E8E"/>
                </a:solidFill>
                <a:latin typeface="Calibri" pitchFamily="34" charset="0"/>
                <a:ea typeface="Calibri" pitchFamily="34" charset="-122"/>
                <a:cs typeface="Calibri" pitchFamily="34" charset="-120"/>
              </a:rPr>
              <a:t>3</a:t>
            </a:r>
            <a:endParaRPr lang="en-US" sz="1100" dirty="0"/>
          </a:p>
        </p:txBody>
      </p:sp>
      <p:sp>
        <p:nvSpPr>
          <p:cNvPr id="36" name="Shape 34"/>
          <p:cNvSpPr/>
          <p:nvPr/>
        </p:nvSpPr>
        <p:spPr>
          <a:xfrm>
            <a:off x="4096512" y="2084832"/>
            <a:ext cx="868680" cy="466344"/>
          </a:xfrm>
          <a:prstGeom prst="rect">
            <a:avLst/>
          </a:prstGeom>
          <a:solidFill>
            <a:srgbClr val="FFFFFF"/>
          </a:solidFill>
          <a:ln w="12700">
            <a:solidFill>
              <a:srgbClr val="DDE6F0"/>
            </a:solidFill>
            <a:prstDash val="solid"/>
          </a:ln>
        </p:spPr>
      </p:sp>
      <p:sp>
        <p:nvSpPr>
          <p:cNvPr id="37" name="Text 35"/>
          <p:cNvSpPr/>
          <p:nvPr/>
        </p:nvSpPr>
        <p:spPr>
          <a:xfrm>
            <a:off x="4142232" y="2112264"/>
            <a:ext cx="777240" cy="411480"/>
          </a:xfrm>
          <a:prstGeom prst="rect">
            <a:avLst/>
          </a:prstGeom>
          <a:noFill/>
          <a:ln/>
        </p:spPr>
        <p:txBody>
          <a:bodyPr wrap="square" lIns="0" tIns="0" rIns="0" bIns="0" rtlCol="0" anchor="ctr"/>
          <a:lstStyle/>
          <a:p>
            <a:pPr algn="ctr" indent="0" marL="0">
              <a:buNone/>
            </a:pPr>
            <a:r>
              <a:rPr lang="en-US" sz="1100" dirty="0">
                <a:solidFill>
                  <a:srgbClr val="134E8E"/>
                </a:solidFill>
                <a:latin typeface="Calibri" pitchFamily="34" charset="0"/>
                <a:ea typeface="Calibri" pitchFamily="34" charset="-122"/>
                <a:cs typeface="Calibri" pitchFamily="34" charset="-120"/>
              </a:rPr>
              <a:t>3</a:t>
            </a:r>
            <a:endParaRPr lang="en-US" sz="1100" dirty="0"/>
          </a:p>
        </p:txBody>
      </p:sp>
      <p:sp>
        <p:nvSpPr>
          <p:cNvPr id="38" name="Shape 36"/>
          <p:cNvSpPr/>
          <p:nvPr/>
        </p:nvSpPr>
        <p:spPr>
          <a:xfrm>
            <a:off x="4965192" y="2084832"/>
            <a:ext cx="868680" cy="466344"/>
          </a:xfrm>
          <a:prstGeom prst="rect">
            <a:avLst/>
          </a:prstGeom>
          <a:solidFill>
            <a:srgbClr val="FFFFFF"/>
          </a:solidFill>
          <a:ln w="12700">
            <a:solidFill>
              <a:srgbClr val="DDE6F0"/>
            </a:solidFill>
            <a:prstDash val="solid"/>
          </a:ln>
        </p:spPr>
      </p:sp>
      <p:sp>
        <p:nvSpPr>
          <p:cNvPr id="39" name="Text 37"/>
          <p:cNvSpPr/>
          <p:nvPr/>
        </p:nvSpPr>
        <p:spPr>
          <a:xfrm>
            <a:off x="5010912" y="2112264"/>
            <a:ext cx="777240" cy="411480"/>
          </a:xfrm>
          <a:prstGeom prst="rect">
            <a:avLst/>
          </a:prstGeom>
          <a:noFill/>
          <a:ln/>
        </p:spPr>
        <p:txBody>
          <a:bodyPr wrap="square" lIns="0" tIns="0" rIns="0" bIns="0" rtlCol="0" anchor="ctr"/>
          <a:lstStyle/>
          <a:p>
            <a:pPr algn="ctr" indent="0" marL="0">
              <a:buNone/>
            </a:pPr>
            <a:r>
              <a:rPr lang="en-US" sz="1100" dirty="0">
                <a:solidFill>
                  <a:srgbClr val="134E8E"/>
                </a:solidFill>
                <a:latin typeface="Calibri" pitchFamily="34" charset="0"/>
                <a:ea typeface="Calibri" pitchFamily="34" charset="-122"/>
                <a:cs typeface="Calibri" pitchFamily="34" charset="-120"/>
              </a:rPr>
              <a:t>3</a:t>
            </a:r>
            <a:endParaRPr lang="en-US" sz="1100" dirty="0"/>
          </a:p>
        </p:txBody>
      </p:sp>
      <p:sp>
        <p:nvSpPr>
          <p:cNvPr id="40" name="Shape 38"/>
          <p:cNvSpPr/>
          <p:nvPr/>
        </p:nvSpPr>
        <p:spPr>
          <a:xfrm>
            <a:off x="5833872" y="2084832"/>
            <a:ext cx="868680" cy="466344"/>
          </a:xfrm>
          <a:prstGeom prst="rect">
            <a:avLst/>
          </a:prstGeom>
          <a:solidFill>
            <a:srgbClr val="FFFFFF"/>
          </a:solidFill>
          <a:ln w="12700">
            <a:solidFill>
              <a:srgbClr val="DDE6F0"/>
            </a:solidFill>
            <a:prstDash val="solid"/>
          </a:ln>
        </p:spPr>
      </p:sp>
      <p:sp>
        <p:nvSpPr>
          <p:cNvPr id="41" name="Text 39"/>
          <p:cNvSpPr/>
          <p:nvPr/>
        </p:nvSpPr>
        <p:spPr>
          <a:xfrm>
            <a:off x="5879592" y="2112264"/>
            <a:ext cx="777240" cy="411480"/>
          </a:xfrm>
          <a:prstGeom prst="rect">
            <a:avLst/>
          </a:prstGeom>
          <a:noFill/>
          <a:ln/>
        </p:spPr>
        <p:txBody>
          <a:bodyPr wrap="square" lIns="0" tIns="0" rIns="0" bIns="0" rtlCol="0" anchor="ctr"/>
          <a:lstStyle/>
          <a:p>
            <a:pPr algn="ctr" indent="0" marL="0">
              <a:buNone/>
            </a:pPr>
            <a:r>
              <a:rPr lang="en-US" sz="1100" dirty="0">
                <a:solidFill>
                  <a:srgbClr val="134E8E"/>
                </a:solidFill>
                <a:latin typeface="Calibri" pitchFamily="34" charset="0"/>
                <a:ea typeface="Calibri" pitchFamily="34" charset="-122"/>
                <a:cs typeface="Calibri" pitchFamily="34" charset="-120"/>
              </a:rPr>
              <a:t>2</a:t>
            </a:r>
            <a:endParaRPr lang="en-US" sz="1100" dirty="0"/>
          </a:p>
        </p:txBody>
      </p:sp>
      <p:sp>
        <p:nvSpPr>
          <p:cNvPr id="42" name="Shape 40"/>
          <p:cNvSpPr/>
          <p:nvPr/>
        </p:nvSpPr>
        <p:spPr>
          <a:xfrm>
            <a:off x="6702552" y="2084832"/>
            <a:ext cx="658368" cy="466344"/>
          </a:xfrm>
          <a:prstGeom prst="rect">
            <a:avLst/>
          </a:prstGeom>
          <a:solidFill>
            <a:srgbClr val="FFFFFF"/>
          </a:solidFill>
          <a:ln w="12700">
            <a:solidFill>
              <a:srgbClr val="DDE6F0"/>
            </a:solidFill>
            <a:prstDash val="solid"/>
          </a:ln>
        </p:spPr>
      </p:sp>
      <p:sp>
        <p:nvSpPr>
          <p:cNvPr id="43" name="Text 41"/>
          <p:cNvSpPr/>
          <p:nvPr/>
        </p:nvSpPr>
        <p:spPr>
          <a:xfrm>
            <a:off x="6748272" y="2112264"/>
            <a:ext cx="566928" cy="411480"/>
          </a:xfrm>
          <a:prstGeom prst="rect">
            <a:avLst/>
          </a:prstGeom>
          <a:noFill/>
          <a:ln/>
        </p:spPr>
        <p:txBody>
          <a:bodyPr wrap="square" lIns="0" tIns="0" rIns="0" bIns="0" rtlCol="0" anchor="ctr"/>
          <a:lstStyle/>
          <a:p>
            <a:pPr algn="ctr" indent="0" marL="0">
              <a:buNone/>
            </a:pPr>
            <a:r>
              <a:rPr lang="en-US" sz="1300" b="1" dirty="0">
                <a:solidFill>
                  <a:srgbClr val="C00707"/>
                </a:solidFill>
                <a:latin typeface="Calibri" pitchFamily="34" charset="0"/>
                <a:ea typeface="Calibri" pitchFamily="34" charset="-122"/>
                <a:cs typeface="Calibri" pitchFamily="34" charset="-120"/>
              </a:rPr>
              <a:t>11</a:t>
            </a:r>
            <a:endParaRPr lang="en-US" sz="1300" dirty="0"/>
          </a:p>
        </p:txBody>
      </p:sp>
      <p:sp>
        <p:nvSpPr>
          <p:cNvPr id="44" name="Shape 42"/>
          <p:cNvSpPr/>
          <p:nvPr/>
        </p:nvSpPr>
        <p:spPr>
          <a:xfrm>
            <a:off x="256032" y="2551176"/>
            <a:ext cx="2971800" cy="466344"/>
          </a:xfrm>
          <a:prstGeom prst="rect">
            <a:avLst/>
          </a:prstGeom>
          <a:solidFill>
            <a:srgbClr val="F7F8F0"/>
          </a:solidFill>
          <a:ln w="12700">
            <a:solidFill>
              <a:srgbClr val="DDE6F0"/>
            </a:solidFill>
            <a:prstDash val="solid"/>
          </a:ln>
        </p:spPr>
      </p:sp>
      <p:sp>
        <p:nvSpPr>
          <p:cNvPr id="45" name="Text 43"/>
          <p:cNvSpPr/>
          <p:nvPr/>
        </p:nvSpPr>
        <p:spPr>
          <a:xfrm>
            <a:off x="301752" y="2578608"/>
            <a:ext cx="2880360" cy="411480"/>
          </a:xfrm>
          <a:prstGeom prst="rect">
            <a:avLst/>
          </a:prstGeom>
          <a:noFill/>
          <a:ln/>
        </p:spPr>
        <p:txBody>
          <a:bodyPr wrap="square" lIns="0" tIns="0" rIns="0" bIns="0" rtlCol="0" anchor="ctr"/>
          <a:lstStyle/>
          <a:p>
            <a:pPr algn="l" indent="0" marL="0">
              <a:buNone/>
            </a:pPr>
            <a:r>
              <a:rPr lang="en-US" sz="900" dirty="0">
                <a:solidFill>
                  <a:srgbClr val="1A2E4A"/>
                </a:solidFill>
                <a:latin typeface="Calibri" pitchFamily="34" charset="0"/>
                <a:ea typeface="Calibri" pitchFamily="34" charset="-122"/>
                <a:cs typeface="Calibri" pitchFamily="34" charset="-120"/>
              </a:rPr>
              <a:t>Génération de rapports automatisés</a:t>
            </a:r>
            <a:endParaRPr lang="en-US" sz="900" dirty="0"/>
          </a:p>
        </p:txBody>
      </p:sp>
      <p:sp>
        <p:nvSpPr>
          <p:cNvPr id="46" name="Shape 44"/>
          <p:cNvSpPr/>
          <p:nvPr/>
        </p:nvSpPr>
        <p:spPr>
          <a:xfrm>
            <a:off x="3227832" y="2551176"/>
            <a:ext cx="868680" cy="466344"/>
          </a:xfrm>
          <a:prstGeom prst="rect">
            <a:avLst/>
          </a:prstGeom>
          <a:solidFill>
            <a:srgbClr val="F7F8F0"/>
          </a:solidFill>
          <a:ln w="12700">
            <a:solidFill>
              <a:srgbClr val="DDE6F0"/>
            </a:solidFill>
            <a:prstDash val="solid"/>
          </a:ln>
        </p:spPr>
      </p:sp>
      <p:sp>
        <p:nvSpPr>
          <p:cNvPr id="47" name="Text 45"/>
          <p:cNvSpPr/>
          <p:nvPr/>
        </p:nvSpPr>
        <p:spPr>
          <a:xfrm>
            <a:off x="3273552" y="2578608"/>
            <a:ext cx="777240" cy="411480"/>
          </a:xfrm>
          <a:prstGeom prst="rect">
            <a:avLst/>
          </a:prstGeom>
          <a:noFill/>
          <a:ln/>
        </p:spPr>
        <p:txBody>
          <a:bodyPr wrap="square" lIns="0" tIns="0" rIns="0" bIns="0" rtlCol="0" anchor="ctr"/>
          <a:lstStyle/>
          <a:p>
            <a:pPr algn="ctr" indent="0" marL="0">
              <a:buNone/>
            </a:pPr>
            <a:r>
              <a:rPr lang="en-US" sz="1100" dirty="0">
                <a:solidFill>
                  <a:srgbClr val="134E8E"/>
                </a:solidFill>
                <a:latin typeface="Calibri" pitchFamily="34" charset="0"/>
                <a:ea typeface="Calibri" pitchFamily="34" charset="-122"/>
                <a:cs typeface="Calibri" pitchFamily="34" charset="-120"/>
              </a:rPr>
              <a:t>3</a:t>
            </a:r>
            <a:endParaRPr lang="en-US" sz="1100" dirty="0"/>
          </a:p>
        </p:txBody>
      </p:sp>
      <p:sp>
        <p:nvSpPr>
          <p:cNvPr id="48" name="Shape 46"/>
          <p:cNvSpPr/>
          <p:nvPr/>
        </p:nvSpPr>
        <p:spPr>
          <a:xfrm>
            <a:off x="4096512" y="2551176"/>
            <a:ext cx="868680" cy="466344"/>
          </a:xfrm>
          <a:prstGeom prst="rect">
            <a:avLst/>
          </a:prstGeom>
          <a:solidFill>
            <a:srgbClr val="F7F8F0"/>
          </a:solidFill>
          <a:ln w="12700">
            <a:solidFill>
              <a:srgbClr val="DDE6F0"/>
            </a:solidFill>
            <a:prstDash val="solid"/>
          </a:ln>
        </p:spPr>
      </p:sp>
      <p:sp>
        <p:nvSpPr>
          <p:cNvPr id="49" name="Text 47"/>
          <p:cNvSpPr/>
          <p:nvPr/>
        </p:nvSpPr>
        <p:spPr>
          <a:xfrm>
            <a:off x="4142232" y="2578608"/>
            <a:ext cx="777240" cy="411480"/>
          </a:xfrm>
          <a:prstGeom prst="rect">
            <a:avLst/>
          </a:prstGeom>
          <a:noFill/>
          <a:ln/>
        </p:spPr>
        <p:txBody>
          <a:bodyPr wrap="square" lIns="0" tIns="0" rIns="0" bIns="0" rtlCol="0" anchor="ctr"/>
          <a:lstStyle/>
          <a:p>
            <a:pPr algn="ctr" indent="0" marL="0">
              <a:buNone/>
            </a:pPr>
            <a:r>
              <a:rPr lang="en-US" sz="1100" dirty="0">
                <a:solidFill>
                  <a:srgbClr val="134E8E"/>
                </a:solidFill>
                <a:latin typeface="Calibri" pitchFamily="34" charset="0"/>
                <a:ea typeface="Calibri" pitchFamily="34" charset="-122"/>
                <a:cs typeface="Calibri" pitchFamily="34" charset="-120"/>
              </a:rPr>
              <a:t>1</a:t>
            </a:r>
            <a:endParaRPr lang="en-US" sz="1100" dirty="0"/>
          </a:p>
        </p:txBody>
      </p:sp>
      <p:sp>
        <p:nvSpPr>
          <p:cNvPr id="50" name="Shape 48"/>
          <p:cNvSpPr/>
          <p:nvPr/>
        </p:nvSpPr>
        <p:spPr>
          <a:xfrm>
            <a:off x="4965192" y="2551176"/>
            <a:ext cx="868680" cy="466344"/>
          </a:xfrm>
          <a:prstGeom prst="rect">
            <a:avLst/>
          </a:prstGeom>
          <a:solidFill>
            <a:srgbClr val="F7F8F0"/>
          </a:solidFill>
          <a:ln w="12700">
            <a:solidFill>
              <a:srgbClr val="DDE6F0"/>
            </a:solidFill>
            <a:prstDash val="solid"/>
          </a:ln>
        </p:spPr>
      </p:sp>
      <p:sp>
        <p:nvSpPr>
          <p:cNvPr id="51" name="Text 49"/>
          <p:cNvSpPr/>
          <p:nvPr/>
        </p:nvSpPr>
        <p:spPr>
          <a:xfrm>
            <a:off x="5010912" y="2578608"/>
            <a:ext cx="777240" cy="411480"/>
          </a:xfrm>
          <a:prstGeom prst="rect">
            <a:avLst/>
          </a:prstGeom>
          <a:noFill/>
          <a:ln/>
        </p:spPr>
        <p:txBody>
          <a:bodyPr wrap="square" lIns="0" tIns="0" rIns="0" bIns="0" rtlCol="0" anchor="ctr"/>
          <a:lstStyle/>
          <a:p>
            <a:pPr algn="ctr" indent="0" marL="0">
              <a:buNone/>
            </a:pPr>
            <a:r>
              <a:rPr lang="en-US" sz="1100" dirty="0">
                <a:solidFill>
                  <a:srgbClr val="134E8E"/>
                </a:solidFill>
                <a:latin typeface="Calibri" pitchFamily="34" charset="0"/>
                <a:ea typeface="Calibri" pitchFamily="34" charset="-122"/>
                <a:cs typeface="Calibri" pitchFamily="34" charset="-120"/>
              </a:rPr>
              <a:t>3</a:t>
            </a:r>
            <a:endParaRPr lang="en-US" sz="1100" dirty="0"/>
          </a:p>
        </p:txBody>
      </p:sp>
      <p:sp>
        <p:nvSpPr>
          <p:cNvPr id="52" name="Shape 50"/>
          <p:cNvSpPr/>
          <p:nvPr/>
        </p:nvSpPr>
        <p:spPr>
          <a:xfrm>
            <a:off x="5833872" y="2551176"/>
            <a:ext cx="868680" cy="466344"/>
          </a:xfrm>
          <a:prstGeom prst="rect">
            <a:avLst/>
          </a:prstGeom>
          <a:solidFill>
            <a:srgbClr val="F7F8F0"/>
          </a:solidFill>
          <a:ln w="12700">
            <a:solidFill>
              <a:srgbClr val="DDE6F0"/>
            </a:solidFill>
            <a:prstDash val="solid"/>
          </a:ln>
        </p:spPr>
      </p:sp>
      <p:sp>
        <p:nvSpPr>
          <p:cNvPr id="53" name="Text 51"/>
          <p:cNvSpPr/>
          <p:nvPr/>
        </p:nvSpPr>
        <p:spPr>
          <a:xfrm>
            <a:off x="5879592" y="2578608"/>
            <a:ext cx="777240" cy="411480"/>
          </a:xfrm>
          <a:prstGeom prst="rect">
            <a:avLst/>
          </a:prstGeom>
          <a:noFill/>
          <a:ln/>
        </p:spPr>
        <p:txBody>
          <a:bodyPr wrap="square" lIns="0" tIns="0" rIns="0" bIns="0" rtlCol="0" anchor="ctr"/>
          <a:lstStyle/>
          <a:p>
            <a:pPr algn="ctr" indent="0" marL="0">
              <a:buNone/>
            </a:pPr>
            <a:r>
              <a:rPr lang="en-US" sz="1100" dirty="0">
                <a:solidFill>
                  <a:srgbClr val="134E8E"/>
                </a:solidFill>
                <a:latin typeface="Calibri" pitchFamily="34" charset="0"/>
                <a:ea typeface="Calibri" pitchFamily="34" charset="-122"/>
                <a:cs typeface="Calibri" pitchFamily="34" charset="-120"/>
              </a:rPr>
              <a:t>2</a:t>
            </a:r>
            <a:endParaRPr lang="en-US" sz="1100" dirty="0"/>
          </a:p>
        </p:txBody>
      </p:sp>
      <p:sp>
        <p:nvSpPr>
          <p:cNvPr id="54" name="Shape 52"/>
          <p:cNvSpPr/>
          <p:nvPr/>
        </p:nvSpPr>
        <p:spPr>
          <a:xfrm>
            <a:off x="6702552" y="2551176"/>
            <a:ext cx="658368" cy="466344"/>
          </a:xfrm>
          <a:prstGeom prst="rect">
            <a:avLst/>
          </a:prstGeom>
          <a:solidFill>
            <a:srgbClr val="F7F8F0"/>
          </a:solidFill>
          <a:ln w="12700">
            <a:solidFill>
              <a:srgbClr val="DDE6F0"/>
            </a:solidFill>
            <a:prstDash val="solid"/>
          </a:ln>
        </p:spPr>
      </p:sp>
      <p:sp>
        <p:nvSpPr>
          <p:cNvPr id="55" name="Text 53"/>
          <p:cNvSpPr/>
          <p:nvPr/>
        </p:nvSpPr>
        <p:spPr>
          <a:xfrm>
            <a:off x="6748272" y="2578608"/>
            <a:ext cx="566928" cy="411480"/>
          </a:xfrm>
          <a:prstGeom prst="rect">
            <a:avLst/>
          </a:prstGeom>
          <a:noFill/>
          <a:ln/>
        </p:spPr>
        <p:txBody>
          <a:bodyPr wrap="square" lIns="0" tIns="0" rIns="0" bIns="0" rtlCol="0" anchor="ctr"/>
          <a:lstStyle/>
          <a:p>
            <a:pPr algn="ctr" indent="0" marL="0">
              <a:buNone/>
            </a:pPr>
            <a:r>
              <a:rPr lang="en-US" sz="1300" b="1" dirty="0">
                <a:solidFill>
                  <a:srgbClr val="134E8E"/>
                </a:solidFill>
                <a:latin typeface="Calibri" pitchFamily="34" charset="0"/>
                <a:ea typeface="Calibri" pitchFamily="34" charset="-122"/>
                <a:cs typeface="Calibri" pitchFamily="34" charset="-120"/>
              </a:rPr>
              <a:t>9</a:t>
            </a:r>
            <a:endParaRPr lang="en-US" sz="1300" dirty="0"/>
          </a:p>
        </p:txBody>
      </p:sp>
      <p:sp>
        <p:nvSpPr>
          <p:cNvPr id="56" name="Shape 54"/>
          <p:cNvSpPr/>
          <p:nvPr/>
        </p:nvSpPr>
        <p:spPr>
          <a:xfrm>
            <a:off x="256032" y="3017520"/>
            <a:ext cx="2971800" cy="466344"/>
          </a:xfrm>
          <a:prstGeom prst="rect">
            <a:avLst/>
          </a:prstGeom>
          <a:solidFill>
            <a:srgbClr val="FFFFFF"/>
          </a:solidFill>
          <a:ln w="12700">
            <a:solidFill>
              <a:srgbClr val="DDE6F0"/>
            </a:solidFill>
            <a:prstDash val="solid"/>
          </a:ln>
        </p:spPr>
      </p:sp>
      <p:sp>
        <p:nvSpPr>
          <p:cNvPr id="57" name="Text 55"/>
          <p:cNvSpPr/>
          <p:nvPr/>
        </p:nvSpPr>
        <p:spPr>
          <a:xfrm>
            <a:off x="301752" y="3044952"/>
            <a:ext cx="2880360" cy="411480"/>
          </a:xfrm>
          <a:prstGeom prst="rect">
            <a:avLst/>
          </a:prstGeom>
          <a:noFill/>
          <a:ln/>
        </p:spPr>
        <p:txBody>
          <a:bodyPr wrap="square" lIns="0" tIns="0" rIns="0" bIns="0" rtlCol="0" anchor="ctr"/>
          <a:lstStyle/>
          <a:p>
            <a:pPr algn="l" indent="0" marL="0">
              <a:buNone/>
            </a:pPr>
            <a:r>
              <a:rPr lang="en-US" sz="900" dirty="0">
                <a:solidFill>
                  <a:srgbClr val="1A2E4A"/>
                </a:solidFill>
                <a:latin typeface="Calibri" pitchFamily="34" charset="0"/>
                <a:ea typeface="Calibri" pitchFamily="34" charset="-122"/>
                <a:cs typeface="Calibri" pitchFamily="34" charset="-120"/>
              </a:rPr>
              <a:t>Visualisation graphique engagements 5–10 ans</a:t>
            </a:r>
            <a:endParaRPr lang="en-US" sz="900" dirty="0"/>
          </a:p>
        </p:txBody>
      </p:sp>
      <p:sp>
        <p:nvSpPr>
          <p:cNvPr id="58" name="Shape 56"/>
          <p:cNvSpPr/>
          <p:nvPr/>
        </p:nvSpPr>
        <p:spPr>
          <a:xfrm>
            <a:off x="3227832" y="3017520"/>
            <a:ext cx="868680" cy="466344"/>
          </a:xfrm>
          <a:prstGeom prst="rect">
            <a:avLst/>
          </a:prstGeom>
          <a:solidFill>
            <a:srgbClr val="FFFFFF"/>
          </a:solidFill>
          <a:ln w="12700">
            <a:solidFill>
              <a:srgbClr val="DDE6F0"/>
            </a:solidFill>
            <a:prstDash val="solid"/>
          </a:ln>
        </p:spPr>
      </p:sp>
      <p:sp>
        <p:nvSpPr>
          <p:cNvPr id="59" name="Text 57"/>
          <p:cNvSpPr/>
          <p:nvPr/>
        </p:nvSpPr>
        <p:spPr>
          <a:xfrm>
            <a:off x="3273552" y="3044952"/>
            <a:ext cx="777240" cy="411480"/>
          </a:xfrm>
          <a:prstGeom prst="rect">
            <a:avLst/>
          </a:prstGeom>
          <a:noFill/>
          <a:ln/>
        </p:spPr>
        <p:txBody>
          <a:bodyPr wrap="square" lIns="0" tIns="0" rIns="0" bIns="0" rtlCol="0" anchor="ctr"/>
          <a:lstStyle/>
          <a:p>
            <a:pPr algn="ctr" indent="0" marL="0">
              <a:buNone/>
            </a:pPr>
            <a:r>
              <a:rPr lang="en-US" sz="1100" dirty="0">
                <a:solidFill>
                  <a:srgbClr val="134E8E"/>
                </a:solidFill>
                <a:latin typeface="Calibri" pitchFamily="34" charset="0"/>
                <a:ea typeface="Calibri" pitchFamily="34" charset="-122"/>
                <a:cs typeface="Calibri" pitchFamily="34" charset="-120"/>
              </a:rPr>
              <a:t>3</a:t>
            </a:r>
            <a:endParaRPr lang="en-US" sz="1100" dirty="0"/>
          </a:p>
        </p:txBody>
      </p:sp>
      <p:sp>
        <p:nvSpPr>
          <p:cNvPr id="60" name="Shape 58"/>
          <p:cNvSpPr/>
          <p:nvPr/>
        </p:nvSpPr>
        <p:spPr>
          <a:xfrm>
            <a:off x="4096512" y="3017520"/>
            <a:ext cx="868680" cy="466344"/>
          </a:xfrm>
          <a:prstGeom prst="rect">
            <a:avLst/>
          </a:prstGeom>
          <a:solidFill>
            <a:srgbClr val="FFFFFF"/>
          </a:solidFill>
          <a:ln w="12700">
            <a:solidFill>
              <a:srgbClr val="DDE6F0"/>
            </a:solidFill>
            <a:prstDash val="solid"/>
          </a:ln>
        </p:spPr>
      </p:sp>
      <p:sp>
        <p:nvSpPr>
          <p:cNvPr id="61" name="Text 59"/>
          <p:cNvSpPr/>
          <p:nvPr/>
        </p:nvSpPr>
        <p:spPr>
          <a:xfrm>
            <a:off x="4142232" y="3044952"/>
            <a:ext cx="777240" cy="411480"/>
          </a:xfrm>
          <a:prstGeom prst="rect">
            <a:avLst/>
          </a:prstGeom>
          <a:noFill/>
          <a:ln/>
        </p:spPr>
        <p:txBody>
          <a:bodyPr wrap="square" lIns="0" tIns="0" rIns="0" bIns="0" rtlCol="0" anchor="ctr"/>
          <a:lstStyle/>
          <a:p>
            <a:pPr algn="ctr" indent="0" marL="0">
              <a:buNone/>
            </a:pPr>
            <a:r>
              <a:rPr lang="en-US" sz="1100" dirty="0">
                <a:solidFill>
                  <a:srgbClr val="134E8E"/>
                </a:solidFill>
                <a:latin typeface="Calibri" pitchFamily="34" charset="0"/>
                <a:ea typeface="Calibri" pitchFamily="34" charset="-122"/>
                <a:cs typeface="Calibri" pitchFamily="34" charset="-120"/>
              </a:rPr>
              <a:t>1</a:t>
            </a:r>
            <a:endParaRPr lang="en-US" sz="1100" dirty="0"/>
          </a:p>
        </p:txBody>
      </p:sp>
      <p:sp>
        <p:nvSpPr>
          <p:cNvPr id="62" name="Shape 60"/>
          <p:cNvSpPr/>
          <p:nvPr/>
        </p:nvSpPr>
        <p:spPr>
          <a:xfrm>
            <a:off x="4965192" y="3017520"/>
            <a:ext cx="868680" cy="466344"/>
          </a:xfrm>
          <a:prstGeom prst="rect">
            <a:avLst/>
          </a:prstGeom>
          <a:solidFill>
            <a:srgbClr val="FFFFFF"/>
          </a:solidFill>
          <a:ln w="12700">
            <a:solidFill>
              <a:srgbClr val="DDE6F0"/>
            </a:solidFill>
            <a:prstDash val="solid"/>
          </a:ln>
        </p:spPr>
      </p:sp>
      <p:sp>
        <p:nvSpPr>
          <p:cNvPr id="63" name="Text 61"/>
          <p:cNvSpPr/>
          <p:nvPr/>
        </p:nvSpPr>
        <p:spPr>
          <a:xfrm>
            <a:off x="5010912" y="3044952"/>
            <a:ext cx="777240" cy="411480"/>
          </a:xfrm>
          <a:prstGeom prst="rect">
            <a:avLst/>
          </a:prstGeom>
          <a:noFill/>
          <a:ln/>
        </p:spPr>
        <p:txBody>
          <a:bodyPr wrap="square" lIns="0" tIns="0" rIns="0" bIns="0" rtlCol="0" anchor="ctr"/>
          <a:lstStyle/>
          <a:p>
            <a:pPr algn="ctr" indent="0" marL="0">
              <a:buNone/>
            </a:pPr>
            <a:r>
              <a:rPr lang="en-US" sz="1100" dirty="0">
                <a:solidFill>
                  <a:srgbClr val="134E8E"/>
                </a:solidFill>
                <a:latin typeface="Calibri" pitchFamily="34" charset="0"/>
                <a:ea typeface="Calibri" pitchFamily="34" charset="-122"/>
                <a:cs typeface="Calibri" pitchFamily="34" charset="-120"/>
              </a:rPr>
              <a:t>2</a:t>
            </a:r>
            <a:endParaRPr lang="en-US" sz="1100" dirty="0"/>
          </a:p>
        </p:txBody>
      </p:sp>
      <p:sp>
        <p:nvSpPr>
          <p:cNvPr id="64" name="Shape 62"/>
          <p:cNvSpPr/>
          <p:nvPr/>
        </p:nvSpPr>
        <p:spPr>
          <a:xfrm>
            <a:off x="5833872" y="3017520"/>
            <a:ext cx="868680" cy="466344"/>
          </a:xfrm>
          <a:prstGeom prst="rect">
            <a:avLst/>
          </a:prstGeom>
          <a:solidFill>
            <a:srgbClr val="FFFFFF"/>
          </a:solidFill>
          <a:ln w="12700">
            <a:solidFill>
              <a:srgbClr val="DDE6F0"/>
            </a:solidFill>
            <a:prstDash val="solid"/>
          </a:ln>
        </p:spPr>
      </p:sp>
      <p:sp>
        <p:nvSpPr>
          <p:cNvPr id="65" name="Text 63"/>
          <p:cNvSpPr/>
          <p:nvPr/>
        </p:nvSpPr>
        <p:spPr>
          <a:xfrm>
            <a:off x="5879592" y="3044952"/>
            <a:ext cx="777240" cy="411480"/>
          </a:xfrm>
          <a:prstGeom prst="rect">
            <a:avLst/>
          </a:prstGeom>
          <a:noFill/>
          <a:ln/>
        </p:spPr>
        <p:txBody>
          <a:bodyPr wrap="square" lIns="0" tIns="0" rIns="0" bIns="0" rtlCol="0" anchor="ctr"/>
          <a:lstStyle/>
          <a:p>
            <a:pPr algn="ctr" indent="0" marL="0">
              <a:buNone/>
            </a:pPr>
            <a:r>
              <a:rPr lang="en-US" sz="1100" dirty="0">
                <a:solidFill>
                  <a:srgbClr val="134E8E"/>
                </a:solidFill>
                <a:latin typeface="Calibri" pitchFamily="34" charset="0"/>
                <a:ea typeface="Calibri" pitchFamily="34" charset="-122"/>
                <a:cs typeface="Calibri" pitchFamily="34" charset="-120"/>
              </a:rPr>
              <a:t>2</a:t>
            </a:r>
            <a:endParaRPr lang="en-US" sz="1100" dirty="0"/>
          </a:p>
        </p:txBody>
      </p:sp>
      <p:sp>
        <p:nvSpPr>
          <p:cNvPr id="66" name="Shape 64"/>
          <p:cNvSpPr/>
          <p:nvPr/>
        </p:nvSpPr>
        <p:spPr>
          <a:xfrm>
            <a:off x="6702552" y="3017520"/>
            <a:ext cx="658368" cy="466344"/>
          </a:xfrm>
          <a:prstGeom prst="rect">
            <a:avLst/>
          </a:prstGeom>
          <a:solidFill>
            <a:srgbClr val="FFFFFF"/>
          </a:solidFill>
          <a:ln w="12700">
            <a:solidFill>
              <a:srgbClr val="DDE6F0"/>
            </a:solidFill>
            <a:prstDash val="solid"/>
          </a:ln>
        </p:spPr>
      </p:sp>
      <p:sp>
        <p:nvSpPr>
          <p:cNvPr id="67" name="Text 65"/>
          <p:cNvSpPr/>
          <p:nvPr/>
        </p:nvSpPr>
        <p:spPr>
          <a:xfrm>
            <a:off x="6748272" y="3044952"/>
            <a:ext cx="566928" cy="411480"/>
          </a:xfrm>
          <a:prstGeom prst="rect">
            <a:avLst/>
          </a:prstGeom>
          <a:noFill/>
          <a:ln/>
        </p:spPr>
        <p:txBody>
          <a:bodyPr wrap="square" lIns="0" tIns="0" rIns="0" bIns="0" rtlCol="0" anchor="ctr"/>
          <a:lstStyle/>
          <a:p>
            <a:pPr algn="ctr" indent="0" marL="0">
              <a:buNone/>
            </a:pPr>
            <a:r>
              <a:rPr lang="en-US" sz="1300" b="1" dirty="0">
                <a:solidFill>
                  <a:srgbClr val="134E8E"/>
                </a:solidFill>
                <a:latin typeface="Calibri" pitchFamily="34" charset="0"/>
                <a:ea typeface="Calibri" pitchFamily="34" charset="-122"/>
                <a:cs typeface="Calibri" pitchFamily="34" charset="-120"/>
              </a:rPr>
              <a:t>8</a:t>
            </a:r>
            <a:endParaRPr lang="en-US" sz="1300" dirty="0"/>
          </a:p>
        </p:txBody>
      </p:sp>
      <p:sp>
        <p:nvSpPr>
          <p:cNvPr id="68" name="Shape 66"/>
          <p:cNvSpPr/>
          <p:nvPr/>
        </p:nvSpPr>
        <p:spPr>
          <a:xfrm>
            <a:off x="256032" y="3483864"/>
            <a:ext cx="2971800" cy="466344"/>
          </a:xfrm>
          <a:prstGeom prst="rect">
            <a:avLst/>
          </a:prstGeom>
          <a:solidFill>
            <a:srgbClr val="F7F8F0"/>
          </a:solidFill>
          <a:ln w="12700">
            <a:solidFill>
              <a:srgbClr val="DDE6F0"/>
            </a:solidFill>
            <a:prstDash val="solid"/>
          </a:ln>
        </p:spPr>
      </p:sp>
      <p:sp>
        <p:nvSpPr>
          <p:cNvPr id="69" name="Text 67"/>
          <p:cNvSpPr/>
          <p:nvPr/>
        </p:nvSpPr>
        <p:spPr>
          <a:xfrm>
            <a:off x="301752" y="3511296"/>
            <a:ext cx="2880360" cy="411480"/>
          </a:xfrm>
          <a:prstGeom prst="rect">
            <a:avLst/>
          </a:prstGeom>
          <a:noFill/>
          <a:ln/>
        </p:spPr>
        <p:txBody>
          <a:bodyPr wrap="square" lIns="0" tIns="0" rIns="0" bIns="0" rtlCol="0" anchor="ctr"/>
          <a:lstStyle/>
          <a:p>
            <a:pPr algn="l" indent="0" marL="0">
              <a:buNone/>
            </a:pPr>
            <a:r>
              <a:rPr lang="en-US" sz="900" dirty="0">
                <a:solidFill>
                  <a:srgbClr val="1A2E4A"/>
                </a:solidFill>
                <a:latin typeface="Calibri" pitchFamily="34" charset="0"/>
                <a:ea typeface="Calibri" pitchFamily="34" charset="-122"/>
                <a:cs typeface="Calibri" pitchFamily="34" charset="-120"/>
              </a:rPr>
              <a:t>Intégration données OCDE/CAD</a:t>
            </a:r>
            <a:endParaRPr lang="en-US" sz="900" dirty="0"/>
          </a:p>
        </p:txBody>
      </p:sp>
      <p:sp>
        <p:nvSpPr>
          <p:cNvPr id="70" name="Shape 68"/>
          <p:cNvSpPr/>
          <p:nvPr/>
        </p:nvSpPr>
        <p:spPr>
          <a:xfrm>
            <a:off x="3227832" y="3483864"/>
            <a:ext cx="868680" cy="466344"/>
          </a:xfrm>
          <a:prstGeom prst="rect">
            <a:avLst/>
          </a:prstGeom>
          <a:solidFill>
            <a:srgbClr val="F7F8F0"/>
          </a:solidFill>
          <a:ln w="12700">
            <a:solidFill>
              <a:srgbClr val="DDE6F0"/>
            </a:solidFill>
            <a:prstDash val="solid"/>
          </a:ln>
        </p:spPr>
      </p:sp>
      <p:sp>
        <p:nvSpPr>
          <p:cNvPr id="71" name="Text 69"/>
          <p:cNvSpPr/>
          <p:nvPr/>
        </p:nvSpPr>
        <p:spPr>
          <a:xfrm>
            <a:off x="3273552" y="3511296"/>
            <a:ext cx="777240" cy="411480"/>
          </a:xfrm>
          <a:prstGeom prst="rect">
            <a:avLst/>
          </a:prstGeom>
          <a:noFill/>
          <a:ln/>
        </p:spPr>
        <p:txBody>
          <a:bodyPr wrap="square" lIns="0" tIns="0" rIns="0" bIns="0" rtlCol="0" anchor="ctr"/>
          <a:lstStyle/>
          <a:p>
            <a:pPr algn="ctr" indent="0" marL="0">
              <a:buNone/>
            </a:pPr>
            <a:r>
              <a:rPr lang="en-US" sz="1100" dirty="0">
                <a:solidFill>
                  <a:srgbClr val="134E8E"/>
                </a:solidFill>
                <a:latin typeface="Calibri" pitchFamily="34" charset="0"/>
                <a:ea typeface="Calibri" pitchFamily="34" charset="-122"/>
                <a:cs typeface="Calibri" pitchFamily="34" charset="-120"/>
              </a:rPr>
              <a:t>2</a:t>
            </a:r>
            <a:endParaRPr lang="en-US" sz="1100" dirty="0"/>
          </a:p>
        </p:txBody>
      </p:sp>
      <p:sp>
        <p:nvSpPr>
          <p:cNvPr id="72" name="Shape 70"/>
          <p:cNvSpPr/>
          <p:nvPr/>
        </p:nvSpPr>
        <p:spPr>
          <a:xfrm>
            <a:off x="4096512" y="3483864"/>
            <a:ext cx="868680" cy="466344"/>
          </a:xfrm>
          <a:prstGeom prst="rect">
            <a:avLst/>
          </a:prstGeom>
          <a:solidFill>
            <a:srgbClr val="F7F8F0"/>
          </a:solidFill>
          <a:ln w="12700">
            <a:solidFill>
              <a:srgbClr val="DDE6F0"/>
            </a:solidFill>
            <a:prstDash val="solid"/>
          </a:ln>
        </p:spPr>
      </p:sp>
      <p:sp>
        <p:nvSpPr>
          <p:cNvPr id="73" name="Text 71"/>
          <p:cNvSpPr/>
          <p:nvPr/>
        </p:nvSpPr>
        <p:spPr>
          <a:xfrm>
            <a:off x="4142232" y="3511296"/>
            <a:ext cx="777240" cy="411480"/>
          </a:xfrm>
          <a:prstGeom prst="rect">
            <a:avLst/>
          </a:prstGeom>
          <a:noFill/>
          <a:ln/>
        </p:spPr>
        <p:txBody>
          <a:bodyPr wrap="square" lIns="0" tIns="0" rIns="0" bIns="0" rtlCol="0" anchor="ctr"/>
          <a:lstStyle/>
          <a:p>
            <a:pPr algn="ctr" indent="0" marL="0">
              <a:buNone/>
            </a:pPr>
            <a:r>
              <a:rPr lang="en-US" sz="1100" dirty="0">
                <a:solidFill>
                  <a:srgbClr val="134E8E"/>
                </a:solidFill>
                <a:latin typeface="Calibri" pitchFamily="34" charset="0"/>
                <a:ea typeface="Calibri" pitchFamily="34" charset="-122"/>
                <a:cs typeface="Calibri" pitchFamily="34" charset="-120"/>
              </a:rPr>
              <a:t>2</a:t>
            </a:r>
            <a:endParaRPr lang="en-US" sz="1100" dirty="0"/>
          </a:p>
        </p:txBody>
      </p:sp>
      <p:sp>
        <p:nvSpPr>
          <p:cNvPr id="74" name="Shape 72"/>
          <p:cNvSpPr/>
          <p:nvPr/>
        </p:nvSpPr>
        <p:spPr>
          <a:xfrm>
            <a:off x="4965192" y="3483864"/>
            <a:ext cx="868680" cy="466344"/>
          </a:xfrm>
          <a:prstGeom prst="rect">
            <a:avLst/>
          </a:prstGeom>
          <a:solidFill>
            <a:srgbClr val="F7F8F0"/>
          </a:solidFill>
          <a:ln w="12700">
            <a:solidFill>
              <a:srgbClr val="DDE6F0"/>
            </a:solidFill>
            <a:prstDash val="solid"/>
          </a:ln>
        </p:spPr>
      </p:sp>
      <p:sp>
        <p:nvSpPr>
          <p:cNvPr id="75" name="Text 73"/>
          <p:cNvSpPr/>
          <p:nvPr/>
        </p:nvSpPr>
        <p:spPr>
          <a:xfrm>
            <a:off x="5010912" y="3511296"/>
            <a:ext cx="777240" cy="411480"/>
          </a:xfrm>
          <a:prstGeom prst="rect">
            <a:avLst/>
          </a:prstGeom>
          <a:noFill/>
          <a:ln/>
        </p:spPr>
        <p:txBody>
          <a:bodyPr wrap="square" lIns="0" tIns="0" rIns="0" bIns="0" rtlCol="0" anchor="ctr"/>
          <a:lstStyle/>
          <a:p>
            <a:pPr algn="ctr" indent="0" marL="0">
              <a:buNone/>
            </a:pPr>
            <a:r>
              <a:rPr lang="en-US" sz="1100" dirty="0">
                <a:solidFill>
                  <a:srgbClr val="134E8E"/>
                </a:solidFill>
                <a:latin typeface="Calibri" pitchFamily="34" charset="0"/>
                <a:ea typeface="Calibri" pitchFamily="34" charset="-122"/>
                <a:cs typeface="Calibri" pitchFamily="34" charset="-120"/>
              </a:rPr>
              <a:t>3</a:t>
            </a:r>
            <a:endParaRPr lang="en-US" sz="1100" dirty="0"/>
          </a:p>
        </p:txBody>
      </p:sp>
      <p:sp>
        <p:nvSpPr>
          <p:cNvPr id="76" name="Shape 74"/>
          <p:cNvSpPr/>
          <p:nvPr/>
        </p:nvSpPr>
        <p:spPr>
          <a:xfrm>
            <a:off x="5833872" y="3483864"/>
            <a:ext cx="868680" cy="466344"/>
          </a:xfrm>
          <a:prstGeom prst="rect">
            <a:avLst/>
          </a:prstGeom>
          <a:solidFill>
            <a:srgbClr val="F7F8F0"/>
          </a:solidFill>
          <a:ln w="12700">
            <a:solidFill>
              <a:srgbClr val="DDE6F0"/>
            </a:solidFill>
            <a:prstDash val="solid"/>
          </a:ln>
        </p:spPr>
      </p:sp>
      <p:sp>
        <p:nvSpPr>
          <p:cNvPr id="77" name="Text 75"/>
          <p:cNvSpPr/>
          <p:nvPr/>
        </p:nvSpPr>
        <p:spPr>
          <a:xfrm>
            <a:off x="5879592" y="3511296"/>
            <a:ext cx="777240" cy="411480"/>
          </a:xfrm>
          <a:prstGeom prst="rect">
            <a:avLst/>
          </a:prstGeom>
          <a:noFill/>
          <a:ln/>
        </p:spPr>
        <p:txBody>
          <a:bodyPr wrap="square" lIns="0" tIns="0" rIns="0" bIns="0" rtlCol="0" anchor="ctr"/>
          <a:lstStyle/>
          <a:p>
            <a:pPr algn="ctr" indent="0" marL="0">
              <a:buNone/>
            </a:pPr>
            <a:r>
              <a:rPr lang="en-US" sz="1100" dirty="0">
                <a:solidFill>
                  <a:srgbClr val="134E8E"/>
                </a:solidFill>
                <a:latin typeface="Calibri" pitchFamily="34" charset="0"/>
                <a:ea typeface="Calibri" pitchFamily="34" charset="-122"/>
                <a:cs typeface="Calibri" pitchFamily="34" charset="-120"/>
              </a:rPr>
              <a:t>1</a:t>
            </a:r>
            <a:endParaRPr lang="en-US" sz="1100" dirty="0"/>
          </a:p>
        </p:txBody>
      </p:sp>
      <p:sp>
        <p:nvSpPr>
          <p:cNvPr id="78" name="Shape 76"/>
          <p:cNvSpPr/>
          <p:nvPr/>
        </p:nvSpPr>
        <p:spPr>
          <a:xfrm>
            <a:off x="6702552" y="3483864"/>
            <a:ext cx="658368" cy="466344"/>
          </a:xfrm>
          <a:prstGeom prst="rect">
            <a:avLst/>
          </a:prstGeom>
          <a:solidFill>
            <a:srgbClr val="F7F8F0"/>
          </a:solidFill>
          <a:ln w="12700">
            <a:solidFill>
              <a:srgbClr val="DDE6F0"/>
            </a:solidFill>
            <a:prstDash val="solid"/>
          </a:ln>
        </p:spPr>
      </p:sp>
      <p:sp>
        <p:nvSpPr>
          <p:cNvPr id="79" name="Text 77"/>
          <p:cNvSpPr/>
          <p:nvPr/>
        </p:nvSpPr>
        <p:spPr>
          <a:xfrm>
            <a:off x="6748272" y="3511296"/>
            <a:ext cx="566928" cy="411480"/>
          </a:xfrm>
          <a:prstGeom prst="rect">
            <a:avLst/>
          </a:prstGeom>
          <a:noFill/>
          <a:ln/>
        </p:spPr>
        <p:txBody>
          <a:bodyPr wrap="square" lIns="0" tIns="0" rIns="0" bIns="0" rtlCol="0" anchor="ctr"/>
          <a:lstStyle/>
          <a:p>
            <a:pPr algn="ctr" indent="0" marL="0">
              <a:buNone/>
            </a:pPr>
            <a:r>
              <a:rPr lang="en-US" sz="1300" b="1" dirty="0">
                <a:solidFill>
                  <a:srgbClr val="134E8E"/>
                </a:solidFill>
                <a:latin typeface="Calibri" pitchFamily="34" charset="0"/>
                <a:ea typeface="Calibri" pitchFamily="34" charset="-122"/>
                <a:cs typeface="Calibri" pitchFamily="34" charset="-120"/>
              </a:rPr>
              <a:t>8</a:t>
            </a:r>
            <a:endParaRPr lang="en-US" sz="1300" dirty="0"/>
          </a:p>
        </p:txBody>
      </p:sp>
      <p:sp>
        <p:nvSpPr>
          <p:cNvPr id="80" name="Shape 78"/>
          <p:cNvSpPr/>
          <p:nvPr/>
        </p:nvSpPr>
        <p:spPr>
          <a:xfrm>
            <a:off x="256032" y="3950208"/>
            <a:ext cx="2971800" cy="466344"/>
          </a:xfrm>
          <a:prstGeom prst="rect">
            <a:avLst/>
          </a:prstGeom>
          <a:solidFill>
            <a:srgbClr val="FFFFFF"/>
          </a:solidFill>
          <a:ln w="12700">
            <a:solidFill>
              <a:srgbClr val="DDE6F0"/>
            </a:solidFill>
            <a:prstDash val="solid"/>
          </a:ln>
        </p:spPr>
      </p:sp>
      <p:sp>
        <p:nvSpPr>
          <p:cNvPr id="81" name="Text 79"/>
          <p:cNvSpPr/>
          <p:nvPr/>
        </p:nvSpPr>
        <p:spPr>
          <a:xfrm>
            <a:off x="301752" y="3977640"/>
            <a:ext cx="2880360" cy="411480"/>
          </a:xfrm>
          <a:prstGeom prst="rect">
            <a:avLst/>
          </a:prstGeom>
          <a:noFill/>
          <a:ln/>
        </p:spPr>
        <p:txBody>
          <a:bodyPr wrap="square" lIns="0" tIns="0" rIns="0" bIns="0" rtlCol="0" anchor="ctr"/>
          <a:lstStyle/>
          <a:p>
            <a:pPr algn="l" indent="0" marL="0">
              <a:buNone/>
            </a:pPr>
            <a:r>
              <a:rPr lang="en-US" sz="900" dirty="0">
                <a:solidFill>
                  <a:srgbClr val="1A2E4A"/>
                </a:solidFill>
                <a:latin typeface="Calibri" pitchFamily="34" charset="0"/>
                <a:ea typeface="Calibri" pitchFamily="34" charset="-122"/>
                <a:cs typeface="Calibri" pitchFamily="34" charset="-120"/>
              </a:rPr>
              <a:t>Optimisation mobile + notifications</a:t>
            </a:r>
            <a:endParaRPr lang="en-US" sz="900" dirty="0"/>
          </a:p>
        </p:txBody>
      </p:sp>
      <p:sp>
        <p:nvSpPr>
          <p:cNvPr id="82" name="Shape 80"/>
          <p:cNvSpPr/>
          <p:nvPr/>
        </p:nvSpPr>
        <p:spPr>
          <a:xfrm>
            <a:off x="3227832" y="3950208"/>
            <a:ext cx="868680" cy="466344"/>
          </a:xfrm>
          <a:prstGeom prst="rect">
            <a:avLst/>
          </a:prstGeom>
          <a:solidFill>
            <a:srgbClr val="FFFFFF"/>
          </a:solidFill>
          <a:ln w="12700">
            <a:solidFill>
              <a:srgbClr val="DDE6F0"/>
            </a:solidFill>
            <a:prstDash val="solid"/>
          </a:ln>
        </p:spPr>
      </p:sp>
      <p:sp>
        <p:nvSpPr>
          <p:cNvPr id="83" name="Text 81"/>
          <p:cNvSpPr/>
          <p:nvPr/>
        </p:nvSpPr>
        <p:spPr>
          <a:xfrm>
            <a:off x="3273552" y="3977640"/>
            <a:ext cx="777240" cy="411480"/>
          </a:xfrm>
          <a:prstGeom prst="rect">
            <a:avLst/>
          </a:prstGeom>
          <a:noFill/>
          <a:ln/>
        </p:spPr>
        <p:txBody>
          <a:bodyPr wrap="square" lIns="0" tIns="0" rIns="0" bIns="0" rtlCol="0" anchor="ctr"/>
          <a:lstStyle/>
          <a:p>
            <a:pPr algn="ctr" indent="0" marL="0">
              <a:buNone/>
            </a:pPr>
            <a:r>
              <a:rPr lang="en-US" sz="1100" dirty="0">
                <a:solidFill>
                  <a:srgbClr val="134E8E"/>
                </a:solidFill>
                <a:latin typeface="Calibri" pitchFamily="34" charset="0"/>
                <a:ea typeface="Calibri" pitchFamily="34" charset="-122"/>
                <a:cs typeface="Calibri" pitchFamily="34" charset="-120"/>
              </a:rPr>
              <a:t>2</a:t>
            </a:r>
            <a:endParaRPr lang="en-US" sz="1100" dirty="0"/>
          </a:p>
        </p:txBody>
      </p:sp>
      <p:sp>
        <p:nvSpPr>
          <p:cNvPr id="84" name="Shape 82"/>
          <p:cNvSpPr/>
          <p:nvPr/>
        </p:nvSpPr>
        <p:spPr>
          <a:xfrm>
            <a:off x="4096512" y="3950208"/>
            <a:ext cx="868680" cy="466344"/>
          </a:xfrm>
          <a:prstGeom prst="rect">
            <a:avLst/>
          </a:prstGeom>
          <a:solidFill>
            <a:srgbClr val="FFFFFF"/>
          </a:solidFill>
          <a:ln w="12700">
            <a:solidFill>
              <a:srgbClr val="DDE6F0"/>
            </a:solidFill>
            <a:prstDash val="solid"/>
          </a:ln>
        </p:spPr>
      </p:sp>
      <p:sp>
        <p:nvSpPr>
          <p:cNvPr id="85" name="Text 83"/>
          <p:cNvSpPr/>
          <p:nvPr/>
        </p:nvSpPr>
        <p:spPr>
          <a:xfrm>
            <a:off x="4142232" y="3977640"/>
            <a:ext cx="777240" cy="411480"/>
          </a:xfrm>
          <a:prstGeom prst="rect">
            <a:avLst/>
          </a:prstGeom>
          <a:noFill/>
          <a:ln/>
        </p:spPr>
        <p:txBody>
          <a:bodyPr wrap="square" lIns="0" tIns="0" rIns="0" bIns="0" rtlCol="0" anchor="ctr"/>
          <a:lstStyle/>
          <a:p>
            <a:pPr algn="ctr" indent="0" marL="0">
              <a:buNone/>
            </a:pPr>
            <a:r>
              <a:rPr lang="en-US" sz="1100" dirty="0">
                <a:solidFill>
                  <a:srgbClr val="134E8E"/>
                </a:solidFill>
                <a:latin typeface="Calibri" pitchFamily="34" charset="0"/>
                <a:ea typeface="Calibri" pitchFamily="34" charset="-122"/>
                <a:cs typeface="Calibri" pitchFamily="34" charset="-120"/>
              </a:rPr>
              <a:t>1</a:t>
            </a:r>
            <a:endParaRPr lang="en-US" sz="1100" dirty="0"/>
          </a:p>
        </p:txBody>
      </p:sp>
      <p:sp>
        <p:nvSpPr>
          <p:cNvPr id="86" name="Shape 84"/>
          <p:cNvSpPr/>
          <p:nvPr/>
        </p:nvSpPr>
        <p:spPr>
          <a:xfrm>
            <a:off x="4965192" y="3950208"/>
            <a:ext cx="868680" cy="466344"/>
          </a:xfrm>
          <a:prstGeom prst="rect">
            <a:avLst/>
          </a:prstGeom>
          <a:solidFill>
            <a:srgbClr val="FFFFFF"/>
          </a:solidFill>
          <a:ln w="12700">
            <a:solidFill>
              <a:srgbClr val="DDE6F0"/>
            </a:solidFill>
            <a:prstDash val="solid"/>
          </a:ln>
        </p:spPr>
      </p:sp>
      <p:sp>
        <p:nvSpPr>
          <p:cNvPr id="87" name="Text 85"/>
          <p:cNvSpPr/>
          <p:nvPr/>
        </p:nvSpPr>
        <p:spPr>
          <a:xfrm>
            <a:off x="5010912" y="3977640"/>
            <a:ext cx="777240" cy="411480"/>
          </a:xfrm>
          <a:prstGeom prst="rect">
            <a:avLst/>
          </a:prstGeom>
          <a:noFill/>
          <a:ln/>
        </p:spPr>
        <p:txBody>
          <a:bodyPr wrap="square" lIns="0" tIns="0" rIns="0" bIns="0" rtlCol="0" anchor="ctr"/>
          <a:lstStyle/>
          <a:p>
            <a:pPr algn="ctr" indent="0" marL="0">
              <a:buNone/>
            </a:pPr>
            <a:r>
              <a:rPr lang="en-US" sz="1100" dirty="0">
                <a:solidFill>
                  <a:srgbClr val="134E8E"/>
                </a:solidFill>
                <a:latin typeface="Calibri" pitchFamily="34" charset="0"/>
                <a:ea typeface="Calibri" pitchFamily="34" charset="-122"/>
                <a:cs typeface="Calibri" pitchFamily="34" charset="-120"/>
              </a:rPr>
              <a:t>1</a:t>
            </a:r>
            <a:endParaRPr lang="en-US" sz="1100" dirty="0"/>
          </a:p>
        </p:txBody>
      </p:sp>
      <p:sp>
        <p:nvSpPr>
          <p:cNvPr id="88" name="Shape 86"/>
          <p:cNvSpPr/>
          <p:nvPr/>
        </p:nvSpPr>
        <p:spPr>
          <a:xfrm>
            <a:off x="5833872" y="3950208"/>
            <a:ext cx="868680" cy="466344"/>
          </a:xfrm>
          <a:prstGeom prst="rect">
            <a:avLst/>
          </a:prstGeom>
          <a:solidFill>
            <a:srgbClr val="FFFFFF"/>
          </a:solidFill>
          <a:ln w="12700">
            <a:solidFill>
              <a:srgbClr val="DDE6F0"/>
            </a:solidFill>
            <a:prstDash val="solid"/>
          </a:ln>
        </p:spPr>
      </p:sp>
      <p:sp>
        <p:nvSpPr>
          <p:cNvPr id="89" name="Text 87"/>
          <p:cNvSpPr/>
          <p:nvPr/>
        </p:nvSpPr>
        <p:spPr>
          <a:xfrm>
            <a:off x="5879592" y="3977640"/>
            <a:ext cx="777240" cy="411480"/>
          </a:xfrm>
          <a:prstGeom prst="rect">
            <a:avLst/>
          </a:prstGeom>
          <a:noFill/>
          <a:ln/>
        </p:spPr>
        <p:txBody>
          <a:bodyPr wrap="square" lIns="0" tIns="0" rIns="0" bIns="0" rtlCol="0" anchor="ctr"/>
          <a:lstStyle/>
          <a:p>
            <a:pPr algn="ctr" indent="0" marL="0">
              <a:buNone/>
            </a:pPr>
            <a:r>
              <a:rPr lang="en-US" sz="1100" dirty="0">
                <a:solidFill>
                  <a:srgbClr val="134E8E"/>
                </a:solidFill>
                <a:latin typeface="Calibri" pitchFamily="34" charset="0"/>
                <a:ea typeface="Calibri" pitchFamily="34" charset="-122"/>
                <a:cs typeface="Calibri" pitchFamily="34" charset="-120"/>
              </a:rPr>
              <a:t>1</a:t>
            </a:r>
            <a:endParaRPr lang="en-US" sz="1100" dirty="0"/>
          </a:p>
        </p:txBody>
      </p:sp>
      <p:sp>
        <p:nvSpPr>
          <p:cNvPr id="90" name="Shape 88"/>
          <p:cNvSpPr/>
          <p:nvPr/>
        </p:nvSpPr>
        <p:spPr>
          <a:xfrm>
            <a:off x="6702552" y="3950208"/>
            <a:ext cx="658368" cy="466344"/>
          </a:xfrm>
          <a:prstGeom prst="rect">
            <a:avLst/>
          </a:prstGeom>
          <a:solidFill>
            <a:srgbClr val="FFFFFF"/>
          </a:solidFill>
          <a:ln w="12700">
            <a:solidFill>
              <a:srgbClr val="DDE6F0"/>
            </a:solidFill>
            <a:prstDash val="solid"/>
          </a:ln>
        </p:spPr>
      </p:sp>
      <p:sp>
        <p:nvSpPr>
          <p:cNvPr id="91" name="Text 89"/>
          <p:cNvSpPr/>
          <p:nvPr/>
        </p:nvSpPr>
        <p:spPr>
          <a:xfrm>
            <a:off x="6748272" y="3977640"/>
            <a:ext cx="566928" cy="411480"/>
          </a:xfrm>
          <a:prstGeom prst="rect">
            <a:avLst/>
          </a:prstGeom>
          <a:noFill/>
          <a:ln/>
        </p:spPr>
        <p:txBody>
          <a:bodyPr wrap="square" lIns="0" tIns="0" rIns="0" bIns="0" rtlCol="0" anchor="ctr"/>
          <a:lstStyle/>
          <a:p>
            <a:pPr algn="ctr" indent="0" marL="0">
              <a:buNone/>
            </a:pPr>
            <a:r>
              <a:rPr lang="en-US" sz="1300" b="1" dirty="0">
                <a:solidFill>
                  <a:srgbClr val="134E8E"/>
                </a:solidFill>
                <a:latin typeface="Calibri" pitchFamily="34" charset="0"/>
                <a:ea typeface="Calibri" pitchFamily="34" charset="-122"/>
                <a:cs typeface="Calibri" pitchFamily="34" charset="-120"/>
              </a:rPr>
              <a:t>5</a:t>
            </a:r>
            <a:endParaRPr lang="en-US" sz="1300" dirty="0"/>
          </a:p>
        </p:txBody>
      </p:sp>
      <p:sp>
        <p:nvSpPr>
          <p:cNvPr id="92" name="Shape 90"/>
          <p:cNvSpPr/>
          <p:nvPr/>
        </p:nvSpPr>
        <p:spPr>
          <a:xfrm>
            <a:off x="7479792" y="1115568"/>
            <a:ext cx="1417320" cy="1234440"/>
          </a:xfrm>
          <a:prstGeom prst="rect">
            <a:avLst/>
          </a:prstGeom>
          <a:solidFill>
            <a:srgbClr val="FFFFFF"/>
          </a:solidFill>
          <a:ln w="12700">
            <a:solidFill>
              <a:srgbClr val="DDE6F0"/>
            </a:solidFill>
            <a:prstDash val="solid"/>
          </a:ln>
          <a:effectLst>
            <a:outerShdw sx="100000" sy="100000" kx="0" ky="0" algn="bl" rotWithShape="0" blurRad="101600" dist="38100" dir="8100000">
              <a:srgbClr val="000000">
                <a:alpha val="10000"/>
              </a:srgbClr>
            </a:outerShdw>
          </a:effectLst>
        </p:spPr>
      </p:sp>
      <p:sp>
        <p:nvSpPr>
          <p:cNvPr id="93" name="Shape 91"/>
          <p:cNvSpPr/>
          <p:nvPr/>
        </p:nvSpPr>
        <p:spPr>
          <a:xfrm>
            <a:off x="7479792" y="1115568"/>
            <a:ext cx="1417320" cy="292608"/>
          </a:xfrm>
          <a:prstGeom prst="rect">
            <a:avLst/>
          </a:prstGeom>
          <a:solidFill>
            <a:srgbClr val="134E8E"/>
          </a:solidFill>
          <a:ln w="12700">
            <a:solidFill>
              <a:srgbClr val="134E8E"/>
            </a:solidFill>
            <a:prstDash val="solid"/>
          </a:ln>
        </p:spPr>
      </p:sp>
      <p:sp>
        <p:nvSpPr>
          <p:cNvPr id="94" name="Text 92"/>
          <p:cNvSpPr/>
          <p:nvPr/>
        </p:nvSpPr>
        <p:spPr>
          <a:xfrm>
            <a:off x="7525512" y="1143000"/>
            <a:ext cx="1325880" cy="256032"/>
          </a:xfrm>
          <a:prstGeom prst="rect">
            <a:avLst/>
          </a:prstGeom>
          <a:noFill/>
          <a:ln/>
        </p:spPr>
        <p:txBody>
          <a:bodyPr wrap="square" lIns="0" tIns="0" rIns="0" bIns="0" rtlCol="0" anchor="ctr"/>
          <a:lstStyle/>
          <a:p>
            <a:pPr indent="0" marL="0">
              <a:buNone/>
            </a:pPr>
            <a:r>
              <a:rPr lang="en-US" sz="1000" b="1" dirty="0">
                <a:solidFill>
                  <a:srgbClr val="FFFFFF"/>
                </a:solidFill>
                <a:latin typeface="Calibri" pitchFamily="34" charset="0"/>
                <a:ea typeface="Calibri" pitchFamily="34" charset="-122"/>
                <a:cs typeface="Calibri" pitchFamily="34" charset="-120"/>
              </a:rPr>
              <a:t>KPI 1</a:t>
            </a:r>
            <a:endParaRPr lang="en-US" sz="1000" dirty="0"/>
          </a:p>
        </p:txBody>
      </p:sp>
      <p:sp>
        <p:nvSpPr>
          <p:cNvPr id="95" name="Text 93"/>
          <p:cNvSpPr/>
          <p:nvPr/>
        </p:nvSpPr>
        <p:spPr>
          <a:xfrm>
            <a:off x="7525512" y="1444752"/>
            <a:ext cx="1325880" cy="384048"/>
          </a:xfrm>
          <a:prstGeom prst="rect">
            <a:avLst/>
          </a:prstGeom>
          <a:noFill/>
          <a:ln/>
        </p:spPr>
        <p:txBody>
          <a:bodyPr wrap="square" lIns="0" tIns="0" rIns="0" bIns="0" rtlCol="0" anchor="ctr"/>
          <a:lstStyle/>
          <a:p>
            <a:pPr indent="0" marL="0">
              <a:lnSpc>
                <a:spcPct val="120000"/>
              </a:lnSpc>
              <a:buNone/>
            </a:pPr>
            <a:r>
              <a:rPr lang="en-US" sz="950" b="1" dirty="0">
                <a:solidFill>
                  <a:srgbClr val="1A2E4A"/>
                </a:solidFill>
                <a:latin typeface="Calibri" pitchFamily="34" charset="0"/>
                <a:ea typeface="Calibri" pitchFamily="34" charset="-122"/>
                <a:cs typeface="Calibri" pitchFamily="34" charset="-120"/>
              </a:rPr>
              <a:t>Précision segmentation auto</a:t>
            </a:r>
            <a:endParaRPr lang="en-US" sz="950" dirty="0"/>
          </a:p>
        </p:txBody>
      </p:sp>
      <p:sp>
        <p:nvSpPr>
          <p:cNvPr id="96" name="Text 94"/>
          <p:cNvSpPr/>
          <p:nvPr/>
        </p:nvSpPr>
        <p:spPr>
          <a:xfrm>
            <a:off x="7525512" y="1847088"/>
            <a:ext cx="1325880" cy="457200"/>
          </a:xfrm>
          <a:prstGeom prst="rect">
            <a:avLst/>
          </a:prstGeom>
          <a:noFill/>
          <a:ln/>
        </p:spPr>
        <p:txBody>
          <a:bodyPr wrap="square" lIns="0" tIns="0" rIns="0" bIns="0" rtlCol="0" anchor="ctr"/>
          <a:lstStyle/>
          <a:p>
            <a:pPr indent="0" marL="0">
              <a:lnSpc>
                <a:spcPct val="120000"/>
              </a:lnSpc>
              <a:buNone/>
            </a:pPr>
            <a:r>
              <a:rPr lang="en-US" sz="850" dirty="0">
                <a:solidFill>
                  <a:srgbClr val="6B7A8D"/>
                </a:solidFill>
                <a:latin typeface="Calibri" pitchFamily="34" charset="0"/>
                <a:ea typeface="Calibri" pitchFamily="34" charset="-122"/>
                <a:cs typeface="Calibri" pitchFamily="34" charset="-120"/>
              </a:rPr>
              <a:t>Dossiers validés sans modification par l'expert métier</a:t>
            </a:r>
            <a:endParaRPr lang="en-US" sz="850" dirty="0"/>
          </a:p>
        </p:txBody>
      </p:sp>
      <p:sp>
        <p:nvSpPr>
          <p:cNvPr id="97" name="Shape 95"/>
          <p:cNvSpPr/>
          <p:nvPr/>
        </p:nvSpPr>
        <p:spPr>
          <a:xfrm>
            <a:off x="7479792" y="2468880"/>
            <a:ext cx="1417320" cy="1234440"/>
          </a:xfrm>
          <a:prstGeom prst="rect">
            <a:avLst/>
          </a:prstGeom>
          <a:solidFill>
            <a:srgbClr val="FFFFFF"/>
          </a:solidFill>
          <a:ln w="12700">
            <a:solidFill>
              <a:srgbClr val="DDE6F0"/>
            </a:solidFill>
            <a:prstDash val="solid"/>
          </a:ln>
          <a:effectLst>
            <a:outerShdw sx="100000" sy="100000" kx="0" ky="0" algn="bl" rotWithShape="0" blurRad="101600" dist="38100" dir="8100000">
              <a:srgbClr val="000000">
                <a:alpha val="10000"/>
              </a:srgbClr>
            </a:outerShdw>
          </a:effectLst>
        </p:spPr>
      </p:sp>
      <p:sp>
        <p:nvSpPr>
          <p:cNvPr id="98" name="Shape 96"/>
          <p:cNvSpPr/>
          <p:nvPr/>
        </p:nvSpPr>
        <p:spPr>
          <a:xfrm>
            <a:off x="7479792" y="2468880"/>
            <a:ext cx="1417320" cy="292608"/>
          </a:xfrm>
          <a:prstGeom prst="rect">
            <a:avLst/>
          </a:prstGeom>
          <a:solidFill>
            <a:srgbClr val="C00707"/>
          </a:solidFill>
          <a:ln w="12700">
            <a:solidFill>
              <a:srgbClr val="C00707"/>
            </a:solidFill>
            <a:prstDash val="solid"/>
          </a:ln>
        </p:spPr>
      </p:sp>
      <p:sp>
        <p:nvSpPr>
          <p:cNvPr id="99" name="Text 97"/>
          <p:cNvSpPr/>
          <p:nvPr/>
        </p:nvSpPr>
        <p:spPr>
          <a:xfrm>
            <a:off x="7525512" y="2496312"/>
            <a:ext cx="1325880" cy="256032"/>
          </a:xfrm>
          <a:prstGeom prst="rect">
            <a:avLst/>
          </a:prstGeom>
          <a:noFill/>
          <a:ln/>
        </p:spPr>
        <p:txBody>
          <a:bodyPr wrap="square" lIns="0" tIns="0" rIns="0" bIns="0" rtlCol="0" anchor="ctr"/>
          <a:lstStyle/>
          <a:p>
            <a:pPr indent="0" marL="0">
              <a:buNone/>
            </a:pPr>
            <a:r>
              <a:rPr lang="en-US" sz="1000" b="1" dirty="0">
                <a:solidFill>
                  <a:srgbClr val="FFFFFF"/>
                </a:solidFill>
                <a:latin typeface="Calibri" pitchFamily="34" charset="0"/>
                <a:ea typeface="Calibri" pitchFamily="34" charset="-122"/>
                <a:cs typeface="Calibri" pitchFamily="34" charset="-120"/>
              </a:rPr>
              <a:t>KPI 2</a:t>
            </a:r>
            <a:endParaRPr lang="en-US" sz="1000" dirty="0"/>
          </a:p>
        </p:txBody>
      </p:sp>
      <p:sp>
        <p:nvSpPr>
          <p:cNvPr id="100" name="Text 98"/>
          <p:cNvSpPr/>
          <p:nvPr/>
        </p:nvSpPr>
        <p:spPr>
          <a:xfrm>
            <a:off x="7525512" y="2798064"/>
            <a:ext cx="1325880" cy="384048"/>
          </a:xfrm>
          <a:prstGeom prst="rect">
            <a:avLst/>
          </a:prstGeom>
          <a:noFill/>
          <a:ln/>
        </p:spPr>
        <p:txBody>
          <a:bodyPr wrap="square" lIns="0" tIns="0" rIns="0" bIns="0" rtlCol="0" anchor="ctr"/>
          <a:lstStyle/>
          <a:p>
            <a:pPr indent="0" marL="0">
              <a:lnSpc>
                <a:spcPct val="120000"/>
              </a:lnSpc>
              <a:buNone/>
            </a:pPr>
            <a:r>
              <a:rPr lang="en-US" sz="950" b="1" dirty="0">
                <a:solidFill>
                  <a:srgbClr val="1A2E4A"/>
                </a:solidFill>
                <a:latin typeface="Calibri" pitchFamily="34" charset="0"/>
                <a:ea typeface="Calibri" pitchFamily="34" charset="-122"/>
                <a:cs typeface="Calibri" pitchFamily="34" charset="-120"/>
              </a:rPr>
              <a:t>Écart moyen prévision budgétaire</a:t>
            </a:r>
            <a:endParaRPr lang="en-US" sz="950" dirty="0"/>
          </a:p>
        </p:txBody>
      </p:sp>
      <p:sp>
        <p:nvSpPr>
          <p:cNvPr id="101" name="Text 99"/>
          <p:cNvSpPr/>
          <p:nvPr/>
        </p:nvSpPr>
        <p:spPr>
          <a:xfrm>
            <a:off x="7525512" y="3200400"/>
            <a:ext cx="1325880" cy="457200"/>
          </a:xfrm>
          <a:prstGeom prst="rect">
            <a:avLst/>
          </a:prstGeom>
          <a:noFill/>
          <a:ln/>
        </p:spPr>
        <p:txBody>
          <a:bodyPr wrap="square" lIns="0" tIns="0" rIns="0" bIns="0" rtlCol="0" anchor="ctr"/>
          <a:lstStyle/>
          <a:p>
            <a:pPr indent="0" marL="0">
              <a:lnSpc>
                <a:spcPct val="120000"/>
              </a:lnSpc>
              <a:buNone/>
            </a:pPr>
            <a:r>
              <a:rPr lang="en-US" sz="850" dirty="0">
                <a:solidFill>
                  <a:srgbClr val="6B7A8D"/>
                </a:solidFill>
                <a:latin typeface="Calibri" pitchFamily="34" charset="0"/>
                <a:ea typeface="Calibri" pitchFamily="34" charset="-122"/>
                <a:cs typeface="Calibri" pitchFamily="34" charset="-120"/>
              </a:rPr>
              <a:t>% d'écart flux simulés vs versements réels</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34E8E"/>
        </a:solidFill>
      </p:bgPr>
    </p:bg>
    <p:spTree>
      <p:nvGrpSpPr>
        <p:cNvPr id="1" name=""/>
        <p:cNvGrpSpPr/>
        <p:nvPr/>
      </p:nvGrpSpPr>
      <p:grpSpPr>
        <a:xfrm>
          <a:off x="0" y="0"/>
          <a:ext cx="0" cy="0"/>
          <a:chOff x="0" y="0"/>
          <a:chExt cx="0" cy="0"/>
        </a:xfrm>
      </p:grpSpPr>
      <p:sp>
        <p:nvSpPr>
          <p:cNvPr id="2" name="Shape 0"/>
          <p:cNvSpPr/>
          <p:nvPr/>
        </p:nvSpPr>
        <p:spPr>
          <a:xfrm>
            <a:off x="6217920" y="0"/>
            <a:ext cx="2926080" cy="5143500"/>
          </a:xfrm>
          <a:prstGeom prst="rect">
            <a:avLst/>
          </a:prstGeom>
          <a:solidFill>
            <a:srgbClr val="0D3F75"/>
          </a:solidFill>
          <a:ln w="12700">
            <a:solidFill>
              <a:srgbClr val="0D3F75"/>
            </a:solidFill>
            <a:prstDash val="solid"/>
          </a:ln>
        </p:spPr>
      </p:sp>
      <p:sp>
        <p:nvSpPr>
          <p:cNvPr id="3" name="Shape 1"/>
          <p:cNvSpPr/>
          <p:nvPr/>
        </p:nvSpPr>
        <p:spPr>
          <a:xfrm>
            <a:off x="6217920" y="0"/>
            <a:ext cx="164592" cy="5143500"/>
          </a:xfrm>
          <a:prstGeom prst="rect">
            <a:avLst/>
          </a:prstGeom>
          <a:solidFill>
            <a:srgbClr val="C00707"/>
          </a:solidFill>
          <a:ln w="12700">
            <a:solidFill>
              <a:srgbClr val="C00707"/>
            </a:solidFill>
            <a:prstDash val="solid"/>
          </a:ln>
        </p:spPr>
      </p:sp>
      <p:sp>
        <p:nvSpPr>
          <p:cNvPr id="4" name="Shape 2"/>
          <p:cNvSpPr/>
          <p:nvPr/>
        </p:nvSpPr>
        <p:spPr>
          <a:xfrm>
            <a:off x="6675120" y="2011680"/>
            <a:ext cx="2194560" cy="54864"/>
          </a:xfrm>
          <a:prstGeom prst="rect">
            <a:avLst/>
          </a:prstGeom>
          <a:solidFill>
            <a:srgbClr val="7AAACE"/>
          </a:solidFill>
          <a:ln w="12700">
            <a:solidFill>
              <a:srgbClr val="7AAACE"/>
            </a:solidFill>
            <a:prstDash val="solid"/>
          </a:ln>
        </p:spPr>
      </p:sp>
      <p:sp>
        <p:nvSpPr>
          <p:cNvPr id="5" name="Shape 3"/>
          <p:cNvSpPr/>
          <p:nvPr/>
        </p:nvSpPr>
        <p:spPr>
          <a:xfrm>
            <a:off x="6675120" y="2194560"/>
            <a:ext cx="1463040" cy="54864"/>
          </a:xfrm>
          <a:prstGeom prst="rect">
            <a:avLst/>
          </a:prstGeom>
          <a:solidFill>
            <a:srgbClr val="7AAACE"/>
          </a:solidFill>
          <a:ln w="12700">
            <a:solidFill>
              <a:srgbClr val="7AAACE"/>
            </a:solidFill>
            <a:prstDash val="solid"/>
          </a:ln>
        </p:spPr>
      </p:sp>
      <p:sp>
        <p:nvSpPr>
          <p:cNvPr id="6" name="Text 4"/>
          <p:cNvSpPr/>
          <p:nvPr/>
        </p:nvSpPr>
        <p:spPr>
          <a:xfrm>
            <a:off x="502920" y="1188720"/>
            <a:ext cx="5394960" cy="320040"/>
          </a:xfrm>
          <a:prstGeom prst="rect">
            <a:avLst/>
          </a:prstGeom>
          <a:noFill/>
          <a:ln/>
        </p:spPr>
        <p:txBody>
          <a:bodyPr wrap="square" lIns="0" tIns="0" rIns="0" bIns="0" rtlCol="0" anchor="ctr"/>
          <a:lstStyle/>
          <a:p>
            <a:pPr indent="0" marL="0">
              <a:buNone/>
            </a:pPr>
            <a:r>
              <a:rPr lang="en-US" sz="1000" b="1" spc="300" kern="0" dirty="0">
                <a:solidFill>
                  <a:srgbClr val="7AAACE"/>
                </a:solidFill>
                <a:latin typeface="Calibri" pitchFamily="34" charset="0"/>
                <a:ea typeface="Calibri" pitchFamily="34" charset="-122"/>
                <a:cs typeface="Calibri" pitchFamily="34" charset="-120"/>
              </a:rPr>
              <a:t>PROCHAINES ÉTAPES</a:t>
            </a:r>
            <a:endParaRPr lang="en-US" sz="1000" dirty="0"/>
          </a:p>
        </p:txBody>
      </p:sp>
      <p:sp>
        <p:nvSpPr>
          <p:cNvPr id="7" name="Text 5"/>
          <p:cNvSpPr/>
          <p:nvPr/>
        </p:nvSpPr>
        <p:spPr>
          <a:xfrm>
            <a:off x="502920" y="1600200"/>
            <a:ext cx="5394960" cy="1371600"/>
          </a:xfrm>
          <a:prstGeom prst="rect">
            <a:avLst/>
          </a:prstGeom>
          <a:noFill/>
          <a:ln/>
        </p:spPr>
        <p:txBody>
          <a:bodyPr wrap="square" lIns="0" tIns="0" rIns="0" bIns="0" rtlCol="0" anchor="ctr"/>
          <a:lstStyle/>
          <a:p>
            <a:pPr indent="0" marL="0">
              <a:buNone/>
            </a:pPr>
            <a:r>
              <a:rPr lang="en-US" sz="3600" b="1" dirty="0">
                <a:solidFill>
                  <a:srgbClr val="FFFFFF"/>
                </a:solidFill>
                <a:latin typeface="Georgia" pitchFamily="34" charset="0"/>
                <a:ea typeface="Georgia" pitchFamily="34" charset="-122"/>
                <a:cs typeface="Georgia" pitchFamily="34" charset="-120"/>
              </a:rPr>
              <a:t>Vers la conception</a:t>
            </a:r>
            <a:endParaRPr lang="en-US" sz="3600" dirty="0"/>
          </a:p>
          <a:p>
            <a:pPr indent="0" marL="0">
              <a:buNone/>
            </a:pPr>
            <a:r>
              <a:rPr lang="en-US" sz="3600" b="1" dirty="0">
                <a:solidFill>
                  <a:srgbClr val="FFFFFF"/>
                </a:solidFill>
                <a:latin typeface="Georgia" pitchFamily="34" charset="0"/>
                <a:ea typeface="Georgia" pitchFamily="34" charset="-122"/>
                <a:cs typeface="Georgia" pitchFamily="34" charset="-120"/>
              </a:rPr>
              <a:t>de la solution</a:t>
            </a:r>
            <a:endParaRPr lang="en-US" sz="3600" dirty="0"/>
          </a:p>
        </p:txBody>
      </p:sp>
      <p:sp>
        <p:nvSpPr>
          <p:cNvPr id="8" name="Shape 6"/>
          <p:cNvSpPr/>
          <p:nvPr/>
        </p:nvSpPr>
        <p:spPr>
          <a:xfrm>
            <a:off x="502920" y="3063240"/>
            <a:ext cx="548640" cy="64008"/>
          </a:xfrm>
          <a:prstGeom prst="rect">
            <a:avLst/>
          </a:prstGeom>
          <a:solidFill>
            <a:srgbClr val="C00707"/>
          </a:solidFill>
          <a:ln w="12700">
            <a:solidFill>
              <a:srgbClr val="C00707"/>
            </a:solidFill>
            <a:prstDash val="solid"/>
          </a:ln>
        </p:spPr>
      </p:sp>
      <p:sp>
        <p:nvSpPr>
          <p:cNvPr id="9" name="Shape 7"/>
          <p:cNvSpPr/>
          <p:nvPr/>
        </p:nvSpPr>
        <p:spPr>
          <a:xfrm>
            <a:off x="502920" y="3273552"/>
            <a:ext cx="201168" cy="201168"/>
          </a:xfrm>
          <a:prstGeom prst="ellipse">
            <a:avLst/>
          </a:prstGeom>
          <a:solidFill>
            <a:srgbClr val="C00707"/>
          </a:solidFill>
          <a:ln w="12700">
            <a:solidFill>
              <a:srgbClr val="C00707"/>
            </a:solidFill>
            <a:prstDash val="solid"/>
          </a:ln>
        </p:spPr>
      </p:sp>
      <p:sp>
        <p:nvSpPr>
          <p:cNvPr id="10" name="Text 8"/>
          <p:cNvSpPr/>
          <p:nvPr/>
        </p:nvSpPr>
        <p:spPr>
          <a:xfrm>
            <a:off x="822960" y="3227832"/>
            <a:ext cx="4846320" cy="320040"/>
          </a:xfrm>
          <a:prstGeom prst="rect">
            <a:avLst/>
          </a:prstGeom>
          <a:noFill/>
          <a:ln/>
        </p:spPr>
        <p:txBody>
          <a:bodyPr wrap="square" lIns="0" tIns="0" rIns="0" bIns="0" rtlCol="0" anchor="ctr"/>
          <a:lstStyle/>
          <a:p>
            <a:pPr indent="0" marL="0">
              <a:buNone/>
            </a:pPr>
            <a:r>
              <a:rPr lang="en-US" sz="1200" dirty="0">
                <a:solidFill>
                  <a:srgbClr val="7AAACE"/>
                </a:solidFill>
                <a:latin typeface="Calibri" pitchFamily="34" charset="0"/>
                <a:ea typeface="Calibri" pitchFamily="34" charset="-122"/>
                <a:cs typeface="Calibri" pitchFamily="34" charset="-120"/>
              </a:rPr>
              <a:t>Prototypage des wireframes</a:t>
            </a:r>
            <a:endParaRPr lang="en-US" sz="1200" dirty="0"/>
          </a:p>
        </p:txBody>
      </p:sp>
      <p:sp>
        <p:nvSpPr>
          <p:cNvPr id="11" name="Shape 9"/>
          <p:cNvSpPr/>
          <p:nvPr/>
        </p:nvSpPr>
        <p:spPr>
          <a:xfrm>
            <a:off x="502920" y="3685032"/>
            <a:ext cx="201168" cy="201168"/>
          </a:xfrm>
          <a:prstGeom prst="ellipse">
            <a:avLst/>
          </a:prstGeom>
          <a:solidFill>
            <a:srgbClr val="C00707"/>
          </a:solidFill>
          <a:ln w="12700">
            <a:solidFill>
              <a:srgbClr val="C00707"/>
            </a:solidFill>
            <a:prstDash val="solid"/>
          </a:ln>
        </p:spPr>
      </p:sp>
      <p:sp>
        <p:nvSpPr>
          <p:cNvPr id="12" name="Text 10"/>
          <p:cNvSpPr/>
          <p:nvPr/>
        </p:nvSpPr>
        <p:spPr>
          <a:xfrm>
            <a:off x="822960" y="3639312"/>
            <a:ext cx="4846320" cy="320040"/>
          </a:xfrm>
          <a:prstGeom prst="rect">
            <a:avLst/>
          </a:prstGeom>
          <a:noFill/>
          <a:ln/>
        </p:spPr>
        <p:txBody>
          <a:bodyPr wrap="square" lIns="0" tIns="0" rIns="0" bIns="0" rtlCol="0" anchor="ctr"/>
          <a:lstStyle/>
          <a:p>
            <a:pPr indent="0" marL="0">
              <a:buNone/>
            </a:pPr>
            <a:r>
              <a:rPr lang="en-US" sz="1200" dirty="0">
                <a:solidFill>
                  <a:srgbClr val="7AAACE"/>
                </a:solidFill>
                <a:latin typeface="Calibri" pitchFamily="34" charset="0"/>
                <a:ea typeface="Calibri" pitchFamily="34" charset="-122"/>
                <a:cs typeface="Calibri" pitchFamily="34" charset="-120"/>
              </a:rPr>
              <a:t>Tests utilisateurs (Sophie, Arnaud, Mariam)</a:t>
            </a:r>
            <a:endParaRPr lang="en-US" sz="1200" dirty="0"/>
          </a:p>
        </p:txBody>
      </p:sp>
      <p:sp>
        <p:nvSpPr>
          <p:cNvPr id="13" name="Shape 11"/>
          <p:cNvSpPr/>
          <p:nvPr/>
        </p:nvSpPr>
        <p:spPr>
          <a:xfrm>
            <a:off x="502920" y="4096512"/>
            <a:ext cx="201168" cy="201168"/>
          </a:xfrm>
          <a:prstGeom prst="ellipse">
            <a:avLst/>
          </a:prstGeom>
          <a:solidFill>
            <a:srgbClr val="C00707"/>
          </a:solidFill>
          <a:ln w="12700">
            <a:solidFill>
              <a:srgbClr val="C00707"/>
            </a:solidFill>
            <a:prstDash val="solid"/>
          </a:ln>
        </p:spPr>
      </p:sp>
      <p:sp>
        <p:nvSpPr>
          <p:cNvPr id="14" name="Text 12"/>
          <p:cNvSpPr/>
          <p:nvPr/>
        </p:nvSpPr>
        <p:spPr>
          <a:xfrm>
            <a:off x="822960" y="4050792"/>
            <a:ext cx="4846320" cy="320040"/>
          </a:xfrm>
          <a:prstGeom prst="rect">
            <a:avLst/>
          </a:prstGeom>
          <a:noFill/>
          <a:ln/>
        </p:spPr>
        <p:txBody>
          <a:bodyPr wrap="square" lIns="0" tIns="0" rIns="0" bIns="0" rtlCol="0" anchor="ctr"/>
          <a:lstStyle/>
          <a:p>
            <a:pPr indent="0" marL="0">
              <a:buNone/>
            </a:pPr>
            <a:r>
              <a:rPr lang="en-US" sz="1200" dirty="0">
                <a:solidFill>
                  <a:srgbClr val="7AAACE"/>
                </a:solidFill>
                <a:latin typeface="Calibri" pitchFamily="34" charset="0"/>
                <a:ea typeface="Calibri" pitchFamily="34" charset="-122"/>
                <a:cs typeface="Calibri" pitchFamily="34" charset="-120"/>
              </a:rPr>
              <a:t>Itération sur les 2 fonctionnalités prioritaires</a:t>
            </a:r>
            <a:endParaRPr lang="en-US" sz="1200" dirty="0"/>
          </a:p>
        </p:txBody>
      </p:sp>
      <p:sp>
        <p:nvSpPr>
          <p:cNvPr id="15" name="Shape 13"/>
          <p:cNvSpPr/>
          <p:nvPr/>
        </p:nvSpPr>
        <p:spPr>
          <a:xfrm>
            <a:off x="0" y="4956048"/>
            <a:ext cx="9144000" cy="182880"/>
          </a:xfrm>
          <a:prstGeom prst="rect">
            <a:avLst/>
          </a:prstGeom>
          <a:solidFill>
            <a:srgbClr val="C00707"/>
          </a:solidFill>
          <a:ln w="12700">
            <a:solidFill>
              <a:srgbClr val="C00707"/>
            </a:solidFill>
            <a:prstDash val="solid"/>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Analyse APD – AFD</dc:title>
  <dc:subject>PptxGenJS Presentation</dc:subject>
  <dc:creator>PptxGenJS</dc:creator>
  <cp:lastModifiedBy>PptxGenJS</cp:lastModifiedBy>
  <cp:revision>1</cp:revision>
  <dcterms:created xsi:type="dcterms:W3CDTF">2026-02-23T15:05:31Z</dcterms:created>
  <dcterms:modified xsi:type="dcterms:W3CDTF">2026-02-23T15:05:31Z</dcterms:modified>
</cp:coreProperties>
</file>