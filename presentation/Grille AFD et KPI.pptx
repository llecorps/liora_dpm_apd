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p>
            <a:pPr indent="0" algn="ctr">
              <a:buNone/>
            </a:pPr>
            <a:endParaRPr lang="fr-FR" sz="4400" b="0" u="none" strike="noStrike">
              <a:solidFill>
                <a:srgbClr val="000000"/>
              </a:solidFill>
              <a:effectLst/>
              <a:uFillTx/>
              <a:latin typeface="Arial"/>
            </a:endParaRPr>
          </a:p>
        </p:txBody>
      </p:sp>
      <p:sp>
        <p:nvSpPr>
          <p:cNvPr id="8" name="PlaceHolder 2"/>
          <p:cNvSpPr>
            <a:spLocks noGrp="1"/>
          </p:cNvSpPr>
          <p:nvPr>
            <p:ph type="subTitle"/>
          </p:nvPr>
        </p:nvSpPr>
        <p:spPr>
          <a:xfrm>
            <a:off x="504000" y="1326600"/>
            <a:ext cx="9071640" cy="3288240"/>
          </a:xfrm>
          <a:prstGeom prst="rect">
            <a:avLst/>
          </a:prstGeom>
          <a:noFill/>
          <a:ln w="0">
            <a:noFill/>
          </a:ln>
        </p:spPr>
        <p:txBody>
          <a:bodyPr lIns="0" tIns="0" rIns="0" bIns="0" anchor="ctr">
            <a:spAutoFit/>
          </a:bodyPr>
          <a:p>
            <a:pPr indent="0" algn="ctr">
              <a:buNone/>
            </a:pPr>
            <a:endParaRPr lang="fr-FR"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290BB90-9A5D-4387-A076-5A9D26851FCB}" type="slidenum">
              <a:t>&lt;#&gt;</a:t>
            </a:fld>
          </a:p>
        </p:txBody>
      </p:sp>
      <p:sp>
        <p:nvSpPr>
          <p:cNvPr id="6" name="PlaceHolder 5"/>
          <p:cNvSpPr>
            <a:spLocks noGrp="1"/>
          </p:cNvSpPr>
          <p:nvPr>
            <p:ph type="dt" idx="1"/>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p>
            <a:pPr indent="0" algn="ctr">
              <a:buNone/>
            </a:pPr>
            <a:endParaRPr lang="fr-FR" sz="4400" b="0" u="none" strike="noStrike">
              <a:solidFill>
                <a:srgbClr val="000000"/>
              </a:solidFill>
              <a:effectLst/>
              <a:uFillTx/>
              <a:latin typeface="Arial"/>
            </a:endParaRPr>
          </a:p>
        </p:txBody>
      </p:sp>
      <p:sp>
        <p:nvSpPr>
          <p:cNvPr id="10" name="PlaceHolder 2"/>
          <p:cNvSpPr>
            <a:spLocks noGrp="1"/>
          </p:cNvSpPr>
          <p:nvPr>
            <p:ph/>
          </p:nvPr>
        </p:nvSpPr>
        <p:spPr>
          <a:xfrm>
            <a:off x="504000" y="1326600"/>
            <a:ext cx="9071640" cy="3288240"/>
          </a:xfrm>
          <a:prstGeom prst="rect">
            <a:avLst/>
          </a:prstGeom>
          <a:noFill/>
          <a:ln w="0">
            <a:noFill/>
          </a:ln>
        </p:spPr>
        <p:txBody>
          <a:bodyPr lIns="0" tIns="0" rIns="0" bIns="0" anchor="t">
            <a:normAutofit/>
          </a:bodyPr>
          <a:p>
            <a:pPr indent="0" algn="l">
              <a:spcBef>
                <a:spcPts val="1417"/>
              </a:spcBef>
              <a:buNone/>
            </a:pPr>
            <a:endParaRPr lang="fr-FR"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372B5DA-DF9F-4066-9912-207DDDEB4DB4}" type="slidenum">
              <a:t>&lt;#&gt;</a:t>
            </a:fld>
          </a:p>
        </p:txBody>
      </p:sp>
      <p:sp>
        <p:nvSpPr>
          <p:cNvPr id="6" name="PlaceHolder 5"/>
          <p:cNvSpPr>
            <a:spLocks noGrp="1"/>
          </p:cNvSpPr>
          <p:nvPr>
            <p:ph type="dt" idx="1"/>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lvl1pPr indent="0" algn="ctr">
              <a:buNone/>
              <a:defRPr lang="fr-FR" sz="4400" b="0" u="none" strike="noStrike">
                <a:solidFill>
                  <a:srgbClr val="000000"/>
                </a:solidFill>
                <a:effectLst/>
                <a:uFillTx/>
                <a:latin typeface="Arial"/>
              </a:defRPr>
            </a:lvl1pPr>
          </a:lstStyle>
          <a:p>
            <a:pPr indent="0" algn="ctr">
              <a:buNone/>
            </a:pPr>
            <a:r>
              <a:rPr lang="fr-FR" sz="4400" b="0" u="none" strike="noStrike">
                <a:solidFill>
                  <a:srgbClr val="000000"/>
                </a:solidFill>
                <a:effectLst/>
                <a:uFillTx/>
                <a:latin typeface="Arial"/>
              </a:rPr>
              <a:t>Cliquez pour éditer le format du texte-titre</a:t>
            </a:r>
            <a:endParaRPr lang="fr-FR" sz="4400" b="0" u="none" strike="noStrike">
              <a:solidFill>
                <a:srgbClr val="000000"/>
              </a:solidFill>
              <a:effectLst/>
              <a:uFillTx/>
              <a:latin typeface="Arial"/>
            </a:endParaRP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fr-FR"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fr-FR"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fr-FR"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fr-FR"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fr-FR"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fr-FR"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fr-FR" sz="3200" b="0" u="none" strike="noStrike">
                <a:solidFill>
                  <a:srgbClr val="000000"/>
                </a:solidFill>
                <a:effectLst/>
                <a:uFillTx/>
                <a:latin typeface="Arial"/>
              </a:rPr>
              <a:t>Cliquez pour éditer le format du plan de texte</a:t>
            </a:r>
            <a:endParaRPr lang="fr-FR"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fr-FR" sz="2800" b="0" u="none" strike="noStrike">
                <a:solidFill>
                  <a:srgbClr val="000000"/>
                </a:solidFill>
                <a:effectLst/>
                <a:uFillTx/>
                <a:latin typeface="Arial"/>
              </a:rPr>
              <a:t>Second niveau de plan</a:t>
            </a:r>
            <a:endParaRPr lang="fr-FR"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fr-FR" sz="2400" b="0" u="none" strike="noStrike">
                <a:solidFill>
                  <a:srgbClr val="000000"/>
                </a:solidFill>
                <a:effectLst/>
                <a:uFillTx/>
                <a:latin typeface="Arial"/>
              </a:rPr>
              <a:t>Troisième niveau de plan</a:t>
            </a:r>
            <a:endParaRPr lang="fr-FR"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fr-FR" sz="2000" b="0" u="none" strike="noStrike">
                <a:solidFill>
                  <a:srgbClr val="000000"/>
                </a:solidFill>
                <a:effectLst/>
                <a:uFillTx/>
                <a:latin typeface="Arial"/>
              </a:rPr>
              <a:t>Quatrième niveau de plan</a:t>
            </a:r>
            <a:endParaRPr lang="fr-FR"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fr-FR" sz="2000" b="0" u="none" strike="noStrike">
                <a:solidFill>
                  <a:srgbClr val="000000"/>
                </a:solidFill>
                <a:effectLst/>
                <a:uFillTx/>
                <a:latin typeface="Arial"/>
              </a:rPr>
              <a:t>Cinquième niveau de plan</a:t>
            </a:r>
            <a:endParaRPr lang="fr-FR"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fr-FR" sz="2000" b="0" u="none" strike="noStrike">
                <a:solidFill>
                  <a:srgbClr val="000000"/>
                </a:solidFill>
                <a:effectLst/>
                <a:uFillTx/>
                <a:latin typeface="Arial"/>
              </a:rPr>
              <a:t>Sixième niveau de plan</a:t>
            </a:r>
            <a:endParaRPr lang="fr-FR"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fr-FR" sz="2000" b="0" u="none" strike="noStrike">
                <a:solidFill>
                  <a:srgbClr val="000000"/>
                </a:solidFill>
                <a:effectLst/>
                <a:uFillTx/>
                <a:latin typeface="Arial"/>
              </a:rPr>
              <a:t>Septième niveau de plan</a:t>
            </a:r>
            <a:endParaRPr lang="fr-FR" sz="2000" b="0" u="none" strike="noStrike">
              <a:solidFill>
                <a:srgbClr val="000000"/>
              </a:solidFill>
              <a:effectLst/>
              <a:uFillTx/>
              <a:latin typeface="Arial"/>
            </a:endParaRPr>
          </a:p>
        </p:txBody>
      </p:sp>
      <p:sp>
        <p:nvSpPr>
          <p:cNvPr id="4" name="PlaceHolder 3"/>
          <p:cNvSpPr>
            <a:spLocks noGrp="1"/>
          </p:cNvSpPr>
          <p:nvPr>
            <p:ph type="dt" idx="1"/>
          </p:nvPr>
        </p:nvSpPr>
        <p:spPr>
          <a:xfrm>
            <a:off x="504000" y="5165280"/>
            <a:ext cx="2348280" cy="390600"/>
          </a:xfrm>
          <a:prstGeom prst="rect">
            <a:avLst/>
          </a:prstGeom>
          <a:noFill/>
          <a:ln w="0">
            <a:noFill/>
          </a:ln>
        </p:spPr>
        <p:txBody>
          <a:bodyPr lIns="0" tIns="0" rIns="0" bIns="0" anchor="t">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3447360" y="5165280"/>
            <a:ext cx="3195000" cy="390600"/>
          </a:xfrm>
          <a:prstGeom prst="rect">
            <a:avLst/>
          </a:prstGeom>
          <a:noFill/>
          <a:ln w="0">
            <a:noFill/>
          </a:ln>
        </p:spPr>
        <p:txBody>
          <a:bodyPr lIns="0" tIns="0" rIns="0" bIns="0" anchor="t">
            <a:noAutofit/>
          </a:bodyPr>
          <a:lstStyle>
            <a:lvl1pPr indent="0" algn="ctr">
              <a:buNone/>
              <a:defRPr lang="fr-FR" sz="1400" b="0" u="none" strike="noStrike">
                <a:solidFill>
                  <a:srgbClr val="000000"/>
                </a:solidFill>
                <a:effectLst/>
                <a:uFillTx/>
                <a:latin typeface="Times New Roman"/>
              </a:defRPr>
            </a:lvl1pPr>
          </a:lstStyle>
          <a:p>
            <a:pPr indent="0" algn="ctr">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7227360" y="5165280"/>
            <a:ext cx="2348280" cy="39060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fld id="{73ABEEC9-2657-45F4-947E-C7EFD242422D}" type="slidenum">
              <a:rPr lang="fr-FR" sz="1400" b="0" u="none" strike="noStrike">
                <a:solidFill>
                  <a:srgbClr val="000000"/>
                </a:solidFill>
                <a:effectLst/>
                <a:uFillTx/>
                <a:latin typeface="Times New Roman"/>
              </a:rPr>
              <a:t>&lt;numéro&gt;</a:t>
            </a:fld>
            <a:endParaRPr lang="fr-F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title"/>
          </p:nvPr>
        </p:nvSpPr>
        <p:spPr>
          <a:xfrm>
            <a:off x="551880" y="180000"/>
            <a:ext cx="9071640" cy="553320"/>
          </a:xfrm>
          <a:prstGeom prst="rect">
            <a:avLst/>
          </a:prstGeom>
          <a:noFill/>
          <a:ln w="0">
            <a:noFill/>
          </a:ln>
        </p:spPr>
        <p:txBody>
          <a:bodyPr lIns="0" tIns="0" rIns="0" bIns="0" anchor="ctr">
            <a:spAutoFit/>
          </a:bodyPr>
          <a:p>
            <a:pPr indent="0" algn="ctr">
              <a:buNone/>
            </a:pPr>
            <a:r>
              <a:rPr lang="fr-FR" sz="3200" b="0" u="none" strike="noStrike">
                <a:solidFill>
                  <a:srgbClr val="000000"/>
                </a:solidFill>
                <a:effectLst/>
                <a:uFillTx/>
                <a:latin typeface="Marianne"/>
              </a:rPr>
              <a:t>PRIORISATION</a:t>
            </a:r>
            <a:endParaRPr lang="fr-FR" sz="3200" b="0" u="none" strike="noStrike">
              <a:solidFill>
                <a:srgbClr val="000000"/>
              </a:solidFill>
              <a:effectLst/>
              <a:uFillTx/>
              <a:latin typeface="Marianne"/>
            </a:endParaRPr>
          </a:p>
        </p:txBody>
      </p:sp>
      <p:graphicFrame>
        <p:nvGraphicFramePr>
          <p:cNvPr id="12" name=""/>
          <p:cNvGraphicFramePr/>
          <p:nvPr/>
        </p:nvGraphicFramePr>
        <p:xfrm>
          <a:off x="340920" y="924120"/>
          <a:ext cx="6874920" cy="1423080"/>
        </p:xfrm>
        <a:graphic>
          <a:graphicData uri="http://schemas.openxmlformats.org/drawingml/2006/table">
            <a:tbl>
              <a:tblPr/>
              <a:tblGrid>
                <a:gridCol w="6875280"/>
              </a:tblGrid>
              <a:tr h="216000">
                <a:tc>
                  <a:txBody>
                    <a:bodyPr lIns="36000" tIns="36000" rIns="36000" bIns="36000" anchor="t">
                      <a:noAutofit/>
                    </a:bodyPr>
                    <a:p>
                      <a:r>
                        <a:rPr lang="fr-FR" sz="800" b="1" u="none" strike="noStrike">
                          <a:solidFill>
                            <a:srgbClr val="000000"/>
                          </a:solidFill>
                          <a:effectLst/>
                          <a:uFillTx/>
                          <a:latin typeface="Arial"/>
                        </a:rPr>
                        <a:t>Critères</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53080">
                <a:tc>
                  <a:txBody>
                    <a:bodyPr lIns="36000" tIns="36000" rIns="36000" bIns="36000" anchor="t">
                      <a:noAutofit/>
                    </a:bodyPr>
                    <a:p>
                      <a:r>
                        <a:rPr lang="fr-FR" sz="800" b="1" u="none" strike="noStrike">
                          <a:solidFill>
                            <a:srgbClr val="000000"/>
                          </a:solidFill>
                          <a:effectLst/>
                          <a:uFillTx/>
                          <a:latin typeface="Arial"/>
                        </a:rPr>
                        <a:t>Nouveau business - </a:t>
                      </a:r>
                      <a:r>
                        <a:rPr lang="fr-FR" sz="800" b="0" u="none" strike="noStrike">
                          <a:solidFill>
                            <a:srgbClr val="000000"/>
                          </a:solidFill>
                          <a:effectLst/>
                          <a:uFillTx/>
                          <a:latin typeface="Arial"/>
                        </a:rPr>
                        <a:t>Impact sur l'acquisition de nouveaux clients : Peut ouvrir des opportunités de marché ou rendre le produit/service plus attractif pour de nouveaux segments de clientèle.</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r>
                        <a:rPr lang="fr-FR" sz="800" b="1" u="none" strike="noStrike">
                          <a:solidFill>
                            <a:srgbClr val="000000"/>
                          </a:solidFill>
                          <a:effectLst/>
                          <a:uFillTx/>
                          <a:latin typeface="Arial"/>
                        </a:rPr>
                        <a:t>Croissance du revenu généré via les clients actuel.</a:t>
                      </a:r>
                      <a:r>
                        <a:rPr lang="fr-FR" sz="800" b="0" u="none" strike="noStrike">
                          <a:solidFill>
                            <a:srgbClr val="000000"/>
                          </a:solidFill>
                          <a:effectLst/>
                          <a:uFillTx/>
                          <a:latin typeface="Arial"/>
                        </a:rPr>
                        <a:t> Développement du portefeuille de client existant / sécurisation des clients existant. Cela peut inclure des améliorations qui augmentent la fidélité des clients, réduisent le taux de désabonnement ou encouragent les clients existants à acheter davantage ou des services additionnels.</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r>
                        <a:rPr lang="fr-FR" sz="800" b="1" u="none" strike="noStrike">
                          <a:solidFill>
                            <a:srgbClr val="000000"/>
                          </a:solidFill>
                          <a:effectLst/>
                          <a:uFillTx/>
                          <a:latin typeface="Arial"/>
                        </a:rPr>
                        <a:t>Satisfaction </a:t>
                      </a:r>
                      <a:r>
                        <a:rPr lang="fr-FR" sz="800" b="0" u="none" strike="noStrike">
                          <a:solidFill>
                            <a:srgbClr val="000000"/>
                          </a:solidFill>
                          <a:effectLst/>
                          <a:uFillTx/>
                          <a:latin typeface="Arial"/>
                        </a:rPr>
                        <a:t>: prend en compte l'impact individuel de l'amélioration sur un user en termes de satisfaction et la portée de cette amélioration (combien d'utilisateurs sont impactés par l'amélioration)</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r>
                        <a:rPr lang="fr-FR" sz="800" b="1" u="none" strike="noStrike">
                          <a:solidFill>
                            <a:srgbClr val="000000"/>
                          </a:solidFill>
                          <a:effectLst/>
                          <a:uFillTx/>
                          <a:latin typeface="Arial"/>
                        </a:rPr>
                        <a:t>Efficience interne</a:t>
                      </a:r>
                      <a:r>
                        <a:rPr lang="fr-FR" sz="800" b="0" u="none" strike="noStrike">
                          <a:solidFill>
                            <a:srgbClr val="000000"/>
                          </a:solidFill>
                          <a:effectLst/>
                          <a:uFillTx/>
                          <a:latin typeface="Arial"/>
                        </a:rPr>
                        <a:t> - Impact d'une amélioration sur l'efficacité des processus internes de l'entreprise. Elle englobe la capacité à minimiser le gaspillage de ressources tout en maximisant la production et la qualité des services ou produits. En matière d'amélioration de produit, l'augmentation de l'efficience interne pourrait signifier l'automatisation des tâches, l'amélioration des systèmes d'information, la réduction des délais de traitement, l'optimisation des workflows...</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graphicFrame>
        <p:nvGraphicFramePr>
          <p:cNvPr id="13" name=""/>
          <p:cNvGraphicFramePr/>
          <p:nvPr/>
        </p:nvGraphicFramePr>
        <p:xfrm>
          <a:off x="7541640" y="1293480"/>
          <a:ext cx="1713600" cy="863640"/>
        </p:xfrm>
        <a:graphic>
          <a:graphicData uri="http://schemas.openxmlformats.org/drawingml/2006/table">
            <a:tbl>
              <a:tblPr/>
              <a:tblGrid>
                <a:gridCol w="744120"/>
                <a:gridCol w="969480"/>
              </a:tblGrid>
              <a:tr h="216000">
                <a:tc>
                  <a:txBody>
                    <a:bodyPr lIns="36000" tIns="36000" rIns="36000" bIns="36000" anchor="t">
                      <a:noAutofit/>
                    </a:bodyPr>
                    <a:p>
                      <a:r>
                        <a:rPr lang="fr-FR" sz="800" b="1" u="none" strike="noStrike">
                          <a:solidFill>
                            <a:srgbClr val="000000"/>
                          </a:solidFill>
                          <a:effectLst/>
                          <a:uFillTx/>
                          <a:latin typeface="Arial"/>
                        </a:rPr>
                        <a:t>Score 0</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fr-FR" sz="800" b="0" u="none" strike="noStrike">
                          <a:solidFill>
                            <a:srgbClr val="000000"/>
                          </a:solidFill>
                          <a:effectLst/>
                          <a:uFillTx/>
                          <a:latin typeface="Arial"/>
                        </a:rPr>
                        <a:t>Aucun impact</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r>
                        <a:rPr lang="fr-FR" sz="800" b="1" u="none" strike="noStrike">
                          <a:solidFill>
                            <a:srgbClr val="000000"/>
                          </a:solidFill>
                          <a:effectLst/>
                          <a:uFillTx/>
                          <a:latin typeface="Arial"/>
                        </a:rPr>
                        <a:t>Score 1</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fr-FR" sz="800" b="0" u="none" strike="noStrike">
                          <a:solidFill>
                            <a:srgbClr val="000000"/>
                          </a:solidFill>
                          <a:effectLst/>
                          <a:uFillTx/>
                          <a:latin typeface="Arial"/>
                        </a:rPr>
                        <a:t>Impact faible</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r>
                        <a:rPr lang="fr-FR" sz="800" b="1" u="none" strike="noStrike">
                          <a:solidFill>
                            <a:srgbClr val="000000"/>
                          </a:solidFill>
                          <a:effectLst/>
                          <a:uFillTx/>
                          <a:latin typeface="Arial"/>
                        </a:rPr>
                        <a:t>Score 2</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fr-FR" sz="800" b="0" u="none" strike="noStrike">
                          <a:solidFill>
                            <a:srgbClr val="000000"/>
                          </a:solidFill>
                          <a:effectLst/>
                          <a:uFillTx/>
                          <a:latin typeface="Arial"/>
                        </a:rPr>
                        <a:t>Impact modéré</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r>
                        <a:rPr lang="fr-FR" sz="800" b="1" u="none" strike="noStrike">
                          <a:solidFill>
                            <a:srgbClr val="000000"/>
                          </a:solidFill>
                          <a:effectLst/>
                          <a:uFillTx/>
                          <a:latin typeface="Arial"/>
                        </a:rPr>
                        <a:t>Score 3</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fr-FR" sz="800" b="0" u="none" strike="noStrike">
                          <a:solidFill>
                            <a:srgbClr val="000000"/>
                          </a:solidFill>
                          <a:effectLst/>
                          <a:uFillTx/>
                          <a:latin typeface="Arial"/>
                        </a:rPr>
                        <a:t>Impact fort</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graphicFrame>
        <p:nvGraphicFramePr>
          <p:cNvPr id="14" name=""/>
          <p:cNvGraphicFramePr/>
          <p:nvPr/>
        </p:nvGraphicFramePr>
        <p:xfrm>
          <a:off x="347040" y="2868120"/>
          <a:ext cx="6908040" cy="2455200"/>
        </p:xfrm>
        <a:graphic>
          <a:graphicData uri="http://schemas.openxmlformats.org/drawingml/2006/table">
            <a:tbl>
              <a:tblPr/>
              <a:tblGrid>
                <a:gridCol w="2423880"/>
                <a:gridCol w="768600"/>
                <a:gridCol w="712080"/>
                <a:gridCol w="623880"/>
                <a:gridCol w="1186560"/>
                <a:gridCol w="1151280"/>
              </a:tblGrid>
              <a:tr h="418680">
                <a:tc>
                  <a:txBody>
                    <a:bodyPr lIns="36000" tIns="36000" rIns="36000" bIns="36000" anchor="t">
                      <a:noAutofit/>
                    </a:bodyPr>
                    <a:p>
                      <a:pPr algn="ctr"/>
                      <a:r>
                        <a:rPr lang="fr-FR" sz="800" b="1" u="none" strike="noStrike">
                          <a:solidFill>
                            <a:srgbClr val="000000"/>
                          </a:solidFill>
                          <a:effectLst/>
                          <a:uFillTx/>
                          <a:latin typeface="Arial"/>
                        </a:rPr>
                        <a:t>Nom de l'amélioration</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1" u="none" strike="noStrike">
                          <a:solidFill>
                            <a:srgbClr val="000000"/>
                          </a:solidFill>
                          <a:effectLst/>
                          <a:uFillTx/>
                          <a:latin typeface="Arial"/>
                        </a:rPr>
                        <a:t>Satisfaction</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1" u="none" strike="noStrike">
                          <a:solidFill>
                            <a:srgbClr val="000000"/>
                          </a:solidFill>
                          <a:effectLst/>
                          <a:uFillTx/>
                          <a:latin typeface="Arial"/>
                        </a:rPr>
                        <a:t>Nouveau business</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1" u="none" strike="noStrike">
                          <a:solidFill>
                            <a:srgbClr val="000000"/>
                          </a:solidFill>
                          <a:effectLst/>
                          <a:uFillTx/>
                          <a:latin typeface="Arial"/>
                        </a:rPr>
                        <a:t>Efficience interne</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1" u="none" strike="noStrike">
                          <a:solidFill>
                            <a:srgbClr val="000000"/>
                          </a:solidFill>
                          <a:effectLst/>
                          <a:uFillTx/>
                          <a:latin typeface="Arial"/>
                        </a:rPr>
                        <a:t>Croissance du revenu généré via les clients actuels</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1" u="none" strike="noStrike">
                          <a:solidFill>
                            <a:srgbClr val="000000"/>
                          </a:solidFill>
                          <a:effectLst/>
                          <a:uFillTx/>
                          <a:latin typeface="Arial"/>
                        </a:rPr>
                        <a:t>Score de priorisation </a:t>
                      </a:r>
                      <a:endParaRPr lang="fr-FR" sz="8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05720">
                <a:tc>
                  <a:txBody>
                    <a:bodyPr lIns="36000" tIns="36000" rIns="36000" bIns="36000" anchor="t">
                      <a:noAutofit/>
                    </a:bodyPr>
                    <a:p>
                      <a:r>
                        <a:rPr lang="fr-FR" sz="800" b="0" u="none" strike="noStrike">
                          <a:solidFill>
                            <a:srgbClr val="000000"/>
                          </a:solidFill>
                          <a:effectLst/>
                          <a:uFillTx/>
                          <a:latin typeface="Arial"/>
                        </a:rPr>
                        <a:t>Segmentation des données selon les objectifs de développement durable, les engagements climat et zones géographiques précises.</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2</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11</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01320">
                <a:tc>
                  <a:txBody>
                    <a:bodyPr lIns="36000" tIns="36000" rIns="36000" bIns="36000" anchor="t">
                      <a:noAutofit/>
                    </a:bodyPr>
                    <a:p>
                      <a:r>
                        <a:rPr lang="fr-FR" sz="800" b="0" u="none" strike="noStrike">
                          <a:solidFill>
                            <a:srgbClr val="000000"/>
                          </a:solidFill>
                          <a:effectLst/>
                          <a:uFillTx/>
                          <a:latin typeface="Arial"/>
                        </a:rPr>
                        <a:t>Modèles prédictifs pour estimer les flux futurs et simuler l'impact de décisions budgétaires.</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2</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11</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86840">
                <a:tc>
                  <a:txBody>
                    <a:bodyPr lIns="36000" tIns="36000" rIns="36000" bIns="36000" anchor="t">
                      <a:noAutofit/>
                    </a:bodyPr>
                    <a:p>
                      <a:r>
                        <a:rPr lang="fr-FR" sz="800" b="0" u="none" strike="noStrike">
                          <a:solidFill>
                            <a:srgbClr val="000000"/>
                          </a:solidFill>
                          <a:effectLst/>
                          <a:uFillTx/>
                          <a:latin typeface="Arial"/>
                        </a:rPr>
                        <a:t>Génération de rapports automatisés</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1</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2</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9</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01320">
                <a:tc>
                  <a:txBody>
                    <a:bodyPr lIns="36000" tIns="36000" rIns="36000" bIns="36000" anchor="t">
                      <a:noAutofit/>
                    </a:bodyPr>
                    <a:p>
                      <a:r>
                        <a:rPr lang="fr-FR" sz="800" b="0" u="none" strike="noStrike">
                          <a:solidFill>
                            <a:srgbClr val="000000"/>
                          </a:solidFill>
                          <a:effectLst/>
                          <a:uFillTx/>
                          <a:latin typeface="Arial"/>
                        </a:rPr>
                        <a:t>Visualisation graphique  des engagements et versements (5 - 10 ans)</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1</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2</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2</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8</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15800">
                <a:tc>
                  <a:txBody>
                    <a:bodyPr lIns="36000" tIns="36000" rIns="36000" bIns="36000" anchor="t">
                      <a:noAutofit/>
                    </a:bodyPr>
                    <a:p>
                      <a:r>
                        <a:rPr lang="fr-FR" sz="800" b="0" u="none" strike="noStrike">
                          <a:solidFill>
                            <a:srgbClr val="000000"/>
                          </a:solidFill>
                          <a:effectLst/>
                          <a:uFillTx/>
                          <a:latin typeface="Arial"/>
                        </a:rPr>
                        <a:t>Intégration de données externes (OCDE/CAD) pour comparer les flux AFD avec celle des autres pays donateurs.</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2</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2</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3</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1</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8</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15800">
                <a:tc>
                  <a:txBody>
                    <a:bodyPr lIns="36000" tIns="36000" rIns="36000" bIns="36000" anchor="t">
                      <a:noAutofit/>
                    </a:bodyPr>
                    <a:p>
                      <a:r>
                        <a:rPr lang="fr-FR" sz="800" b="0" u="none" strike="noStrike">
                          <a:solidFill>
                            <a:srgbClr val="000000"/>
                          </a:solidFill>
                          <a:effectLst/>
                          <a:uFillTx/>
                          <a:latin typeface="Arial"/>
                        </a:rPr>
                        <a:t>Optimisation de l'outil pour les smartphones et mise en place de notifications pour les nouveaux appels à projets ou mises à jour de donnée</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2</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1</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1</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1</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algn="ctr"/>
                      <a:r>
                        <a:rPr lang="fr-FR" sz="800" b="0" u="none" strike="noStrike">
                          <a:solidFill>
                            <a:srgbClr val="000000"/>
                          </a:solidFill>
                          <a:effectLst/>
                          <a:uFillTx/>
                          <a:latin typeface="Arial"/>
                        </a:rPr>
                        <a:t>5</a:t>
                      </a:r>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PlaceHolder 1"/>
          <p:cNvSpPr>
            <a:spLocks noGrp="1"/>
          </p:cNvSpPr>
          <p:nvPr>
            <p:ph type="title"/>
          </p:nvPr>
        </p:nvSpPr>
        <p:spPr>
          <a:xfrm>
            <a:off x="551880" y="180000"/>
            <a:ext cx="9071640" cy="553320"/>
          </a:xfrm>
          <a:prstGeom prst="rect">
            <a:avLst/>
          </a:prstGeom>
          <a:noFill/>
          <a:ln w="0">
            <a:noFill/>
          </a:ln>
        </p:spPr>
        <p:txBody>
          <a:bodyPr lIns="0" tIns="0" rIns="0" bIns="0" anchor="ctr">
            <a:spAutoFit/>
          </a:bodyPr>
          <a:p>
            <a:pPr indent="0" algn="ctr">
              <a:buNone/>
            </a:pPr>
            <a:r>
              <a:rPr lang="fr-FR" sz="3200" b="0" u="none" strike="noStrike">
                <a:solidFill>
                  <a:srgbClr val="000000"/>
                </a:solidFill>
                <a:effectLst/>
                <a:uFillTx/>
                <a:latin typeface="Marianne"/>
              </a:rPr>
              <a:t>Key Performance Indicators</a:t>
            </a:r>
            <a:endParaRPr lang="fr-FR" sz="3200" b="0" u="none" strike="noStrike">
              <a:solidFill>
                <a:srgbClr val="000000"/>
              </a:solidFill>
              <a:effectLst/>
              <a:uFillTx/>
              <a:latin typeface="Marianne"/>
            </a:endParaRPr>
          </a:p>
        </p:txBody>
      </p:sp>
      <p:graphicFrame>
        <p:nvGraphicFramePr>
          <p:cNvPr id="16" name=""/>
          <p:cNvGraphicFramePr/>
          <p:nvPr/>
        </p:nvGraphicFramePr>
        <p:xfrm>
          <a:off x="340920" y="924120"/>
          <a:ext cx="9379080" cy="4149000"/>
        </p:xfrm>
        <a:graphic>
          <a:graphicData uri="http://schemas.openxmlformats.org/drawingml/2006/table">
            <a:tbl>
              <a:tblPr/>
              <a:tblGrid>
                <a:gridCol w="9379080"/>
              </a:tblGrid>
              <a:tr h="253080">
                <a:tc>
                  <a:txBody>
                    <a:bodyPr lIns="36000" tIns="36000" rIns="36000" bIns="36000" anchor="t">
                      <a:noAutofit/>
                    </a:bodyPr>
                    <a:p>
                      <a:r>
                        <a:rPr lang="fr-FR" sz="1200" b="1" u="none" strike="noStrike">
                          <a:solidFill>
                            <a:srgbClr val="000000"/>
                          </a:solidFill>
                          <a:effectLst/>
                          <a:uFillTx/>
                          <a:latin typeface="Arial"/>
                          <a:ea typeface="Arial"/>
                        </a:rPr>
                        <a:t>KPI 1 : Taux de précision de la segmentation automatique des données  (priorité n°1 - score 11)</a:t>
                      </a:r>
                      <a:endParaRPr lang="fr-FR" sz="12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Cet indicateur mesure l'efficacité du nouveau système de segmentation des données (Objectifs de développement durable, climat, Géographique).</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Objectif : Valider la fiabilité des données de reporting dès la saisie initiale.</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Mesure : Pourcentage de dossiers dont la segmentation suggérée par l'outil est validée sans modification par l'expert métier.</a:t>
                      </a:r>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r>
                        <a:rPr lang="fr-FR" sz="1200" b="1" u="none" strike="noStrike">
                          <a:solidFill>
                            <a:srgbClr val="000000"/>
                          </a:solidFill>
                          <a:effectLst/>
                          <a:uFillTx/>
                          <a:latin typeface="Arial"/>
                        </a:rPr>
                        <a:t>KPI 2 : Écart moyen de prévision budgétaire (priorité n°2 - score 11)</a:t>
                      </a:r>
                      <a:endParaRPr lang="fr-FR" sz="1200" b="0" u="none" strike="noStrike">
                        <a:solidFill>
                          <a:srgbClr val="000000"/>
                        </a:solidFill>
                        <a:effectLst/>
                        <a:uFillTx/>
                        <a:latin typeface="Arial"/>
                      </a:endParaRPr>
                    </a:p>
                    <a:p>
                      <a:r>
                        <a:rPr lang="fr-FR" sz="800" b="0" u="none" strike="noStrike">
                          <a:solidFill>
                            <a:srgbClr val="000000"/>
                          </a:solidFill>
                          <a:effectLst/>
                          <a:uFillTx/>
                          <a:latin typeface="Arial"/>
                        </a:rPr>
                        <a:t>Indicateur de fiabilité pour les nouveaux modèles prédictifs simulant les flux futurs.</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Objectif : Réduire l'incertitude dans la planification budgétaire.</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Mesure : Différence en pourcentage entre les flux financiers simulés par l'outil et les versements réels constatés en fin d'exercice.</a:t>
                      </a:r>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pic>
        <p:nvPicPr>
          <p:cNvPr id="17" name=""/>
          <p:cNvPicPr/>
          <p:nvPr/>
        </p:nvPicPr>
        <p:blipFill>
          <a:blip r:embed="rId1"/>
          <a:stretch/>
        </p:blipFill>
        <p:spPr>
          <a:xfrm>
            <a:off x="7380000" y="1080000"/>
            <a:ext cx="2160000" cy="2160000"/>
          </a:xfrm>
          <a:prstGeom prst="rect">
            <a:avLst/>
          </a:prstGeom>
          <a:noFill/>
          <a:ln w="0">
            <a:noFill/>
          </a:ln>
        </p:spPr>
      </p:pic>
      <p:pic>
        <p:nvPicPr>
          <p:cNvPr id="18" name=""/>
          <p:cNvPicPr/>
          <p:nvPr/>
        </p:nvPicPr>
        <p:blipFill>
          <a:blip r:embed="rId2"/>
          <a:stretch/>
        </p:blipFill>
        <p:spPr>
          <a:xfrm>
            <a:off x="7020000" y="3465000"/>
            <a:ext cx="2520000" cy="15750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551880" y="180000"/>
            <a:ext cx="9071640" cy="553320"/>
          </a:xfrm>
          <a:prstGeom prst="rect">
            <a:avLst/>
          </a:prstGeom>
          <a:noFill/>
          <a:ln w="0">
            <a:noFill/>
          </a:ln>
        </p:spPr>
        <p:txBody>
          <a:bodyPr lIns="0" tIns="0" rIns="0" bIns="0" anchor="ctr">
            <a:spAutoFit/>
          </a:bodyPr>
          <a:p>
            <a:pPr indent="0" algn="ctr">
              <a:buNone/>
            </a:pPr>
            <a:r>
              <a:rPr lang="fr-FR" sz="3200" b="0" u="none" strike="noStrike">
                <a:solidFill>
                  <a:srgbClr val="000000"/>
                </a:solidFill>
                <a:effectLst/>
                <a:uFillTx/>
                <a:latin typeface="Marianne"/>
              </a:rPr>
              <a:t>Key Performance Indicators</a:t>
            </a:r>
            <a:endParaRPr lang="fr-FR" sz="3200" b="0" u="none" strike="noStrike">
              <a:solidFill>
                <a:srgbClr val="000000"/>
              </a:solidFill>
              <a:effectLst/>
              <a:uFillTx/>
              <a:latin typeface="Marianne"/>
            </a:endParaRPr>
          </a:p>
        </p:txBody>
      </p:sp>
      <p:graphicFrame>
        <p:nvGraphicFramePr>
          <p:cNvPr id="20" name=""/>
          <p:cNvGraphicFramePr/>
          <p:nvPr/>
        </p:nvGraphicFramePr>
        <p:xfrm>
          <a:off x="340920" y="924120"/>
          <a:ext cx="9378720" cy="4491360"/>
        </p:xfrm>
        <a:graphic>
          <a:graphicData uri="http://schemas.openxmlformats.org/drawingml/2006/table">
            <a:tbl>
              <a:tblPr/>
              <a:tblGrid>
                <a:gridCol w="9379080"/>
              </a:tblGrid>
              <a:tr h="1659600">
                <a:tc>
                  <a:txBody>
                    <a:bodyPr lIns="36000" tIns="36000" rIns="36000" bIns="36000" anchor="t">
                      <a:noAutofit/>
                    </a:bodyPr>
                    <a:p>
                      <a:r>
                        <a:rPr lang="fr-FR" sz="1200" b="1" u="none" strike="noStrike">
                          <a:solidFill>
                            <a:srgbClr val="000000"/>
                          </a:solidFill>
                          <a:effectLst/>
                          <a:uFillTx/>
                          <a:latin typeface="Arial"/>
                        </a:rPr>
                        <a:t>KPI 3 : Temps de production d'un rapport standard (priorité n°3 - score 9)</a:t>
                      </a:r>
                      <a:endParaRPr lang="fr-FR" sz="1200" b="0" u="none" strike="noStrike">
                        <a:solidFill>
                          <a:srgbClr val="000000"/>
                        </a:solidFill>
                        <a:effectLst/>
                        <a:uFillTx/>
                        <a:latin typeface="Arial"/>
                      </a:endParaRPr>
                    </a:p>
                    <a:p>
                      <a:r>
                        <a:rPr lang="fr-FR" sz="800" b="0" u="none" strike="noStrike">
                          <a:solidFill>
                            <a:srgbClr val="000000"/>
                          </a:solidFill>
                          <a:effectLst/>
                          <a:uFillTx/>
                          <a:latin typeface="Arial"/>
                        </a:rPr>
                        <a:t>KPI de productivité lié à l'automatisation de la génération des rapports.</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Objectif : Libérer du temps pour l'analyse en réduisant les tâches de mise en forme manuelle.</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Mesure : Temps total (en minutes) nécessaire entre l'extraction des données et la finalisation du rapport, comparé au processus actuel.</a:t>
                      </a:r>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r>
                        <a:rPr lang="fr-FR" sz="1200" b="1" u="none" strike="noStrike">
                          <a:solidFill>
                            <a:srgbClr val="000000"/>
                          </a:solidFill>
                          <a:effectLst/>
                          <a:uFillTx/>
                          <a:latin typeface="Arial"/>
                        </a:rPr>
                        <a:t>KPI 4 : Taux d'utilisation de la visualisation graphique (priorité n°4 - score 8)</a:t>
                      </a:r>
                      <a:endParaRPr lang="fr-FR" sz="1200" b="0" u="none" strike="noStrike">
                        <a:solidFill>
                          <a:srgbClr val="000000"/>
                        </a:solidFill>
                        <a:effectLst/>
                        <a:uFillTx/>
                        <a:latin typeface="Arial"/>
                      </a:endParaRPr>
                    </a:p>
                    <a:p>
                      <a:r>
                        <a:rPr lang="fr-FR" sz="800" b="0" u="none" strike="noStrike">
                          <a:solidFill>
                            <a:srgbClr val="000000"/>
                          </a:solidFill>
                          <a:effectLst/>
                          <a:uFillTx/>
                          <a:latin typeface="Arial"/>
                        </a:rPr>
                        <a:t>Mesure l'adoption réelle de la visualisation des engagements à long terme (5-10 ans).</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Objectif : Transformer l'outil en support d'aide à la décision stratégique.</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Mesure : Pourcentage de revues de direction ou de comités budgétaires utilisant directement les vues interactives de l'outil</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plutôt que des fichiers Excel externes.</a:t>
                      </a:r>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1267560">
                <a:tc>
                  <a:txBody>
                    <a:bodyPr lIns="36000" tIns="36000" rIns="36000" bIns="36000" anchor="t">
                      <a:noAutofit/>
                    </a:bodyPr>
                    <a:p>
                      <a:r>
                        <a:rPr lang="fr-FR" sz="1200" b="1" u="none" strike="noStrike">
                          <a:solidFill>
                            <a:srgbClr val="000000"/>
                          </a:solidFill>
                          <a:effectLst/>
                          <a:uFillTx/>
                          <a:latin typeface="Arial"/>
                        </a:rPr>
                        <a:t>KPI 5 : Fraîcheur des données (priorité n°5 - score 8)</a:t>
                      </a:r>
                      <a:endParaRPr lang="fr-FR" sz="1200" b="0" u="none" strike="noStrike">
                        <a:solidFill>
                          <a:srgbClr val="000000"/>
                        </a:solidFill>
                        <a:effectLst/>
                        <a:uFillTx/>
                        <a:latin typeface="Arial"/>
                      </a:endParaRPr>
                    </a:p>
                    <a:p>
                      <a:r>
                        <a:rPr lang="fr-FR" sz="800" b="0" u="none" strike="noStrike">
                          <a:solidFill>
                            <a:srgbClr val="000000"/>
                          </a:solidFill>
                          <a:effectLst/>
                          <a:uFillTx/>
                          <a:latin typeface="Arial"/>
                        </a:rPr>
                        <a:t>Indicateur de qualité sur l'intégration des flux OCDE/CAD pour la comparaison internationale.</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Objectif : Garantir que l'AFD se compare toujours aux données internationales les plus récentes.</a:t>
                      </a:r>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Mesure : Délai (en jours) entre la mise à jour officielle de l'OCDE et sa disponibilité effective dans vos tableaux de bord internes</a:t>
                      </a:r>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r>
                        <a:rPr lang="fr-FR" sz="800" b="0" u="none" strike="noStrike">
                          <a:solidFill>
                            <a:srgbClr val="000000"/>
                          </a:solidFill>
                          <a:effectLst/>
                          <a:uFillTx/>
                          <a:latin typeface="Arial"/>
                          <a:ea typeface="Arial"/>
                        </a:rPr>
                        <a:t>. </a:t>
                      </a:r>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p>
                      <a:endParaRPr lang="fr-FR" sz="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pic>
        <p:nvPicPr>
          <p:cNvPr id="21" name=""/>
          <p:cNvPicPr/>
          <p:nvPr/>
        </p:nvPicPr>
        <p:blipFill>
          <a:blip r:embed="rId1"/>
          <a:stretch/>
        </p:blipFill>
        <p:spPr>
          <a:xfrm>
            <a:off x="7020000" y="1001160"/>
            <a:ext cx="2160000" cy="1542960"/>
          </a:xfrm>
          <a:prstGeom prst="rect">
            <a:avLst/>
          </a:prstGeom>
          <a:noFill/>
          <a:ln w="0">
            <a:noFill/>
          </a:ln>
        </p:spPr>
      </p:pic>
      <p:pic>
        <p:nvPicPr>
          <p:cNvPr id="22" name=""/>
          <p:cNvPicPr/>
          <p:nvPr/>
        </p:nvPicPr>
        <p:blipFill>
          <a:blip r:embed="rId2"/>
          <a:stretch/>
        </p:blipFill>
        <p:spPr>
          <a:xfrm>
            <a:off x="7197480" y="2675880"/>
            <a:ext cx="2162520" cy="1351440"/>
          </a:xfrm>
          <a:prstGeom prst="rect">
            <a:avLst/>
          </a:prstGeom>
          <a:noFill/>
          <a:ln w="0">
            <a:noFill/>
          </a:ln>
        </p:spPr>
      </p:pic>
      <p:pic>
        <p:nvPicPr>
          <p:cNvPr id="23" name=""/>
          <p:cNvPicPr/>
          <p:nvPr/>
        </p:nvPicPr>
        <p:blipFill>
          <a:blip r:embed="rId3"/>
          <a:stretch/>
        </p:blipFill>
        <p:spPr>
          <a:xfrm>
            <a:off x="7200000" y="4218840"/>
            <a:ext cx="2340000" cy="10011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28</TotalTime>
  <Application>LibreOffice/26.2.0.3$Windows_X86_64 LibreOffice_project/620$Build-3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2026-02-23T11:15:43Z</dcterms:created>
  <dc:creator/>
  <dc:description/>
  <dc:language>fr-FR</dc:language>
  <cp:lastModifiedBy/>
  <dcterms:modified xsi:type="dcterms:W3CDTF">2026-02-23T15:17:17Z</dcterms:modified>
  <cp:revision>8</cp:revision>
  <dc:subject/>
  <dc:title/>
</cp:coreProperties>
</file>