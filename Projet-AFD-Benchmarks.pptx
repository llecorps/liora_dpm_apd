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A63CDF-C773-A7C3-F319-FF013BBA1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0C28E22-25B9-35C9-9985-AF42C78C7F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4AB16B-5FCD-019D-FE9A-BD4FBD885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2/23/26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4C8D61-7F5B-FE51-CE3C-126811262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8B364F-3887-61F7-7BDF-644E94548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05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B2920C-46DF-E310-7C72-8C5B4284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3A6A74-0735-C55A-F44D-495E011FA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EEEB6A-AC5C-E07B-21DD-7599E2FFA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2/23/26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C332D1-BA41-7BE9-46A2-AE65F07BF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34DBD6-67E0-6248-9235-264AB4B85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59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3551CD-8540-9D1F-DB2D-9A985E950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3CD2D1F-A846-E4F6-67B2-041376B1A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0F324E-977E-F57E-9874-246F8CDB8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2/23/26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765CA8-A94D-D31E-CF6F-E382F635C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5028AE-E7F6-F879-2D92-F2493ED06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568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55221D-1D85-E0AC-D326-A2C19314A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32F5E2-BAFF-17E8-0B2C-808CBA4E84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86359F8-5B59-223E-21C4-5773591BF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DB0A5B5-9535-475F-097D-842F359EF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2/23/26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EA8D0FF-FAD8-7EAE-DFAB-E917E11B0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ABCFA44-0FB9-6805-9414-9387B470E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082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A18EE2-F5E3-B345-EA96-04CDD6D51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9EAE79C-C89D-705B-DBC0-E43570B40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89CEF8-9F8C-FD61-B16E-8A7815531B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7AB10D-E8B8-D974-EBFD-683BBFCCC8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CF200E4-F041-EC71-746A-1EDFBFDA22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41AE556-7EFB-8E26-90D9-16DD10FAC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2/23/26</a:t>
            </a:fld>
            <a:endParaRPr lang="en-US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D24F27C-5FED-C85E-FA96-3E2D40E7C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20C07B2-1625-23B4-5366-AA8CDC8D0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601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C8F05A-D0B9-9447-9AB1-A16A722AC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C350A8A-123B-630E-E872-7FE854442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2/23/26</a:t>
            </a:fld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359B621-2948-6D57-25F0-B38E5F002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1C0F32C-4DC0-323F-2F3E-26977A2D7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792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11814AD-37EC-8EEA-622D-0D7E833B8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2/23/26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0FAA29-5E31-42A9-2168-DC0CDEC82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A2E0662-D0B8-A9CB-EDAD-C53D3EDD3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000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F39B97-482F-3D2C-7AF7-C4CEA82E7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DEEBDF-261A-2059-32DE-6D23F309E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65D5D02-1935-50FC-633B-75A8A7D2E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D79A874-6264-3EEE-B31E-0404762B3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2/23/26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DFA0E0-21B1-B394-7AFE-B8877F43D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3AD65D7-A4B9-AE5C-3FE3-4459C0978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410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B823CA-4D4D-0DD0-F607-8F6FD3717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6033081-FEE3-6F07-78D2-36C97BD24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098188A-B269-D0CA-5F6D-F3B7796DE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1B987AD-927B-A5D1-EDD4-1A3EC1FC5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2/23/26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1AED269-E76C-E655-4979-278C73614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96F41F0-4896-E18E-686B-55A67F833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17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C41D16-E84A-04F0-3910-7FC4A74E6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07B39D9-E396-4792-C64F-197F50225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7B129B-1C29-99D9-82A0-7AC0BBEC4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2/23/26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6B0C4B-B1C5-650A-0EAF-918D3A809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944A78-0172-6631-652C-04114B8C9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809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5591A88-6178-C765-F61A-48AF38579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5E16FB7-F9E3-39D9-AF22-E9CCBC5AC5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F71436-6209-7F6F-B57C-B4156FC87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2/23/26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5919FC-6B0E-AD07-8129-DECF648B2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FBB2CE-095D-AE9F-5B61-B59BA8629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864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85BF3EF-4A98-FC7F-D349-91F6CA8FE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AD00B1-A296-4336-7CAF-88E42041B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730E83-4F4C-0A85-82E3-F5A1C7F98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2/23/26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643DA2-88DF-7870-B4E3-9EF59D3156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0B90EF-92E8-9D4B-BA60-621914CFAE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196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C2960044-2550-0BE8-2CA7-167162814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82" y="95041"/>
            <a:ext cx="9905998" cy="646331"/>
          </a:xfrm>
        </p:spPr>
        <p:txBody>
          <a:bodyPr>
            <a:normAutofit fontScale="90000"/>
          </a:bodyPr>
          <a:lstStyle/>
          <a:p>
            <a:r>
              <a:rPr lang="fr-FR" b="1" dirty="0">
                <a:effectLst/>
              </a:rPr>
              <a:t>Benchmark – Solutions d’analyse de l’APD</a:t>
            </a:r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A957663-756D-0B05-8F2C-13644EE54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7482" y="900933"/>
            <a:ext cx="4890729" cy="576262"/>
          </a:xfrm>
        </p:spPr>
        <p:txBody>
          <a:bodyPr/>
          <a:lstStyle/>
          <a:p>
            <a:r>
              <a:rPr lang="fr-FR" sz="1600" b="1" i="1" dirty="0">
                <a:effectLst/>
              </a:rPr>
              <a:t>OCDE (DAC / Data Explorer / </a:t>
            </a:r>
            <a:r>
              <a:rPr lang="fr-FR" sz="1600" b="1" i="1" dirty="0" err="1">
                <a:effectLst/>
              </a:rPr>
              <a:t>Aid</a:t>
            </a:r>
            <a:r>
              <a:rPr lang="fr-FR" sz="1600" b="1" i="1" dirty="0">
                <a:effectLst/>
              </a:rPr>
              <a:t> at a </a:t>
            </a:r>
            <a:r>
              <a:rPr lang="fr-FR" sz="1600" b="1" i="1" dirty="0" err="1">
                <a:effectLst/>
              </a:rPr>
              <a:t>glance</a:t>
            </a:r>
            <a:r>
              <a:rPr lang="fr-FR" sz="1600" b="1" i="1" dirty="0">
                <a:effectLst/>
              </a:rPr>
              <a:t>)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899D6E11-27C1-D354-E509-119E9ED741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1412" y="1485662"/>
            <a:ext cx="4876800" cy="2547937"/>
          </a:xfrm>
        </p:spPr>
        <p:txBody>
          <a:bodyPr>
            <a:normAutofit/>
          </a:bodyPr>
          <a:lstStyle/>
          <a:p>
            <a:r>
              <a:rPr lang="fr-FR" sz="1600" dirty="0">
                <a:effectLst/>
              </a:rPr>
              <a:t>Rôle : Référence statistique mondiale pour l’APD, comparaisons entre bailleurs.</a:t>
            </a:r>
          </a:p>
          <a:p>
            <a:r>
              <a:rPr lang="fr-FR" sz="1600" dirty="0">
                <a:effectLst/>
              </a:rPr>
              <a:t>Forces : filtres multi‑dimensions (pays, secteur, type de flux), vues synthétiques, téléchargement et API.</a:t>
            </a:r>
          </a:p>
          <a:p>
            <a:r>
              <a:rPr lang="fr-FR" sz="1600" dirty="0">
                <a:effectLst/>
              </a:rPr>
              <a:t>Limites : vision macro, peu de profondeur sur les spécificités internes d’un bailleur (pipeline, stratégie AFD).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78D5B1CC-50FE-8D74-5348-5DF1E88228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1296" y="860117"/>
            <a:ext cx="4876802" cy="576262"/>
          </a:xfrm>
        </p:spPr>
        <p:txBody>
          <a:bodyPr/>
          <a:lstStyle/>
          <a:p>
            <a:r>
              <a:rPr lang="fr-FR" sz="1600" b="1" i="1" dirty="0">
                <a:effectLst/>
              </a:rPr>
              <a:t>Commission européenne (Team Europe Explorer)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D54511BD-7920-7F0D-9448-D6CE3B6DED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1297" y="1436379"/>
            <a:ext cx="4876801" cy="2547937"/>
          </a:xfrm>
        </p:spPr>
        <p:txBody>
          <a:bodyPr>
            <a:normAutofit/>
          </a:bodyPr>
          <a:lstStyle/>
          <a:p>
            <a:r>
              <a:rPr lang="fr-FR" sz="1600" dirty="0">
                <a:effectLst/>
              </a:rPr>
              <a:t>Rôle : Visualisation de l’APD/TOSSD de l’UE et des États membres.</a:t>
            </a:r>
          </a:p>
          <a:p>
            <a:r>
              <a:rPr lang="fr-FR" sz="1600" dirty="0">
                <a:effectLst/>
              </a:rPr>
              <a:t>Forces : </a:t>
            </a:r>
            <a:r>
              <a:rPr lang="fr-FR" sz="1600" dirty="0" err="1"/>
              <a:t>D</a:t>
            </a:r>
            <a:r>
              <a:rPr lang="fr-FR" sz="1600" dirty="0" err="1">
                <a:effectLst/>
              </a:rPr>
              <a:t>ashboards</a:t>
            </a:r>
            <a:r>
              <a:rPr lang="fr-FR" sz="1600" dirty="0">
                <a:effectLst/>
              </a:rPr>
              <a:t> par pays/région, fiches pays prêtes pour la communication, narratif politique clair.</a:t>
            </a:r>
          </a:p>
          <a:p>
            <a:r>
              <a:rPr lang="fr-FR" sz="1600" dirty="0">
                <a:effectLst/>
              </a:rPr>
              <a:t>Limites : peu d’outils décisionnels fins pour les arbitrages internes AFD.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20DFE5C-49B4-B945-38DE-1C1F52FC3AE2}"/>
              </a:ext>
            </a:extLst>
          </p:cNvPr>
          <p:cNvSpPr txBox="1"/>
          <p:nvPr/>
        </p:nvSpPr>
        <p:spPr>
          <a:xfrm>
            <a:off x="1127482" y="601133"/>
            <a:ext cx="9366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Pratiques d’autres organisations pour analyser, comparer et visualiser les flux APD</a:t>
            </a:r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A6157A30-5C89-B883-EF16-3EAC011D66B9}"/>
              </a:ext>
            </a:extLst>
          </p:cNvPr>
          <p:cNvSpPr txBox="1">
            <a:spLocks/>
          </p:cNvSpPr>
          <p:nvPr/>
        </p:nvSpPr>
        <p:spPr>
          <a:xfrm>
            <a:off x="1083902" y="3761100"/>
            <a:ext cx="5012098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800" b="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000" b="1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b="1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i="1" dirty="0">
                <a:effectLst/>
              </a:rPr>
              <a:t>Outils « temps réel » (Dev. Initiatives, IATI, etc.)</a:t>
            </a:r>
          </a:p>
        </p:txBody>
      </p:sp>
      <p:sp>
        <p:nvSpPr>
          <p:cNvPr id="13" name="Espace réservé du contenu 8">
            <a:extLst>
              <a:ext uri="{FF2B5EF4-FFF2-40B4-BE49-F238E27FC236}">
                <a16:creationId xmlns:a16="http://schemas.microsoft.com/office/drawing/2014/main" id="{E57F9C2F-75A9-2CB9-42F5-9814F78712D6}"/>
              </a:ext>
            </a:extLst>
          </p:cNvPr>
          <p:cNvSpPr txBox="1">
            <a:spLocks/>
          </p:cNvSpPr>
          <p:nvPr/>
        </p:nvSpPr>
        <p:spPr>
          <a:xfrm>
            <a:off x="1141411" y="4337362"/>
            <a:ext cx="4876800" cy="25479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dirty="0">
                <a:effectLst/>
              </a:rPr>
              <a:t>Rôle : Suivi quasi temps réel des engagements et décaissements d’aide.</a:t>
            </a:r>
          </a:p>
          <a:p>
            <a:r>
              <a:rPr lang="fr-FR" sz="1600" dirty="0">
                <a:effectLst/>
              </a:rPr>
              <a:t>Forces : distinction engagements/décaissements, forte mise en avant de la dynamique temporelle (évolution multi‑années).</a:t>
            </a:r>
          </a:p>
          <a:p>
            <a:r>
              <a:rPr lang="fr-FR" sz="1600" dirty="0">
                <a:effectLst/>
              </a:rPr>
              <a:t>Limites : moins centré sur la prévision et la planification stratégique propre à un bailleur donné.</a:t>
            </a:r>
          </a:p>
        </p:txBody>
      </p:sp>
      <p:sp>
        <p:nvSpPr>
          <p:cNvPr id="14" name="Espace réservé du texte 7">
            <a:extLst>
              <a:ext uri="{FF2B5EF4-FFF2-40B4-BE49-F238E27FC236}">
                <a16:creationId xmlns:a16="http://schemas.microsoft.com/office/drawing/2014/main" id="{19B8B103-3871-D372-1F8D-635D5FAF0175}"/>
              </a:ext>
            </a:extLst>
          </p:cNvPr>
          <p:cNvSpPr txBox="1">
            <a:spLocks/>
          </p:cNvSpPr>
          <p:nvPr/>
        </p:nvSpPr>
        <p:spPr>
          <a:xfrm>
            <a:off x="6231296" y="3769237"/>
            <a:ext cx="5188071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800" b="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000" b="1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b="1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i="1" dirty="0">
                <a:effectLst/>
              </a:rPr>
              <a:t>Visualisations avancées des flux (ex. World </a:t>
            </a:r>
            <a:r>
              <a:rPr lang="fr-FR" sz="1600" b="1" i="1" dirty="0" err="1">
                <a:effectLst/>
              </a:rPr>
              <a:t>Aid</a:t>
            </a:r>
            <a:r>
              <a:rPr lang="fr-FR" sz="1600" b="1" i="1" dirty="0">
                <a:effectLst/>
              </a:rPr>
              <a:t> Flow)</a:t>
            </a:r>
          </a:p>
        </p:txBody>
      </p:sp>
      <p:sp>
        <p:nvSpPr>
          <p:cNvPr id="15" name="Espace réservé du contenu 8">
            <a:extLst>
              <a:ext uri="{FF2B5EF4-FFF2-40B4-BE49-F238E27FC236}">
                <a16:creationId xmlns:a16="http://schemas.microsoft.com/office/drawing/2014/main" id="{F66A70B0-9FCD-C743-83D8-6328AE62D166}"/>
              </a:ext>
            </a:extLst>
          </p:cNvPr>
          <p:cNvSpPr txBox="1">
            <a:spLocks/>
          </p:cNvSpPr>
          <p:nvPr/>
        </p:nvSpPr>
        <p:spPr>
          <a:xfrm>
            <a:off x="6231298" y="4346800"/>
            <a:ext cx="4876800" cy="25479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dirty="0">
                <a:effectLst/>
              </a:rPr>
              <a:t>Rôle : Visualisation pédagogique des flux « qui finance qui » et des liens avec les indicateurs de développement.</a:t>
            </a:r>
          </a:p>
          <a:p>
            <a:r>
              <a:rPr lang="fr-FR" sz="1600" dirty="0">
                <a:effectLst/>
              </a:rPr>
              <a:t>Forces : cartes, arcs de flux, classements, couplage avec indicateurs de développement/transparence.</a:t>
            </a:r>
          </a:p>
          <a:p>
            <a:r>
              <a:rPr lang="fr-FR" sz="1600" dirty="0">
                <a:effectLst/>
              </a:rPr>
              <a:t>Limites : approche exploratoire à adapter à la charte AFD et aux priorités géographiques/sectorielles.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3E26F7B5-8D98-37EB-4734-BEE2DB3E959B}"/>
              </a:ext>
            </a:extLst>
          </p:cNvPr>
          <p:cNvCxnSpPr/>
          <p:nvPr/>
        </p:nvCxnSpPr>
        <p:spPr>
          <a:xfrm>
            <a:off x="669851" y="3880886"/>
            <a:ext cx="10823944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FB604B09-E5DF-B5B7-FE3A-D9DD0810A373}"/>
              </a:ext>
            </a:extLst>
          </p:cNvPr>
          <p:cNvCxnSpPr>
            <a:cxnSpLocks/>
          </p:cNvCxnSpPr>
          <p:nvPr/>
        </p:nvCxnSpPr>
        <p:spPr>
          <a:xfrm>
            <a:off x="6096000" y="1089210"/>
            <a:ext cx="57508" cy="5513609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0415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470</TotalTime>
  <Words>266</Words>
  <Application>Microsoft Macintosh PowerPoint</Application>
  <PresentationFormat>Grand écran</PresentationFormat>
  <Paragraphs>18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Benchmark – Solutions d’analyse de l’APD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Hadrouj</dc:creator>
  <cp:lastModifiedBy>Mohamed Hadrouj</cp:lastModifiedBy>
  <cp:revision>5</cp:revision>
  <dcterms:created xsi:type="dcterms:W3CDTF">2026-02-23T02:06:15Z</dcterms:created>
  <dcterms:modified xsi:type="dcterms:W3CDTF">2026-02-23T09:56:37Z</dcterms:modified>
</cp:coreProperties>
</file>